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d0648e6d2644f6" /><Relationship Type="http://schemas.openxmlformats.org/officeDocument/2006/relationships/extended-properties" Target="/docProps/app.xml" Id="R294bd89198334501" /><Relationship Type="http://schemas.openxmlformats.org/officeDocument/2006/relationships/officeDocument" Target="/ppt/presentation.xml" Id="R9a4932174e424a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537297d2704531"/>
  </p:sldMasterIdLst>
  <p:notesMasterIdLst>
    <p:notesMasterId xmlns:r="http://schemas.openxmlformats.org/officeDocument/2006/relationships" r:id="Re41c4cdea9e844e2"/>
  </p:notesMasterIdLst>
  <p:sldIdLst>
    <p:sldId xmlns:r="http://schemas.openxmlformats.org/officeDocument/2006/relationships" id="256" r:id="R2b2a297c83b04863"/>
    <p:sldId xmlns:r="http://schemas.openxmlformats.org/officeDocument/2006/relationships" id="257" r:id="Rad912c58d18e43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fbd7744e584a2d" /><Relationship Type="http://schemas.openxmlformats.org/officeDocument/2006/relationships/slideMaster" Target="/ppt/slideMasters/slideMaster1.xml" Id="Rab537297d2704531" /><Relationship Type="http://schemas.openxmlformats.org/officeDocument/2006/relationships/notesMaster" Target="/ppt/notesMasters/notesMaster1.xml" Id="Re41c4cdea9e844e2" /><Relationship Type="http://schemas.openxmlformats.org/officeDocument/2006/relationships/presProps" Target="/ppt/presProps.xml" Id="R28e20715b67c4a8f" /><Relationship Type="http://schemas.openxmlformats.org/officeDocument/2006/relationships/tableStyles" Target="/ppt/tableStyles.xml" Id="R8df05f8d5fbf4f2b" /><Relationship Type="http://schemas.openxmlformats.org/officeDocument/2006/relationships/slide" Target="/ppt/slides/slide1.xml" Id="R2b2a297c83b04863" /><Relationship Type="http://schemas.openxmlformats.org/officeDocument/2006/relationships/slide" Target="/ppt/slides/slide2.xml" Id="Rad912c58d18e43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eb55f8b13149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64e0bf93f84f60" /><Relationship Type="http://schemas.openxmlformats.org/officeDocument/2006/relationships/notesMaster" Target="/ppt/notesMasters/notesMaster1.xml" Id="Rfeae8eceb56343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c1d2bac7344fde" /><Relationship Type="http://schemas.openxmlformats.org/officeDocument/2006/relationships/notesMaster" Target="/ppt/notesMasters/notesMaster1.xml" Id="R64e995ab63034b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 revised architecture and docs/technical-architecture.md, 2 October 2026. Target Error Analysis architecture. Current runtime remains factual-only until implemented and enabled.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 revised architecture and docs/technical-architecture.md, 2 October 2026. The route registry, human approval and saved-case API are code-controlled boundaries.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21377fe6b949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9bb85f26b1448d" /><Relationship Type="http://schemas.openxmlformats.org/officeDocument/2006/relationships/slideLayout" Target="/ppt/slideLayouts/slideLayout1.xml" Id="Rd1334a2cdb6242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334a2cdb6242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cac7a889b4a48" /><Relationship Type="http://schemas.openxmlformats.org/officeDocument/2006/relationships/notesSlide" Target="/ppt/notesSlides/notesSlide1.xml" Id="Re2c0e7c5797e49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7a002e3194a25" /><Relationship Type="http://schemas.openxmlformats.org/officeDocument/2006/relationships/notesSlide" Target="/ppt/notesSlides/notesSlide2.xml" Id="R0ffae70660774a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846C764-9687-4D89-9438-D2AD7B23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885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979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5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3746"/>
                </a:solidFill>
                <a:latin typeface="Helvetica Neue"/>
                <a:ea typeface="Helvetica Neue"/>
                <a:cs typeface="Helvetica Neue"/>
              </a:rPr>
              <a:t>Technical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E7D75-E131-480C-92C4-766D27A6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E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E7B"/>
                </a:solidFill>
                <a:latin typeface="Helvetica Neue"/>
                <a:ea typeface="Helvetica Neue"/>
                <a:cs typeface="Helvetica Neue"/>
              </a:rPr>
              <a:t>The system preserves source evidence, constrains each agent and keeps approvals with people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42CEA-ED65-43A5-9A9A-D8FEA023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2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03F75-D0B3-4B2B-AEE6-2255299F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2238375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6E697-9980-4479-BF88-DEFB79AE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385061-1756-47E5-B720-70994C46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33525"/>
            <a:ext cx="1647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Ingestion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B458AC-64E3-41FD-9581-81E7F544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43075"/>
            <a:ext cx="1647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rPr>
              <a:t>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9252D3-0866-4030-9864-F2C271F6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621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rPr>
              <a:t>Preserves the supplied log, records its version and queues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3676F8-EBF5-4F83-816B-42F55616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447800"/>
            <a:ext cx="2238375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99739F-3B89-44C8-80B5-FC74DD5F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62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8ED2A0-148C-44CA-85D7-4A93DFC3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533525"/>
            <a:ext cx="1647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Extraction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9161A-CFC8-4C6D-8A95-382BDBAC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743075"/>
            <a:ext cx="1647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rPr>
              <a:t>AGENT 1 · GPT-6 LUNA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C7FF3B-0B29-4206-A604-F9642235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621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rPr>
              <a:t>Captures every supplied entry, field and source reference.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6F55B8-0F30-470E-B2FB-08EE3949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47800"/>
            <a:ext cx="2238375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B0EC04-33E5-4402-A3FD-66AA4635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562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D8F6AE-FF53-4A61-819D-C4920D94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33525"/>
            <a:ext cx="1647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Error Analysis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4ECE55-6CEF-46D2-9803-4E44F663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43075"/>
            <a:ext cx="1647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rPr>
              <a:t>AGENT 2 · GPT-6.1 SOL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ABC3E6-2898-4237-A33D-5399C5FA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9621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rPr>
              <a:t>Classifies the extracted error and forms a supported cause hypothesis.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6F8898-4567-43D7-ABEC-779F5404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447800"/>
            <a:ext cx="2238375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AC4D1D-5288-4975-BD03-97CB2B0B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62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7D0C20-4AFB-40BD-9B04-4FAE8077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533525"/>
            <a:ext cx="1647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Controlled route lookup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30A370-4FCD-4E6F-8832-23F5BF2D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743075"/>
            <a:ext cx="1647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rPr>
              <a:t>CODE TOOL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F3A54A-E789-4F73-893C-9D75BA4F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621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rPr>
              <a:t>Returns the maintained owner, approval steps, remediation route and escalation.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AA9FEB-A462-46EC-BF2C-90C5AD8D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9950"/>
            <a:ext cx="2238375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2D35F7-5D9E-4172-8E8F-A40E4BF4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24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4F8937-F94A-4B98-92DA-C0AAA710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95675"/>
            <a:ext cx="1647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Reviewed case history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6F4383-9A7C-4792-B289-6B5CB834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05225"/>
            <a:ext cx="1647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rPr>
              <a:t>CONTROLLED KNOWLEDGE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2083A5-733A-4EA8-9C7E-12AADAD7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92430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rPr>
              <a:t>Retains approved findings and supplies eligible prior-case evidence.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F5EF2B-0A34-4E29-A024-A2E56D31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409950"/>
            <a:ext cx="2238375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1B9A51-1A63-4B13-B95B-A5FEBE27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24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490FE1-704A-4DE9-B3DB-1DCBAF80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495675"/>
            <a:ext cx="1647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Summary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3BAEB6-8D55-4EC6-AF18-CFDB1618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705225"/>
            <a:ext cx="1647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rPr>
              <a:t>AGENT 3 · GPT-6.1 SOL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9BF2C5-DFF4-4C6B-B03E-2BA0B714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92430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rPr>
              <a:t>Writes the cited case brief, uncertainty and relevant historical comparison.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2B8B25-5329-4495-87B1-19DAB9F5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09950"/>
            <a:ext cx="2238375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B9185F-22E1-4DF8-A0D9-EEAD02FF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524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6D7D06-0C70-415A-81AE-7097D3F2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95675"/>
            <a:ext cx="1647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Case creation and routing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8BDD1F-D14E-499E-9F24-2F978C1B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05225"/>
            <a:ext cx="1647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rPr>
              <a:t>CODE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DA6649-A4CB-4D5D-9AA9-2D103A5D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92430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rPr>
              <a:t>Compiles the case, embeds the original and assigns the configured owner.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30802F-4093-4F29-ADDA-440105DC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409950"/>
            <a:ext cx="2238375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4288">
            <a:solidFill>
              <a:srgbClr val="B4530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2A361A-BBE1-4534-8DA5-E34047D8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24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71E5D2-8E7D-41F5-BD9E-65CF818D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495675"/>
            <a:ext cx="1647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rPr>
              <a:t>Human review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DE28D5-C048-4BC4-87DF-EA4F91AB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705225"/>
            <a:ext cx="1647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rPr>
              <a:t>PEOPLE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126F134-7671-47E3-A450-E6E4AE75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92430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rPr>
              <a:t>Reviews the case and records approvals, evidence, findings and outcomes.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A108F11-0701-450C-8475-995A215C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14950"/>
            <a:ext cx="2238375" cy="10001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30FD07-1DD7-4584-B66D-CD349947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429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7711D1-6166-486B-93E3-B2F714B0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00675"/>
            <a:ext cx="1647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Case JSON API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1F3F8BD-9FF3-426D-89F0-A1FD4F1F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610225"/>
            <a:ext cx="1647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rPr>
              <a:t>CODE · READ ONLY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6A3A071-D4DE-4AF8-A9AE-305D9E91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5829300"/>
            <a:ext cx="1952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rPr>
              <a:t>Serves authorised saved case facts, state and original logs.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453EAAD-FA71-4187-9E72-A933F6C2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314950"/>
            <a:ext cx="2238375" cy="10001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4288">
            <a:solidFill>
              <a:srgbClr val="64748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1376B59-E969-43E0-A396-1B663832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429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3EDFF97-E3EF-4228-99A5-6F2F6482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5400675"/>
            <a:ext cx="1647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SAP Joule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EAEF1D0-E4D7-41EF-B19B-6A87A469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5610225"/>
            <a:ext cx="1647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rPr>
              <a:t>FUTURE CONNECTION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6B5C912-6D7C-44F2-9C22-E7C0213A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829300"/>
            <a:ext cx="1952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965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rPr>
              <a:t>Reads the case through a configured tool under customer access controls.</a:t>
            </a:r>
          </a:p>
        </p:txBody>
      </p:sp>
      <p:cxnSp>
        <p:nvCxnSpPr>
          <p:cNvPr id="124" name=""/>
          <p:cNvCxnSpPr>
            <a:stCxn xmlns:a="http://schemas.openxmlformats.org/drawingml/2006/main" id="4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638425" y="20288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569"/>
            </a:solidFill>
            <a:prstDash val="solid"/>
            <a:tailEnd type="arrow" w="sm" len="sm"/>
          </a:ln>
        </p:spPr>
      </p:cxnSp>
      <p:cxnSp>
        <p:nvCxnSpPr>
          <p:cNvPr id="125" name=""/>
          <p:cNvCxnSpPr>
            <a:stCxn xmlns:a="http://schemas.openxmlformats.org/drawingml/2006/main" id="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448300" y="20288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569"/>
            </a:solidFill>
            <a:prstDash val="solid"/>
            <a:tailEnd type="arrow" w="sm" len="sm"/>
          </a:ln>
        </p:spPr>
      </p:cxnSp>
      <p:cxnSp>
        <p:nvCxnSpPr>
          <p:cNvPr id="126" name=""/>
          <p:cNvCxnSpPr>
            <a:stCxn xmlns:a="http://schemas.openxmlformats.org/drawingml/2006/main" id="14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258175" y="20288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569"/>
            </a:solidFill>
            <a:prstDash val="solid"/>
            <a:tailEnd type="arrow" w="sm" len="sm"/>
          </a:ln>
        </p:spPr>
      </p:cxnSp>
      <p:cxnSp>
        <p:nvCxnSpPr>
          <p:cNvPr id="127" name=""/>
          <p:cNvCxnSpPr>
            <a:stCxn xmlns:a="http://schemas.openxmlformats.org/drawingml/2006/main" id="19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 flipH="1">
            <a:off x="4329113" y="2609850"/>
            <a:ext cx="5619750" cy="800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475569"/>
            </a:solidFill>
            <a:prstDash val="solid"/>
            <a:tailEnd type="arrow" w="sm" len="sm"/>
          </a:ln>
        </p:spPr>
      </p:cxnSp>
      <p:cxnSp>
        <p:nvCxnSpPr>
          <p:cNvPr id="128" name=""/>
          <p:cNvCxnSpPr>
            <a:stCxn xmlns:a="http://schemas.openxmlformats.org/drawingml/2006/main" id="24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2638425" y="39909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F766E"/>
            </a:solidFill>
            <a:prstDash val="dash"/>
            <a:tailEnd type="arrow" w="sm" len="sm"/>
          </a:ln>
        </p:spPr>
      </p:cxnSp>
      <p:cxnSp>
        <p:nvCxnSpPr>
          <p:cNvPr id="129" name=""/>
          <p:cNvCxnSpPr>
            <a:stCxn xmlns:a="http://schemas.openxmlformats.org/drawingml/2006/main" id="29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5448300" y="39909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569"/>
            </a:solidFill>
            <a:prstDash val="solid"/>
            <a:tailEnd type="arrow" w="sm" len="sm"/>
          </a:ln>
        </p:spPr>
      </p:cxnSp>
      <p:cxnSp>
        <p:nvCxnSpPr>
          <p:cNvPr id="130" name=""/>
          <p:cNvCxnSpPr>
            <a:stCxn xmlns:a="http://schemas.openxmlformats.org/drawingml/2006/main" id="34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8258175" y="39909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569"/>
            </a:solidFill>
            <a:prstDash val="solid"/>
            <a:tailEnd type="arrow" w="sm" len="sm"/>
          </a:ln>
        </p:spPr>
      </p:cxnSp>
      <p:cxnSp>
        <p:nvCxnSpPr>
          <p:cNvPr id="131" name=""/>
          <p:cNvCxnSpPr>
            <a:stCxn xmlns:a="http://schemas.openxmlformats.org/drawingml/2006/main" id="4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1519238" y="2609850"/>
            <a:ext cx="5619750" cy="800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1D4ED8"/>
            </a:solidFill>
            <a:prstDash val="dash"/>
            <a:tailEnd type="arrow" w="sm" len="sm"/>
          </a:ln>
        </p:spPr>
      </p:cxnSp>
      <p:cxnSp>
        <p:nvCxnSpPr>
          <p:cNvPr id="132" name=""/>
          <p:cNvCxnSpPr>
            <a:stCxn xmlns:a="http://schemas.openxmlformats.org/drawingml/2006/main" id="39" idx="2"/>
            <a:endCxn xmlns:a="http://schemas.openxmlformats.org/drawingml/2006/main" id="24" idx="2"/>
          </p:cNvCxnSpPr>
          <p:nvPr/>
        </p:nvCxnSpPr>
        <p:spPr>
          <a:xfrm xmlns:a="http://schemas.openxmlformats.org/drawingml/2006/main" flipH="1">
            <a:off x="1519238" y="4572000"/>
            <a:ext cx="8429625" cy="228600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0F766E"/>
            </a:solidFill>
            <a:prstDash val="dash"/>
            <a:tailEnd type="arrow" w="sm" len="sm"/>
          </a:ln>
        </p:spPr>
      </p:cxnSp>
      <p:cxnSp>
        <p:nvCxnSpPr>
          <p:cNvPr id="133" name=""/>
          <p:cNvCxnSpPr>
            <a:stCxn xmlns:a="http://schemas.openxmlformats.org/drawingml/2006/main" id="34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7138988" y="4572000"/>
            <a:ext cx="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569"/>
            </a:solidFill>
            <a:prstDash val="solid"/>
            <a:tailEnd type="arrow" w="sm" len="sm"/>
          </a:ln>
        </p:spPr>
      </p:cxnSp>
      <p:cxnSp>
        <p:nvCxnSpPr>
          <p:cNvPr id="134" name=""/>
          <p:cNvCxnSpPr>
            <a:stCxn xmlns:a="http://schemas.openxmlformats.org/drawingml/2006/main" id="44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8258175" y="58150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dash"/>
            <a:headEnd type="arrow" w="sm" len="sm"/>
            <a:tailEnd type="arrow" w="sm" len="sm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C558EF9-1BBD-4256-A245-5F0D097C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051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D6E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6E7B"/>
                </a:solidFill>
                <a:latin typeface="Helvetica Neue"/>
                <a:ea typeface="Helvetica Neue"/>
                <a:cs typeface="Helvetica Neue"/>
              </a:rPr>
              <a:t>structured extraction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8ADD45B-022A-414A-9CC9-12790EFC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4800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governed route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4DDC619-FE7A-4C8B-81D9-59594BE3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43325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eligible history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E9D0C63-47E7-4275-936F-C89CA441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289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original retained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DF16A64-5FE6-40D1-823C-980A4FA7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244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approved learning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3853F0D-9C6C-4B52-870D-6C346347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6673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authorised JSON</a:t>
            </a:r>
          </a:p>
        </p:txBody>
      </p:sp>
    </p:spTree>
    <p:extLst>
      <p:ext uri="{BB962C8B-B14F-4D97-AF65-F5344CB8AC3E}">
        <p14:creationId xmlns:p14="http://schemas.microsoft.com/office/powerpoint/2010/main" val="13347585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EFDD70-8362-4946-8E57-C724DEF5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885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979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5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3746"/>
                </a:solidFill>
                <a:latin typeface="Helvetica Neue"/>
                <a:ea typeface="Helvetica Neue"/>
                <a:cs typeface="Helvetica Neue"/>
              </a:rPr>
              <a:t>What each block receives and produces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EF002-D9D5-4431-B828-EC8FAB07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E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E7B"/>
                </a:solidFill>
                <a:latin typeface="Helvetica Neue"/>
                <a:ea typeface="Helvetica Neue"/>
                <a:cs typeface="Helvetica Neue"/>
              </a:rPr>
              <a:t>Inputs stay bounded. Outputs remain versioned and traceable to the preserved original log.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227E69-FF97-4EC4-9688-CCC43302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2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C60F6-C569-470E-A15F-A02DDB3E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62075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Analysis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AADEB-2EB4-47C9-AABA-96EE912C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36207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Case lifecycle and access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52450" y="1714500"/>
          <a:ext xmlns:a="http://schemas.openxmlformats.org/drawingml/2006/main" cx="5286375" cy="43624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34592"/>
                <a:gridCol w="3551783"/>
              </a:tblGrid>
              <a:tr h="409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Block and owner</a:t>
                      </a:r>
                    </a:p>
                  </a:txBody>
                  <a:tcPr marL="91440" marR="91440" marT="45720" marB="45720">
                    <a:solidFill>
                      <a:srgbClr val="17255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 flow and result</a:t>
                      </a:r>
                    </a:p>
                  </a:txBody>
                  <a:tcPr marL="91440" marR="91440" marT="45720" marB="45720">
                    <a:solidFill>
                      <a:srgbClr val="172554"/>
                    </a:solidFill>
                  </a:tcPr>
                </a:tc>
              </a:tr>
              <a:tr h="790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 Ingestion</a:t>
                      </a:r>
                    </a:p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Code</a:t>
                      </a:r>
                    </a:p>
                  </a:txBody>
                  <a:tcPr marL="91440" marR="91440" marT="45720" marB="45720">
                    <a:solidFill>
                      <a:srgbClr val="DBEAF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Receives the AIF log. Saves the immutable original and metadata, then queues analysis.</a:t>
                      </a:r>
                    </a:p>
                  </a:txBody>
                  <a:tcPr marL="91440" marR="91440" marT="45720" marB="45720"/>
                </a:tc>
              </a:tr>
              <a:tr h="790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 Extraction</a:t>
                      </a:r>
                    </a:p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Agent 1 · GPT-6 Luna</a:t>
                      </a:r>
                    </a:p>
                  </a:txBody>
                  <a:tcPr marL="91440" marR="91440" marT="45720" marB="45720">
                    <a:solidFill>
                      <a:srgbClr val="EDE9F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Receives original content. Returns a comprehensive structured extraction with source references and limitations.</a:t>
                      </a:r>
                    </a:p>
                  </a:txBody>
                  <a:tcPr marL="91440" marR="91440" marT="45720" marB="45720"/>
                </a:tc>
              </a:tr>
              <a:tr h="790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 Error Analysis</a:t>
                      </a:r>
                    </a:p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Agent 2 · GPT-6.1 Sol</a:t>
                      </a:r>
                    </a:p>
                  </a:txBody>
                  <a:tcPr marL="91440" marR="91440" marT="45720" marB="45720">
                    <a:solidFill>
                      <a:srgbClr val="EDE9F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Receives structured extraction only. Returns an active category or unclassified, a cause hypothesis, evidence references and gaps.</a:t>
                      </a:r>
                    </a:p>
                  </a:txBody>
                  <a:tcPr marL="91440" marR="91440" marT="45720" marB="45720"/>
                </a:tc>
              </a:tr>
              <a:tr h="790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Route lookup</a:t>
                      </a:r>
                    </a:p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Code tool</a:t>
                      </a:r>
                    </a:p>
                  </a:txBody>
                  <a:tcPr marL="91440" marR="91440" marT="45720" marB="45720">
                    <a:solidFill>
                      <a:srgbClr val="DBEAF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Receives the category. Returns the maintained owner, approval sequence, remediation steps and escalation.</a:t>
                      </a:r>
                    </a:p>
                  </a:txBody>
                  <a:tcPr marL="91440" marR="91440" marT="45720" marB="45720"/>
                </a:tc>
              </a:tr>
              <a:tr h="790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4. Summary</a:t>
                      </a:r>
                    </a:p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Agent 3 · GPT-6.1 Sol</a:t>
                      </a:r>
                    </a:p>
                  </a:txBody>
                  <a:tcPr marL="91440" marR="91440" marT="45720" marB="45720">
                    <a:solidFill>
                      <a:srgbClr val="EDE9F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Receives the analysis and route, original citations and authorised history. Returns the readable case brief.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16" name=""/>
          <p:cNvGraphicFramePr/>
          <p:nvPr/>
        </p:nvGraphicFramePr>
        <p:xfrm>
          <a:off xmlns:a="http://schemas.openxmlformats.org/drawingml/2006/main" x="6267450" y="1714500"/>
          <a:ext xmlns:a="http://schemas.openxmlformats.org/drawingml/2006/main" cx="5372100" cy="43624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62720"/>
                <a:gridCol w="3609380"/>
              </a:tblGrid>
              <a:tr h="409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Block and owner</a:t>
                      </a:r>
                    </a:p>
                  </a:txBody>
                  <a:tcPr marL="91440" marR="91440" marT="45720" marB="45720">
                    <a:solidFill>
                      <a:srgbClr val="17255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 flow and result</a:t>
                      </a:r>
                    </a:p>
                  </a:txBody>
                  <a:tcPr marL="91440" marR="91440" marT="45720" marB="45720">
                    <a:solidFill>
                      <a:srgbClr val="172554"/>
                    </a:solidFill>
                  </a:tcPr>
                </a:tc>
              </a:tr>
              <a:tr h="790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5. Case creation</a:t>
                      </a:r>
                    </a:p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Code</a:t>
                      </a:r>
                    </a:p>
                  </a:txBody>
                  <a:tcPr marL="91440" marR="91440" marT="45720" marB="45720">
                    <a:solidFill>
                      <a:srgbClr val="DBEAF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Receives the brief, analysis, route and original. Saves the case, evidence links and ownership state.</a:t>
                      </a:r>
                    </a:p>
                  </a:txBody>
                  <a:tcPr marL="91440" marR="91440" marT="45720" marB="45720"/>
                </a:tc>
              </a:tr>
              <a:tr h="790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6. Human review</a:t>
                      </a:r>
                    </a:p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People</a:t>
                      </a:r>
                    </a:p>
                  </a:txBody>
                  <a:tcPr marL="91440" marR="91440" marT="45720" marB="45720">
                    <a:solidFill>
                      <a:srgbClr val="FEF3C7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Receives the case and evidence. Records corrections, approvals, implementation evidence and the reprocessing outcome.</a:t>
                      </a:r>
                    </a:p>
                  </a:txBody>
                  <a:tcPr marL="91440" marR="91440" marT="45720" marB="45720"/>
                </a:tc>
              </a:tr>
              <a:tr h="790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7. Reviewed history</a:t>
                      </a:r>
                    </a:p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People and code</a:t>
                      </a:r>
                    </a:p>
                  </a:txBody>
                  <a:tcPr marL="91440" marR="91440" marT="45720" marB="45720">
                    <a:solidFill>
                      <a:srgbClr val="CCFBF1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Receives approved findings. Publishes eligible, versioned evidence for future Summary Agent runs.</a:t>
                      </a:r>
                    </a:p>
                  </a:txBody>
                  <a:tcPr marL="91440" marR="91440" marT="45720" marB="45720"/>
                </a:tc>
              </a:tr>
              <a:tr h="790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8. Case JSON API</a:t>
                      </a:r>
                    </a:p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Code · read only</a:t>
                      </a:r>
                    </a:p>
                  </a:txBody>
                  <a:tcPr marL="91440" marR="91440" marT="45720" marB="45720">
                    <a:solidFill>
                      <a:srgbClr val="DBEAF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Receives an authenticated request. Returns saved case facts and authorised original-log access.</a:t>
                      </a:r>
                    </a:p>
                  </a:txBody>
                  <a:tcPr marL="91440" marR="91440" marT="45720" marB="45720"/>
                </a:tc>
              </a:tr>
              <a:tr h="790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9. SAP Joule</a:t>
                      </a:r>
                    </a:p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Future connection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Receives permitted JSON through a configured tool. This channel has no SAP write authority.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347FAF-C265-47F2-A5C6-CF841559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25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rPr>
              <a:t>Key 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013AF8-25E0-4438-9415-C857FC87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286500"/>
            <a:ext cx="995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rPr>
              <a:t>Error Analysis sees structured extraction only. Summary receives the original for citations and only authorised related cases.</a:t>
            </a:r>
          </a:p>
        </p:txBody>
      </p:sp>
    </p:spTree>
    <p:extLst>
      <p:ext uri="{BB962C8B-B14F-4D97-AF65-F5344CB8AC3E}">
        <p14:creationId xmlns:p14="http://schemas.microsoft.com/office/powerpoint/2010/main" val="15595453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2026-10-02T16:36:26.1470000Z</dcterms:created>
  <dcterms:modified xsi:type="dcterms:W3CDTF">2026-10-02T16:36:26.1470000Z</dcterms:modified>
</coreProperties>
</file>