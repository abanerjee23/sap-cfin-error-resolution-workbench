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2880d68cdf4da6" /><Relationship Type="http://schemas.openxmlformats.org/officeDocument/2006/relationships/extended-properties" Target="/docProps/app.xml" Id="Rd8ac1de87345400e" /><Relationship Type="http://schemas.openxmlformats.org/officeDocument/2006/relationships/officeDocument" Target="/ppt/presentation.xml" Id="R545680151dc141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97b589b5f4d14"/>
  </p:sldMasterIdLst>
  <p:notesMasterIdLst>
    <p:notesMasterId xmlns:r="http://schemas.openxmlformats.org/officeDocument/2006/relationships" r:id="Rfc2d9f3442104bbc"/>
  </p:notesMasterIdLst>
  <p:sldIdLst>
    <p:sldId xmlns:r="http://schemas.openxmlformats.org/officeDocument/2006/relationships" id="256" r:id="Rc78cd99c02844c5a"/>
    <p:sldId xmlns:r="http://schemas.openxmlformats.org/officeDocument/2006/relationships" id="257" r:id="Rc445a31ad8fe44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7938b2e45d48b6" /><Relationship Type="http://schemas.openxmlformats.org/officeDocument/2006/relationships/slideMaster" Target="/ppt/slideMasters/slideMaster1.xml" Id="Refb97b589b5f4d14" /><Relationship Type="http://schemas.openxmlformats.org/officeDocument/2006/relationships/notesMaster" Target="/ppt/notesMasters/notesMaster1.xml" Id="Rfc2d9f3442104bbc" /><Relationship Type="http://schemas.openxmlformats.org/officeDocument/2006/relationships/presProps" Target="/ppt/presProps.xml" Id="R19490d4dfb61447a" /><Relationship Type="http://schemas.openxmlformats.org/officeDocument/2006/relationships/tableStyles" Target="/ppt/tableStyles.xml" Id="R9e6065c12d204177" /><Relationship Type="http://schemas.openxmlformats.org/officeDocument/2006/relationships/slide" Target="/ppt/slides/slide1.xml" Id="Rc78cd99c02844c5a" /><Relationship Type="http://schemas.openxmlformats.org/officeDocument/2006/relationships/slide" Target="/ppt/slides/slide2.xml" Id="Rc445a31ad8fe44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ed4038f102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b1d9f1fc7472f" /><Relationship Type="http://schemas.openxmlformats.org/officeDocument/2006/relationships/notesMaster" Target="/ppt/notesMasters/notesMaster1.xml" Id="R075dc1c57e5347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cb7e28f88e458a" /><Relationship Type="http://schemas.openxmlformats.org/officeDocument/2006/relationships/notesMaster" Target="/ppt/notesMasters/notesMaster1.xml" Id="Rd8ede049a9b8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revised architecture and docs/technical-architecture.md, 2 October 2026. Target Error Analysis architecture. Current runtime remains factual-only until implemented and enabled.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revised architecture and docs/technical-architecture.md, 2 October 2026. The route registry, human approval and saved-case API are code-controlled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d1816be97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75d190193047d8" /><Relationship Type="http://schemas.openxmlformats.org/officeDocument/2006/relationships/slideLayout" Target="/ppt/slideLayouts/slideLayout1.xml" Id="R539edf4ff5354b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9edf4ff5354b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e2e1d1b784962" /><Relationship Type="http://schemas.openxmlformats.org/officeDocument/2006/relationships/notesSlide" Target="/ppt/notesSlides/notesSlide1.xml" Id="R1ad45f65230e43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96606a5694422" /><Relationship Type="http://schemas.openxmlformats.org/officeDocument/2006/relationships/notesSlide" Target="/ppt/notesSlides/notesSlide2.xml" Id="Rff98ea41985b43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E836C2F-F37D-4A03-BD83-676B14E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16CE3-F4C2-4BB8-801E-C8F29F39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The system preserves source evidence, constrains each agent and keeps approvals with people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C498A-B070-4E0E-B1D8-0BD95E93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6FB2D-1365-4E40-956E-254E1B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33858-7191-43F8-BDE6-9A0679D5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C0FCC-8F3E-4046-BC20-808ABD9A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1F240-6E16-4FF4-BEDF-1FC7902F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762B5-4D59-49F1-8152-29C7C3C1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44BED-8EB0-4C72-94A0-C1E9121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Preserves the supplied log, records its version and queues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B7CEC-C6A2-4B7A-B31D-CB9D71C0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6124B-29A5-4D49-8946-3DF7E2E2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6F32-19AC-437B-83D7-6C07B21F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81367-0B96-4232-AD5C-428A6434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89B93-5A84-4B8C-A6EC-D824EFDB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1 · GPT-6 LUNA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73465-E6D0-4A6D-A6D6-A62A8F5D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Captures every supplied entry, field and source reference.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B0650-6401-4EC3-9B06-71B84669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0CCCB-105E-4C15-8425-3A6E2141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02204-95AA-4A89-A165-B4D8CB85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00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3DB8A-794C-40D9-8EB9-9630E96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Error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481B3-1CD2-4EB4-8004-73A285E1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2 · GPT-6.1 SOL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E3A4E-8A36-421C-A2B9-5AB77D3C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Classifies the extracted error and forms a supported cause hypothesis.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47649-E581-43CD-BF2C-8DDD6D92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C490C-0134-45F4-90AE-A49F2155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49AC1-536F-4E66-B5F7-425C28A2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0A430A-7C67-47E5-AAFC-0A89929A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Controlled route lookup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69882-5FFB-4F45-93CD-1E5360F1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 TOOL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65EB1-1852-4159-9F1C-6553D864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Returns the maintained owner, approval steps, remediation route and escalation.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22260E-6380-4AD6-B630-A85FDCE8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5CC682-FA74-486D-8952-1A6B2EE2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A44A2-1432-43CA-8611-D87E53C3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46EC2E-7FB1-4A2B-ADF0-47243C0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Reviewed case 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89EB41-E1E9-457A-AEB4-15BDD1A9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CONTROLLED KNOWLEDGE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82FB9-8144-4E3A-AC60-7E5DEBDC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Retains approved findings and supplies eligible prior-case evidence.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FDF68-80A4-4E6F-B710-4383CEC2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8C1F07-1349-4EBA-BF9A-76EE3EA3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6DD025-F50F-4054-8606-BD3F2C4B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14446D-AC4D-4FFB-BAAC-79094FCA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92EA79-CF46-4800-AE7E-E092919E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3 · GPT-6.1 SOL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A6155C-60CF-47CC-9A07-E1A645A8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Writes the cited case brief, uncertainty and relevant historical comparison.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1E1B9F-65CB-43F7-92B9-5CBE34C1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B5BD56-FEAD-4C96-9202-3FBB62BB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DA54D7-9883-4681-B3AF-D90E72CE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62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2CF7D0-7BC2-42AB-97B2-7599F16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creation and routing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F9F4E9-E53C-4C4C-B540-45C0B23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21EA55-4051-4ADC-91EB-0C5F6FC3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Compiles the case, embeds the original and assigns the configured owner.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0C2E39-14AE-4C32-9E9A-0D900553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4B5822-FF3F-4A20-9B13-84B1E251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A7FC04-9E6D-4CC1-A8B9-87EADD12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4B969C-9E09-465E-AB08-011B8081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C5E3D0-3352-4621-A299-B915D0AA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718B10-77F9-431B-BA9D-F884E06E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Reviews the case and records approvals, evidence, findings and outcomes.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CC69FE-D7D9-4EA9-BF7B-713F394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14950"/>
            <a:ext cx="2238375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72BE46-CA04-45AB-B484-7BA1DBC0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2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578C14-9017-4886-8E1C-5A21BA04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67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C051CD-3D14-49CA-98FA-85E5CD0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00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JSON API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057908-0DF0-420D-A945-9E02D34A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10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 · READ ONLY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5BB20B-D82D-4BA3-B23F-A919462C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293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Serves authorised saved case facts, state and original logs.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3C5375-8850-4BFF-BFB9-DC05F08D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314950"/>
            <a:ext cx="2238375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50D055-5029-4DBE-A4D9-E423B936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2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BE322C-B9A9-4C9C-A2C8-E4BC9F8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41B56F-7A19-469C-A0BB-7B1EB5C4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00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SAP Joule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90D975-538D-4270-B97D-B1DD51E1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610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FUTURE CONNECTION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5DDC83-71C0-4189-858B-F812D0DB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293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6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Reads the case through a configured tool under customer access controls.</a:t>
            </a:r>
          </a:p>
        </p:txBody>
      </p:sp>
      <p:cxnSp>
        <p:nvCxnSpPr>
          <p:cNvPr id="142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38425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3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448300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4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258175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5" name=""/>
          <p:cNvCxnSpPr>
            <a:stCxn xmlns:a="http://schemas.openxmlformats.org/drawingml/2006/main" id="2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4329113" y="2609850"/>
            <a:ext cx="56197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6" name=""/>
          <p:cNvCxnSpPr>
            <a:stCxn xmlns:a="http://schemas.openxmlformats.org/drawingml/2006/main" id="2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638425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766E"/>
            </a:solidFill>
            <a:prstDash val="dash"/>
            <a:tailEnd type="arrow" w="sm" len="sm"/>
          </a:ln>
        </p:spPr>
      </p:cxnSp>
      <p:cxnSp>
        <p:nvCxnSpPr>
          <p:cNvPr id="147" name=""/>
          <p:cNvCxnSpPr>
            <a:stCxn xmlns:a="http://schemas.openxmlformats.org/drawingml/2006/main" id="34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448300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8" name=""/>
          <p:cNvCxnSpPr>
            <a:stCxn xmlns:a="http://schemas.openxmlformats.org/drawingml/2006/main" id="40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58175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9" name=""/>
          <p:cNvCxnSpPr>
            <a:stCxn xmlns:a="http://schemas.openxmlformats.org/drawingml/2006/main" id="46" idx="2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H="1">
            <a:off x="1519238" y="4572000"/>
            <a:ext cx="8429625" cy="2286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0F766E"/>
            </a:solidFill>
            <a:prstDash val="dash"/>
            <a:tailEnd type="arrow" w="sm" len="sm"/>
          </a:ln>
        </p:spPr>
      </p:cxnSp>
      <p:cxnSp>
        <p:nvCxnSpPr>
          <p:cNvPr id="150" name=""/>
          <p:cNvCxnSpPr>
            <a:stCxn xmlns:a="http://schemas.openxmlformats.org/drawingml/2006/main" id="40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7138988" y="45720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51" name=""/>
          <p:cNvCxnSpPr>
            <a:stCxn xmlns:a="http://schemas.openxmlformats.org/drawingml/2006/main" id="52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8258175" y="58150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dash"/>
            <a:headEnd type="arrow" w="sm" len="sm"/>
            <a:tailEnd type="arrow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9E81B2-2823-451E-9644-2DA3C2FB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structured extraction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CA16EF-0892-4E9C-9186-02CA17F7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governed route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3DCB8C-3A13-4B0E-9F41-1F2B9B96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3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eligible history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F0F9BF-532D-4C36-B398-CE03269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24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approved learning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46CE28-7A08-48F5-AD82-9C892308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authorised JSON</a:t>
            </a:r>
          </a:p>
        </p:txBody>
      </p:sp>
    </p:spTree>
    <p:extLst>
      <p:ext uri="{BB962C8B-B14F-4D97-AF65-F5344CB8AC3E}">
        <p14:creationId xmlns:p14="http://schemas.microsoft.com/office/powerpoint/2010/main" val="66805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592D5-C1EE-482E-8426-EB7717E1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What each block receives and produces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C76D9-9118-4EAE-8A47-A819F92D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Inputs stay bounded. Outputs remain versioned and traceable to the preserved original log.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18C40-FB42-4E19-A882-D7E8E74B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8F842-54A5-4FDF-AEC4-A3623088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Analysis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D2C8E-B4E5-407B-9E46-028B5C69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620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lifecycle and access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5286375" cy="436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34592"/>
                <a:gridCol w="3551783"/>
              </a:tblGrid>
              <a:tr h="409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 and owner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flow and result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Ingestion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AIF log. Saves the immutable original and metadata, then queues analysis.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Extraction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1 · GPT-6 Luna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original content. Returns a comprehensive structured extraction with source references and limitations.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Error Analysis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2 · GPT-6.1 Sol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structured extraction only. Returns an active category or unclassified, a cause hypothesis, evidence references and gaps.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lookup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tool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category. Returns the maintained owner, approval sequence, remediation steps and escalation.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Summary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3 · GPT-6.1 Sol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analysis and route, original citations and authorised history. Returns the readable case brief.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267450" y="1714500"/>
          <a:ext xmlns:a="http://schemas.openxmlformats.org/drawingml/2006/main" cx="5372100" cy="436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720"/>
                <a:gridCol w="3609380"/>
              </a:tblGrid>
              <a:tr h="409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 and owner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flow and result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 Case creation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brief, analysis, route and original. Saves the case, evidence links and ownership state.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 Human review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</a:t>
                      </a:r>
                    </a:p>
                  </a:txBody>
                  <a:tcPr marL="91440" marR="91440" marT="45720" marB="45720">
                    <a:solidFill>
                      <a:srgbClr val="FEF3C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case and evidence. Records corrections, approvals, implementation evidence and the reprocessing outcome.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 Reviewed history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 and code</a:t>
                      </a:r>
                    </a:p>
                  </a:txBody>
                  <a:tcPr marL="91440" marR="91440" marT="45720" marB="45720">
                    <a:solidFill>
                      <a:srgbClr val="CCFBF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approved findings. Publishes eligible, versioned evidence for future Summary Agent runs.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 Case JSON API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· read only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an authenticated request. Returns saved case facts and authorised original-log access.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 SAP Joule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Future connection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permitted JSON through a configured tool. This channel has no SAP write authority.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77008-4230-4E15-A5D7-5A2AEBF3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Key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1A4F3-64E8-4F0E-BE45-8DAEF299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86500"/>
            <a:ext cx="995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Error Analysis sees structured extraction only. Summary receives the original for citations and only authorised related cases.</a:t>
            </a:r>
          </a:p>
        </p:txBody>
      </p:sp>
    </p:spTree>
    <p:extLst>
      <p:ext uri="{BB962C8B-B14F-4D97-AF65-F5344CB8AC3E}">
        <p14:creationId xmlns:p14="http://schemas.microsoft.com/office/powerpoint/2010/main" val="2136806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2026-10-02T16:38:21.1990000Z</dcterms:created>
  <dcterms:modified xsi:type="dcterms:W3CDTF">2026-10-02T16:38:21.1990000Z</dcterms:modified>
</coreProperties>
</file>