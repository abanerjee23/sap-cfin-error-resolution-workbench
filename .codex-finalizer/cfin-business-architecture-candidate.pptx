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9e611f59eb41c8" /><Relationship Type="http://schemas.openxmlformats.org/officeDocument/2006/relationships/extended-properties" Target="/docProps/app.xml" Id="Rb2ed54d2de2e4137" /><Relationship Type="http://schemas.openxmlformats.org/officeDocument/2006/relationships/officeDocument" Target="/ppt/presentation.xml" Id="Rc9b33573c066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db6be1603f47d0"/>
  </p:sldMasterIdLst>
  <p:notesMasterIdLst>
    <p:notesMasterId xmlns:r="http://schemas.openxmlformats.org/officeDocument/2006/relationships" r:id="Rdd820e5825a34c48"/>
  </p:notesMasterIdLst>
  <p:sldIdLst>
    <p:sldId xmlns:r="http://schemas.openxmlformats.org/officeDocument/2006/relationships" id="256" r:id="Rb4383b142d6444a7"/>
    <p:sldId xmlns:r="http://schemas.openxmlformats.org/officeDocument/2006/relationships" id="257" r:id="R1804c9426c934b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1b318344241db" /><Relationship Type="http://schemas.openxmlformats.org/officeDocument/2006/relationships/slideMaster" Target="/ppt/slideMasters/slideMaster1.xml" Id="R48db6be1603f47d0" /><Relationship Type="http://schemas.openxmlformats.org/officeDocument/2006/relationships/notesMaster" Target="/ppt/notesMasters/notesMaster1.xml" Id="Rdd820e5825a34c48" /><Relationship Type="http://schemas.openxmlformats.org/officeDocument/2006/relationships/presProps" Target="/ppt/presProps.xml" Id="Rfc33fa33c1a14f68" /><Relationship Type="http://schemas.openxmlformats.org/officeDocument/2006/relationships/tableStyles" Target="/ppt/tableStyles.xml" Id="R04ca05e680eb43d2" /><Relationship Type="http://schemas.openxmlformats.org/officeDocument/2006/relationships/slide" Target="/ppt/slides/slide1.xml" Id="Rb4383b142d6444a7" /><Relationship Type="http://schemas.openxmlformats.org/officeDocument/2006/relationships/slide" Target="/ppt/slides/slide2.xml" Id="R1804c9426c934b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785aea61034f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9be7c56a664780" /><Relationship Type="http://schemas.openxmlformats.org/officeDocument/2006/relationships/notesMaster" Target="/ppt/notesMasters/notesMaster1.xml" Id="R5d7a9270f69045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3739d3d6a6448f" /><Relationship Type="http://schemas.openxmlformats.org/officeDocument/2006/relationships/notesMaster" Target="/ppt/notesMasters/notesMaster1.xml" Id="R542b0a24912843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CFIN technical architecture and agreed leadership design, 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CFIN technical architecture and agreed leadership design, 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e8ccd90a24a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d5fe962f9e4ca9" /><Relationship Type="http://schemas.openxmlformats.org/officeDocument/2006/relationships/slideLayout" Target="/ppt/slideLayouts/slideLayout1.xml" Id="R6f572f9cb56946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572f9cb56946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961072d044744" /><Relationship Type="http://schemas.openxmlformats.org/officeDocument/2006/relationships/notesSlide" Target="/ppt/notesSlides/notesSlide1.xml" Id="R919b3941b7904f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200c72b4d4cd4" /><Relationship Type="http://schemas.openxmlformats.org/officeDocument/2006/relationships/notesSlide" Target="/ppt/notesSlides/notesSlide2.xml" Id="Re230608f66a645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7850E9-2E07-41E2-9BBF-A925653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CFIN document error-management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BC794-934B-4F34-8364-8940176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How an AIF error becomes a reviewable case and a validated CFIN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161AF-F966-49D1-A7FF-0C1D048E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5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7E790-BE7C-499F-A1C2-D62A72D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095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4288">
            <a:solidFill>
              <a:srgbClr val="2D6E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14FD9-7AA0-4A7F-8D31-941BA1DF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A3"/>
          </a:solidFill>
          <a:ln xmlns:a="http://schemas.openxmlformats.org/drawingml/2006/main" w="0">
            <a:solidFill>
              <a:srgbClr val="2D6EA3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608A7-2EDA-4559-AE3D-090D7DC3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7642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F54EA-6514-4206-B12E-31439739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1752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Code preserves the original AIF log and opens a traceable case.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7E02E-80D1-4447-9370-8EA3045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190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14288">
            <a:solidFill>
              <a:srgbClr val="6A56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26018-19B9-4523-9BA7-0094EE9F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0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6C8"/>
          </a:solidFill>
          <a:ln xmlns:a="http://schemas.openxmlformats.org/drawingml/2006/main" w="0">
            <a:solidFill>
              <a:srgbClr val="6A56C8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E0CBB-CBBF-437F-85DF-AE40DDB7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764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rPr>
              <a:t>Extraction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9B67F-FB3F-4342-AB59-A3922CF7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574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GPT-6 Luna</a:t>
            </a:r>
          </a:p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Captures the log as structured facts with source references.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E6E4A-A869-425E-835F-1EC1C3FB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190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14288">
            <a:solidFill>
              <a:srgbClr val="6A5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59E5C-34D1-44BB-B660-6641D0C0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6C8"/>
          </a:solidFill>
          <a:ln xmlns:a="http://schemas.openxmlformats.org/drawingml/2006/main" w="0">
            <a:solidFill>
              <a:srgbClr val="6A56C8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A12A1-6617-4548-8B69-5E426761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764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rPr>
              <a:t>Error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9532E-7D3D-4173-8943-72A3CCCC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574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GPT-6.1 Sol</a:t>
            </a:r>
          </a:p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Uses structured extraction only to propose type, hypothesis and gaps.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790F1-A6FA-473C-9DC3-209359BE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62125"/>
            <a:ext cx="2571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4288">
            <a:solidFill>
              <a:srgbClr val="2D6EA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8F275-9695-4A76-92AA-19491500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A3"/>
          </a:solidFill>
          <a:ln xmlns:a="http://schemas.openxmlformats.org/drawingml/2006/main" w="0">
            <a:solidFill>
              <a:srgbClr val="2D6EA3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E5243-364C-4B12-81BF-AD35406E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76425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rPr>
              <a:t>Route lookup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6378A-6DBE-4B10-AFF1-EF2E1C8F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57425"/>
            <a:ext cx="2228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Code returns the maintained owner, approval route and escalation path.</a:t>
            </a:r>
          </a:p>
        </p:txBody>
      </p:sp>
      <p:cxnSp>
        <p:nvCxnSpPr>
          <p:cNvPr id="6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2476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headEnd type="arrow" w="med" len="med"/>
          </a:ln>
        </p:spPr>
      </p:cxn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524500" y="2476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head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82000" y="2476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5E8F6-C89D-46F3-8480-F79E4ECD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2095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89A82-8315-41E8-A4F9-DD71F808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E7C72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3E36C-7D68-494F-BB89-C9A3F63D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6722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7C72"/>
                </a:solidFill>
                <a:latin typeface="Helvetica Neue"/>
                <a:ea typeface="Helvetica Neue"/>
                <a:cs typeface="Helvetica Neue"/>
              </a:rPr>
              <a:t>Reviewed case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79678-6B38-438E-B621-9EDCB397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1752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Eligible past cases provide bounded, cited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193189-F8D1-4119-A194-6EF1C945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95750"/>
            <a:ext cx="2762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14288">
            <a:solidFill>
              <a:srgbClr val="6A56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EE1127-11AC-4793-8364-F6DA7FF0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6C8"/>
          </a:solidFill>
          <a:ln xmlns:a="http://schemas.openxmlformats.org/drawingml/2006/main" w="0">
            <a:solidFill>
              <a:srgbClr val="6A56C8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080664-1FB0-43C6-A8F5-08311A72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rPr>
              <a:t>Summary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33B934-4340-4790-96B4-17171810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91050"/>
            <a:ext cx="2419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GPT-6.1 Sol</a:t>
            </a:r>
          </a:p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Writes the readable case using analysis, cited original-log facts and relevant prior cases.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0509E-36CD-4F97-892E-5A5818DB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4288">
            <a:solidFill>
              <a:srgbClr val="2D6E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F6DFB3-5051-4506-9F12-D96C98D7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A3"/>
          </a:solidFill>
          <a:ln xmlns:a="http://schemas.openxmlformats.org/drawingml/2006/main" w="0">
            <a:solidFill>
              <a:srgbClr val="2D6EA3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3516D-05A8-4C54-83B8-52F0B88B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00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rPr>
              <a:t>Case 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06512B-7DAC-4A68-BB98-A8154B4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91050"/>
            <a:ext cx="175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Shows evidence, owner, route, similar cases and case activity.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0A296D-36F7-4159-816B-0C9A58F0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1619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4288">
            <a:solidFill>
              <a:srgbClr val="B85C1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7FAF62-9C12-4A46-A93C-D082BE9B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10"/>
          </a:solidFill>
          <a:ln xmlns:a="http://schemas.openxmlformats.org/drawingml/2006/main" w="0">
            <a:solidFill>
              <a:srgbClr val="B85C10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7F29CA-F4CD-4DB5-BAD8-FB93B13F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100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1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5C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85C10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BDD1A3-6028-4207-ADD7-C545F633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91050"/>
            <a:ext cx="1276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Review, remediation and evidence capture.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Successful CFIN posting confirmed.</a:t>
            </a:r>
          </a:p>
        </p:txBody>
      </p:sp>
      <p:cxnSp>
        <p:nvCxnSpPr>
          <p:cNvPr id="84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4953000" y="3190875"/>
            <a:ext cx="5381625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F8292"/>
            </a:solidFill>
            <a:prstDash val="solid"/>
            <a:headEnd type="arrow" w="med" len="med"/>
          </a:ln>
        </p:spPr>
      </p:cxnSp>
      <p:cxnSp>
        <p:nvCxnSpPr>
          <p:cNvPr id="85" name=""/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334125" y="4857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headEnd type="arrow" w="med" len="med"/>
          </a:ln>
        </p:spPr>
      </p:cxnSp>
      <p:cxnSp>
        <p:nvCxnSpPr>
          <p:cNvPr id="86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334500" y="4857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headEnd type="arrow" w="med" len="med"/>
          </a:ln>
        </p:spPr>
      </p:cxnSp>
      <p:cxnSp>
        <p:nvCxnSpPr>
          <p:cNvPr id="87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2667000" y="4857750"/>
            <a:ext cx="90487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E7C72"/>
            </a:solidFill>
            <a:prstDash val="dash"/>
            <a:headEnd type="arrow" w="sm" len="sm"/>
          </a:ln>
        </p:spPr>
      </p:cxnSp>
      <p:cxnSp>
        <p:nvCxnSpPr>
          <p:cNvPr id="88" name=""/>
          <p:cNvCxnSpPr>
            <a:stCxn xmlns:a="http://schemas.openxmlformats.org/drawingml/2006/main" id="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619250" y="3190875"/>
            <a:ext cx="333375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E7C72"/>
            </a:solidFill>
            <a:prstDash val="dash"/>
            <a:headEnd type="arrow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AC6BD3-5598-46DB-93FC-1783EAC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848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C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C72"/>
                </a:solidFill>
                <a:latin typeface="Helvetica Neue"/>
                <a:ea typeface="Helvetica Neue"/>
                <a:cs typeface="Helvetica Neue"/>
              </a:rPr>
              <a:t>Dotted paths: original evidence and authorised history feed Summary only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F7C694-CF93-492B-A7C6-005A86E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D3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D3B4A"/>
                </a:solidFill>
                <a:latin typeface="Helvetica Neue"/>
                <a:ea typeface="Helvetica Neue"/>
                <a:cs typeface="Helvetica Neue"/>
              </a:rPr>
              <a:t>Error Analysis cannot access raw logs, case history or SAP</a:t>
            </a:r>
          </a:p>
        </p:txBody>
      </p:sp>
    </p:spTree>
    <p:extLst>
      <p:ext uri="{BB962C8B-B14F-4D97-AF65-F5344CB8AC3E}">
        <p14:creationId xmlns:p14="http://schemas.microsoft.com/office/powerpoint/2010/main" val="430230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5C454-818C-4CA3-A55E-F3D4C668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Flow, responsibilities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AD3A3-24ED-4131-9DF7-C60D28F2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The model prepares evidence and analysis. Code enforces policy. People own the outcome.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8A49D-66E8-4720-B080-4F5A6761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5D1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1734044"/>
                <a:gridCol w="1307639"/>
                <a:gridCol w="2203088"/>
                <a:gridCol w="2629492"/>
                <a:gridCol w="3098537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Lead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enters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stage produces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 that protects the case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Ingestion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CEE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AIF error log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Immutable original and queued 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Hash, source version and duplicate check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Extraction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GPT-6 Luna</a:t>
                      </a:r>
                    </a:p>
                  </a:txBody>
                  <a:tcPr marL="91440" marR="91440" marT="45720" marB="45720">
                    <a:solidFill>
                      <a:srgbClr val="EE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log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facts with source references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Unfamiliar or missing content remains visible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Error Analysis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GPT-6.1 Sol</a:t>
                      </a:r>
                    </a:p>
                  </a:txBody>
                  <a:tcPr marL="91440" marR="91440" marT="45720" marB="45720">
                    <a:solidFill>
                      <a:srgbClr val="EE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extraction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type, tentative hypothesis and gaps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raw log, history, SAP or model-selected remediation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Route lookup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CEE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Active error 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 role, approval path and escalation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Versioned policy registry controls the route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 Summary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GPT-6.1 Sol</a:t>
                      </a:r>
                    </a:p>
                  </a:txBody>
                  <a:tcPr marL="91440" marR="91440" marT="45720" marB="45720">
                    <a:solidFill>
                      <a:srgbClr val="EE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Analysis, original citations and authorised related cases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Readable, cited investigator 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Similar cases support context, never prove the current cause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 Resolution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People</a:t>
                      </a:r>
                    </a:p>
                  </a:txBody>
                  <a:tcPr marL="91440" marR="91440" marT="45720" marB="45720">
                    <a:solidFill>
                      <a:srgbClr val="FFF0D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 evidence and governed route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Approval, change evidence and reprocessing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Successful CFIN posting confirmed by people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8A68E-CF10-42DF-B440-8491BCDD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7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5C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85C10"/>
                </a:solidFill>
                <a:latin typeface="Helvetica Neue"/>
                <a:ea typeface="Helvetica Neue"/>
                <a:cs typeface="Helvetica Neue"/>
              </a:rPr>
              <a:t>Pilot route: only Master Data and Mapping receive a maintained automated route. All other categories go to the CFIN Exception Manager for manual assignment.</a:t>
            </a:r>
          </a:p>
        </p:txBody>
      </p:sp>
    </p:spTree>
    <p:extLst>
      <p:ext uri="{BB962C8B-B14F-4D97-AF65-F5344CB8AC3E}">
        <p14:creationId xmlns:p14="http://schemas.microsoft.com/office/powerpoint/2010/main" val="1340794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2026-10-02T16:21:29.1820000Z</dcterms:created>
  <dcterms:modified xsi:type="dcterms:W3CDTF">2026-10-02T16:21:29.1820000Z</dcterms:modified>
</coreProperties>
</file>