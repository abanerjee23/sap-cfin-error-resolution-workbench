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6cb2853dca44ef" /><Relationship Type="http://schemas.openxmlformats.org/officeDocument/2006/relationships/extended-properties" Target="/docProps/app.xml" Id="R103355fa014d431e" /><Relationship Type="http://schemas.openxmlformats.org/officeDocument/2006/relationships/officeDocument" Target="/ppt/presentation.xml" Id="Ra26c4454b49048e9" /></Relationships>
</file>

<file path=ppt/presentation.xml><?xml version="1.0" encoding="utf-8"?>
<p:presentation xmlns:p="http://schemas.openxmlformats.org/presentationml/2006/main">
  <p:sldMasterIdLst>
    <p:sldMasterId xmlns:r="http://schemas.openxmlformats.org/officeDocument/2006/relationships" id="2147483648" r:id="R2cb55867d1fa442d"/>
  </p:sldMasterIdLst>
  <p:notesMasterIdLst>
    <p:notesMasterId xmlns:r="http://schemas.openxmlformats.org/officeDocument/2006/relationships" r:id="R9a710eb789104783"/>
  </p:notesMasterIdLst>
  <p:sldIdLst>
    <p:sldId xmlns:r="http://schemas.openxmlformats.org/officeDocument/2006/relationships" id="256" r:id="R5d1f0e956f384bf6"/>
    <p:sldId xmlns:r="http://schemas.openxmlformats.org/officeDocument/2006/relationships" id="257" r:id="R5fd46368442542b5"/>
    <p:sldId xmlns:r="http://schemas.openxmlformats.org/officeDocument/2006/relationships" id="258" r:id="Ra6f6c6b8cabf4c57"/>
    <p:sldId xmlns:r="http://schemas.openxmlformats.org/officeDocument/2006/relationships" id="259" r:id="R4cacbcfd0bf349c6"/>
    <p:sldId xmlns:r="http://schemas.openxmlformats.org/officeDocument/2006/relationships" id="260" r:id="Rda4c782d73fe45e4"/>
    <p:sldId xmlns:r="http://schemas.openxmlformats.org/officeDocument/2006/relationships" id="261" r:id="R17599beb3b27493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e2a807ac3b4b46" /><Relationship Type="http://schemas.openxmlformats.org/officeDocument/2006/relationships/slideMaster" Target="/ppt/slideMasters/slideMaster1.xml" Id="R2cb55867d1fa442d" /><Relationship Type="http://schemas.openxmlformats.org/officeDocument/2006/relationships/notesMaster" Target="/ppt/notesMasters/notesMaster1.xml" Id="R9a710eb789104783" /><Relationship Type="http://schemas.openxmlformats.org/officeDocument/2006/relationships/presProps" Target="/ppt/presProps.xml" Id="Rc59ee1f16a664134" /><Relationship Type="http://schemas.openxmlformats.org/officeDocument/2006/relationships/tableStyles" Target="/ppt/tableStyles.xml" Id="R7e0fd959ada44581" /><Relationship Type="http://schemas.openxmlformats.org/officeDocument/2006/relationships/slide" Target="/ppt/slides/slide1.xml" Id="R5d1f0e956f384bf6" /><Relationship Type="http://schemas.openxmlformats.org/officeDocument/2006/relationships/slide" Target="/ppt/slides/slide2.xml" Id="R5fd46368442542b5" /><Relationship Type="http://schemas.openxmlformats.org/officeDocument/2006/relationships/slide" Target="/ppt/slides/slide3.xml" Id="Ra6f6c6b8cabf4c57" /><Relationship Type="http://schemas.openxmlformats.org/officeDocument/2006/relationships/slide" Target="/ppt/slides/slide4.xml" Id="R4cacbcfd0bf349c6" /><Relationship Type="http://schemas.openxmlformats.org/officeDocument/2006/relationships/slide" Target="/ppt/slides/slide5.xml" Id="Rda4c782d73fe45e4" /><Relationship Type="http://schemas.openxmlformats.org/officeDocument/2006/relationships/slide" Target="/ppt/slides/slide6.xml" Id="R17599beb3b2749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5d9ef970a546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af4dc6e8d84896" /><Relationship Type="http://schemas.openxmlformats.org/officeDocument/2006/relationships/notesMaster" Target="/ppt/notesMasters/notesMaster1.xml" Id="R779e64c7c36849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9be3a849de478e" /><Relationship Type="http://schemas.openxmlformats.org/officeDocument/2006/relationships/notesMaster" Target="/ppt/notesMasters/notesMaster1.xml" Id="Re48491890e0e42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78f6cf8a5e4f1b" /><Relationship Type="http://schemas.openxmlformats.org/officeDocument/2006/relationships/notesMaster" Target="/ppt/notesMasters/notesMaster1.xml" Id="R4f332293067c48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289da98d3143d5" /><Relationship Type="http://schemas.openxmlformats.org/officeDocument/2006/relationships/notesMaster" Target="/ppt/notesMasters/notesMaster1.xml" Id="R4d8962ceb4bb48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55cb135482401e" /><Relationship Type="http://schemas.openxmlformats.org/officeDocument/2006/relationships/notesMaster" Target="/ppt/notesMasters/notesMaster1.xml" Id="R001da9ae602b45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59dd3b3ed3459e" /><Relationship Type="http://schemas.openxmlformats.org/officeDocument/2006/relationships/notesMaster" Target="/ppt/notesMasters/notesMaster1.xml" Id="R387ab63b7b2249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intended case-creation architecture. Raw AIF evidence may arrive as a flat file, through an AIF integration or as another supplied export. Code-led ingestion captures metadata and starts the workflow. Code stores the original raw log and metadata unchanged. The Extraction agent turns the supplied detail into structured information. The Error Analysis agent identifies root-cause hypotheses and the supporting evidence needed for a person to investigate. The Summary agent makes this readable, cites the raw source for validation and adds relevant historical cases from the case log board. Code creates a routed case and provides an API export for other authorised systems. Human led Review cross-references the raw evidence, validates the case in SAP, confirms the root cause and records meaningful comments. Those reviewed records populate the case log board for later summaries.</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explains every handoff. The input can be a flat file, an AIF integration or another supplied export. Code-led ingestion stores the raw evidence and metadata. The Extraction agent turns the raw content into structured detail. The Error Analysis agent prepares a root-cause hypothesis and evidence for investigation. The Summary agent cites raw evidence and adds relevant reviewed historical cases. Code creates and routes the case, and makes it exportable through the API. Human led Review validates the case in SAP, confirms the root cause and records meaningful comments and outcome. Humans in the loop control which reviewed cases become available to the Summary agent later.</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turns an uploaded AIF evidence package into a factual exception case. The case shows what the supplied evidence reports, source and target context, affected items, reported outcome and gaps, with source references back to the original. Human led Review remains responsible for investigation in SAP, a correction where needed and the resulting record. The saved case can be read through the portal or authorised, versioned JSON API. The product does not connect to SAP, diagnose root cause, recommend a fix or execute SAP work. The current product uses synthetic AIF data, so real samples and human semantic acceptance are still needed before any production-quality or time-saving claim.</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customer-configured Joule agent could call the app API, read the saved case and original evidence, and check current information in the customer SAP system. It could then run a permitted SAP step or send the work to Human led Review. Humans in the loop approve or carry out actions where the customer workflow requires it. The reusable asset remains the CFIN app, case format, API and evaluation checks; SAP tools, permissions, approval rules and reviewed history are configured per customer. Customer data remains separate. Joule integration and SAP actions are future work, and app API read access grants no SAP write authority. The app has no SAP integration today.</a:t>
            </a:r>
          </a:p>
          <a:p xmlns:a="http://schemas.openxmlformats.org/drawingml/2006/main">
            <a:r>
              <a:t/>
            </a:r>
          </a:p>
          <a:p xmlns:a="http://schemas.openxmlformats.org/drawingml/2006/main">
            <a:r>
              <a:t>Sources: README.md case JSON API and Joule integration sections; BUILD.md. Official SAP example of agents using skills as tools, actions and destinations: https://developers.sap.com/tutorials/joulestudio-agent-create/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fictional multi-view AIF teaching example in README.md, now shown with its concrete values rather than only view descriptions. Data Messages identifies source document 1900000421, company 1000, fiscal year 2026, target CFIN-DEMO/100 and error attempt 1. Log Messages reports an account-maintenance error for G/L 0000410000 and company 2000, stopped posting, and no returned target document reference. Data Structure supplies the explicit link Items[1].target_gl_account. Data Content retains item 0001, source account 0000400000, attempted target 0000410000, company 2000 and GBP 1,250.00 debit. Error details preserves fictional MSGID Z_DEMO_CFIN, MSGNO 001 and MSGTY E. The example associates the account and company with message values but does not show the exact template or ordered MSGV1–MSGV4 slots, so these are not invented. AIF can include long text and message details, but none is invented for this example. The log describes what was reported for this attempt; it does not independently establish root cause, mapping correctness, a fix, current SAP state or a later outcome.</a:t>
            </a:r>
          </a:p>
          <a:p xmlns:a="http://schemas.openxmlformats.org/drawingml/2006/main">
            <a:r>
              <a:t/>
            </a:r>
          </a:p>
          <a:p xmlns:a="http://schemas.openxmlformats.org/drawingml/2006/main">
            <a:r>
              <a:t>Local source: README.md, Understanding the AIF log and How the views fit together: one fictional error. Official sources for AIF view concepts: https://help.sap.com/docs/ABAP_PLATFORM_NEW/4db1676c3f114f119b500bd80ccd944d/4ff5e0047b0a4351bd963640c680caec.html?version=latest ; https://help.sap.com/docs/SAP_APPLICATION_INTERFACE_FRAMEWORK/1cefaed5b7a3471cb08564e54d5ba866/2e733c049ad7445584ae7adbc7900c69.html ; https://help.sap.com/docs/ABAP_PLATFORM_NEW/4db1676c3f114f119b500bd80ccd944d/ed18d1cc52c447f78a2e26195f7cb450.html?locale=en-US&amp;state=PRODUCTION&amp;version=202110.002 ; https://help.sap.com/docs/ABAP_PLATFORM_NEW/4db1676c3f114f119b500bd80ccd944d/73ac69e929734790ab6c554c30f14e0f.html?locale=en-US&amp;state=PRODUCTION&amp;version=202310.002 ; https://help.sap.com/docs/SAP_NETWEAVER_750/addb96cd90c945dfb3182865363bbc47/4e2106b735d44180e10000000a15822b.html?locale=en-US&amp;state=PRODUCTION&amp;version=7.5.27 . Sources span releases and were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17-line MD-01 synthetic development log from fixtures/MD-01/agent-visible/original-log.txt. No source lines have been omitted. It is a fictional application log, not a verified SAP AIF export. It is separate from the preceding teaching case. It contains the attempt and timestamp, source and target identifiers, source posting state, chart, both accounting lines and amounts, the reported lookup error, requested company and target line, stopped posting, and the explicit limit to this attempt. The original is preserved unchanged in the application. Missing SAP release semantics, real message class/number, template, long text or mapping evidence must not be inferred from this fixture. Human led Review can inspect this original when checking the summary. Humans in the loop record later investigation and outcomes separately.</a:t>
            </a:r>
          </a:p>
          <a:p xmlns:a="http://schemas.openxmlformats.org/drawingml/2006/main">
            <a:r>
              <a:t/>
            </a:r>
          </a:p>
          <a:p xmlns:a="http://schemas.openxmlformats.org/drawingml/2006/main">
            <a:r>
              <a:t>Source: fixtures/MD-01/agent-visible/original-log.txt, complete content,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d3d853e9a340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384212cfc14fc2" /><Relationship Type="http://schemas.openxmlformats.org/officeDocument/2006/relationships/slideLayout" Target="/ppt/slideLayouts/slideLayout1.xml" Id="R8874e8ae6ec64f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74e8ae6ec64f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beef6e86b84a5f" /><Relationship Type="http://schemas.openxmlformats.org/officeDocument/2006/relationships/notesSlide" Target="/ppt/notesSlides/notesSlide1.xml" Id="Ra3da4183114548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aea1cf0c354e7a" /><Relationship Type="http://schemas.openxmlformats.org/officeDocument/2006/relationships/notesSlide" Target="/ppt/notesSlides/notesSlide2.xml" Id="R17f3b18965ba45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163ea18416453a" /><Relationship Type="http://schemas.openxmlformats.org/officeDocument/2006/relationships/notesSlide" Target="/ppt/notesSlides/notesSlide3.xml" Id="R543a5590acef4b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6090f2e31648af" /><Relationship Type="http://schemas.openxmlformats.org/officeDocument/2006/relationships/notesSlide" Target="/ppt/notesSlides/notesSlide4.xml" Id="R786478ad90c84c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aadc10e5dd4cd2" /><Relationship Type="http://schemas.openxmlformats.org/officeDocument/2006/relationships/notesSlide" Target="/ppt/notesSlides/notesSlide5.xml" Id="R56876673d46e40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dabffde1074a52" /><Relationship Type="http://schemas.openxmlformats.org/officeDocument/2006/relationships/notesSlide" Target="/ppt/notesSlides/notesSlide6.xml" Id="R35f62f39cebc42be" /></Relationships>
</file>

<file path=ppt/slides/slide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47" name="title">
            <a:extLst xmlns:a="http://schemas.openxmlformats.org/drawingml/2006/main">
              <a:ext uri="{FF2B5EF4-FFF2-40B4-BE49-F238E27FC236}">
                <a16:creationId xmlns:a16="http://schemas.microsoft.com/office/drawing/2014/main" id="{D929F096-801B-413C-8207-976327A632D2}"/>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CFIN case-creation architecture</a:t>
            </a:r>
          </a:p>
        </p:txBody>
      </p:sp>
      <p:sp>
        <p:nvSpPr>
          <p:cNvPr id="2" name="subtitle">
            <a:extLst xmlns:a="http://schemas.openxmlformats.org/drawingml/2006/main">
              <a:ext uri="{FF2B5EF4-FFF2-40B4-BE49-F238E27FC236}">
                <a16:creationId xmlns:a16="http://schemas.microsoft.com/office/drawing/2014/main" id="{DCF2D023-D6B4-4B07-A7EC-ECA1E048946D}"/>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Raw AIF evidence becomes a routed case. Human led Review validates the root cause in SAP and creates the history used in later summaries.</a:t>
            </a:r>
          </a:p>
        </p:txBody>
      </p:sp>
      <p:sp>
        <p:nvSpPr>
          <p:cNvPr id="3" name="raw-aif-input">
            <a:extLst xmlns:a="http://schemas.openxmlformats.org/drawingml/2006/main">
              <a:ext uri="{FF2B5EF4-FFF2-40B4-BE49-F238E27FC236}">
                <a16:creationId xmlns:a16="http://schemas.microsoft.com/office/drawing/2014/main" id="{4F38EBFC-BAD0-4079-8E22-22E29563843F}"/>
              </a:ext>
            </a:extLst>
          </p:cNvPr>
          <p:cNvSpPr>
            <a:spLocks xmlns:a="http://schemas.openxmlformats.org/drawingml/2006/main" noGrp="1"/>
          </p:cNvSpPr>
          <p:nvPr/>
        </p:nvSpPr>
        <p:spPr>
          <a:xfrm xmlns:a="http://schemas.openxmlformats.org/drawingml/2006/main">
            <a:off x="533400" y="2190750"/>
            <a:ext cx="2857500" cy="1524000"/>
          </a:xfrm>
          <a:prstGeom xmlns:a="http://schemas.openxmlformats.org/drawingml/2006/main" prst="roundRect">
            <a:avLst>
              <a:gd name="adj" fmla="val 7500"/>
            </a:avLst>
          </a:prstGeom>
          <a:solidFill xmlns:a="http://schemas.openxmlformats.org/drawingml/2006/main">
            <a:srgbClr val="E3EEFA"/>
          </a:solidFill>
          <a:ln xmlns:a="http://schemas.openxmlformats.org/drawingml/2006/main" w="0">
            <a:noFill/>
          </a:ln>
        </p:spPr>
      </p:sp>
      <p:sp>
        <p:nvSpPr>
          <p:cNvPr id="4" name="raw-aif-input-title">
            <a:extLst xmlns:a="http://schemas.openxmlformats.org/drawingml/2006/main">
              <a:ext uri="{FF2B5EF4-FFF2-40B4-BE49-F238E27FC236}">
                <a16:creationId xmlns:a16="http://schemas.microsoft.com/office/drawing/2014/main" id="{314BEB4A-C699-4F54-A12D-0D5D02F1E25D}"/>
              </a:ext>
            </a:extLst>
          </p:cNvPr>
          <p:cNvSpPr>
            <a:spLocks xmlns:a="http://schemas.openxmlformats.org/drawingml/2006/main" noGrp="1"/>
          </p:cNvSpPr>
          <p:nvPr/>
        </p:nvSpPr>
        <p:spPr>
          <a:xfrm xmlns:a="http://schemas.openxmlformats.org/drawingml/2006/main">
            <a:off x="762000" y="2381250"/>
            <a:ext cx="2400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Raw AIF log</a:t>
            </a:r>
          </a:p>
        </p:txBody>
      </p:sp>
      <p:sp>
        <p:nvSpPr>
          <p:cNvPr id="5" name="raw-aif-input-owner">
            <a:extLst xmlns:a="http://schemas.openxmlformats.org/drawingml/2006/main">
              <a:ext uri="{FF2B5EF4-FFF2-40B4-BE49-F238E27FC236}">
                <a16:creationId xmlns:a16="http://schemas.microsoft.com/office/drawing/2014/main" id="{A649ECE9-30D0-4037-8EB5-A3933B65F539}"/>
              </a:ext>
            </a:extLst>
          </p:cNvPr>
          <p:cNvSpPr>
            <a:spLocks xmlns:a="http://schemas.openxmlformats.org/drawingml/2006/main" noGrp="1"/>
          </p:cNvSpPr>
          <p:nvPr/>
        </p:nvSpPr>
        <p:spPr>
          <a:xfrm xmlns:a="http://schemas.openxmlformats.org/drawingml/2006/main">
            <a:off x="762000" y="2809875"/>
            <a:ext cx="240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Input data</a:t>
            </a:r>
          </a:p>
        </p:txBody>
      </p:sp>
      <p:sp>
        <p:nvSpPr>
          <p:cNvPr id="6" name="raw-aif-input-detail">
            <a:extLst xmlns:a="http://schemas.openxmlformats.org/drawingml/2006/main">
              <a:ext uri="{FF2B5EF4-FFF2-40B4-BE49-F238E27FC236}">
                <a16:creationId xmlns:a16="http://schemas.microsoft.com/office/drawing/2014/main" id="{725B208F-C5EE-4BA3-A150-FD04CAE5F134}"/>
              </a:ext>
            </a:extLst>
          </p:cNvPr>
          <p:cNvSpPr>
            <a:spLocks xmlns:a="http://schemas.openxmlformats.org/drawingml/2006/main" noGrp="1"/>
          </p:cNvSpPr>
          <p:nvPr/>
        </p:nvSpPr>
        <p:spPr>
          <a:xfrm xmlns:a="http://schemas.openxmlformats.org/drawingml/2006/main">
            <a:off x="762000" y="3143250"/>
            <a:ext cx="2400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Flat file, AIF integration</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or supplied export</a:t>
            </a:r>
          </a:p>
        </p:txBody>
      </p:sp>
      <p:sp>
        <p:nvSpPr>
          <p:cNvPr id="7" name="ingestion-code">
            <a:extLst xmlns:a="http://schemas.openxmlformats.org/drawingml/2006/main">
              <a:ext uri="{FF2B5EF4-FFF2-40B4-BE49-F238E27FC236}">
                <a16:creationId xmlns:a16="http://schemas.microsoft.com/office/drawing/2014/main" id="{528D9D58-1188-48BC-ADB4-26D056D3360A}"/>
              </a:ext>
            </a:extLst>
          </p:cNvPr>
          <p:cNvSpPr>
            <a:spLocks xmlns:a="http://schemas.openxmlformats.org/drawingml/2006/main" noGrp="1"/>
          </p:cNvSpPr>
          <p:nvPr/>
        </p:nvSpPr>
        <p:spPr>
          <a:xfrm xmlns:a="http://schemas.openxmlformats.org/drawingml/2006/main">
            <a:off x="533400" y="4191000"/>
            <a:ext cx="2857500" cy="1676400"/>
          </a:xfrm>
          <a:prstGeom xmlns:a="http://schemas.openxmlformats.org/drawingml/2006/main" prst="roundRect">
            <a:avLst>
              <a:gd name="adj" fmla="val 6818"/>
            </a:avLst>
          </a:prstGeom>
          <a:solidFill xmlns:a="http://schemas.openxmlformats.org/drawingml/2006/main">
            <a:srgbClr val="E3EEFA"/>
          </a:solidFill>
          <a:ln xmlns:a="http://schemas.openxmlformats.org/drawingml/2006/main" w="0">
            <a:noFill/>
          </a:ln>
        </p:spPr>
      </p:sp>
      <p:sp>
        <p:nvSpPr>
          <p:cNvPr id="8" name="ingestion-title">
            <a:extLst xmlns:a="http://schemas.openxmlformats.org/drawingml/2006/main">
              <a:ext uri="{FF2B5EF4-FFF2-40B4-BE49-F238E27FC236}">
                <a16:creationId xmlns:a16="http://schemas.microsoft.com/office/drawing/2014/main" id="{E7E66A11-A774-463B-A118-A22C2D9CFCBB}"/>
              </a:ext>
            </a:extLst>
          </p:cNvPr>
          <p:cNvSpPr>
            <a:spLocks xmlns:a="http://schemas.openxmlformats.org/drawingml/2006/main" noGrp="1"/>
          </p:cNvSpPr>
          <p:nvPr/>
        </p:nvSpPr>
        <p:spPr>
          <a:xfrm xmlns:a="http://schemas.openxmlformats.org/drawingml/2006/main">
            <a:off x="762000" y="4381500"/>
            <a:ext cx="2400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Ingestion</a:t>
            </a:r>
          </a:p>
        </p:txBody>
      </p:sp>
      <p:sp>
        <p:nvSpPr>
          <p:cNvPr id="9" name="ingestion-owner">
            <a:extLst xmlns:a="http://schemas.openxmlformats.org/drawingml/2006/main">
              <a:ext uri="{FF2B5EF4-FFF2-40B4-BE49-F238E27FC236}">
                <a16:creationId xmlns:a16="http://schemas.microsoft.com/office/drawing/2014/main" id="{24B422B5-ADAE-4CE0-9794-6C0F1FE64A78}"/>
              </a:ext>
            </a:extLst>
          </p:cNvPr>
          <p:cNvSpPr>
            <a:spLocks xmlns:a="http://schemas.openxmlformats.org/drawingml/2006/main" noGrp="1"/>
          </p:cNvSpPr>
          <p:nvPr/>
        </p:nvSpPr>
        <p:spPr>
          <a:xfrm xmlns:a="http://schemas.openxmlformats.org/drawingml/2006/main">
            <a:off x="762000" y="4810125"/>
            <a:ext cx="2400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Code led</a:t>
            </a:r>
          </a:p>
        </p:txBody>
      </p:sp>
      <p:sp>
        <p:nvSpPr>
          <p:cNvPr id="10" name="ingestion-detail">
            <a:extLst xmlns:a="http://schemas.openxmlformats.org/drawingml/2006/main">
              <a:ext uri="{FF2B5EF4-FFF2-40B4-BE49-F238E27FC236}">
                <a16:creationId xmlns:a16="http://schemas.microsoft.com/office/drawing/2014/main" id="{33349670-403B-4016-B3CB-77B8FFE57198}"/>
              </a:ext>
            </a:extLst>
          </p:cNvPr>
          <p:cNvSpPr>
            <a:spLocks xmlns:a="http://schemas.openxmlformats.org/drawingml/2006/main" noGrp="1"/>
          </p:cNvSpPr>
          <p:nvPr/>
        </p:nvSpPr>
        <p:spPr>
          <a:xfrm xmlns:a="http://schemas.openxmlformats.org/drawingml/2006/main">
            <a:off x="762000" y="5143500"/>
            <a:ext cx="2400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15304C"/>
                </a:solidFill>
                <a:latin typeface="Helvetica Neue"/>
                <a:ea typeface="Helvetica Neue"/>
                <a:cs typeface="Helvetica Neue"/>
              </a:defRPr>
            </a:pPr>
            <a:r>
              <a:rPr sz="1500" b="0">
                <a:solidFill>
                  <a:srgbClr val="15304C"/>
                </a:solidFill>
                <a:latin typeface="Helvetica Neue"/>
                <a:ea typeface="Helvetica Neue"/>
                <a:cs typeface="Helvetica Neue"/>
              </a:rPr>
              <a:t>Accept the log, capture metadata</a:t>
            </a:r>
          </a:p>
          <a:p xmlns:a="http://schemas.openxmlformats.org/drawingml/2006/main">
            <a:pPr algn="l">
              <a:defRPr sz="1500" b="0">
                <a:solidFill>
                  <a:srgbClr val="15304C"/>
                </a:solidFill>
                <a:latin typeface="Helvetica Neue"/>
                <a:ea typeface="Helvetica Neue"/>
                <a:cs typeface="Helvetica Neue"/>
              </a:defRPr>
            </a:pPr>
            <a:r>
              <a:rPr sz="1500" b="0">
                <a:solidFill>
                  <a:srgbClr val="15304C"/>
                </a:solidFill>
                <a:latin typeface="Helvetica Neue"/>
                <a:ea typeface="Helvetica Neue"/>
                <a:cs typeface="Helvetica Neue"/>
              </a:rPr>
              <a:t>and start the workflow</a:t>
            </a:r>
          </a:p>
        </p:txBody>
      </p:sp>
      <p:sp>
        <p:nvSpPr>
          <p:cNvPr id="11" name="raw-log-store">
            <a:extLst xmlns:a="http://schemas.openxmlformats.org/drawingml/2006/main">
              <a:ext uri="{FF2B5EF4-FFF2-40B4-BE49-F238E27FC236}">
                <a16:creationId xmlns:a16="http://schemas.microsoft.com/office/drawing/2014/main" id="{09A35B48-65DA-489B-818D-7FA39991B8E0}"/>
              </a:ext>
            </a:extLst>
          </p:cNvPr>
          <p:cNvSpPr>
            <a:spLocks xmlns:a="http://schemas.openxmlformats.org/drawingml/2006/main" noGrp="1"/>
          </p:cNvSpPr>
          <p:nvPr/>
        </p:nvSpPr>
        <p:spPr>
          <a:xfrm xmlns:a="http://schemas.openxmlformats.org/drawingml/2006/main">
            <a:off x="533400" y="6381750"/>
            <a:ext cx="2857500" cy="1238250"/>
          </a:xfrm>
          <a:prstGeom xmlns:a="http://schemas.openxmlformats.org/drawingml/2006/main" prst="roundRect">
            <a:avLst>
              <a:gd name="adj" fmla="val 9231"/>
            </a:avLst>
          </a:prstGeom>
          <a:solidFill xmlns:a="http://schemas.openxmlformats.org/drawingml/2006/main">
            <a:srgbClr val="E3EEFA"/>
          </a:solidFill>
          <a:ln xmlns:a="http://schemas.openxmlformats.org/drawingml/2006/main" w="0">
            <a:noFill/>
          </a:ln>
        </p:spPr>
      </p:sp>
      <p:sp>
        <p:nvSpPr>
          <p:cNvPr id="12" name="raw-store-title">
            <a:extLst xmlns:a="http://schemas.openxmlformats.org/drawingml/2006/main">
              <a:ext uri="{FF2B5EF4-FFF2-40B4-BE49-F238E27FC236}">
                <a16:creationId xmlns:a16="http://schemas.microsoft.com/office/drawing/2014/main" id="{32A364BE-E953-4F0C-9107-DCAAE31E1159}"/>
              </a:ext>
            </a:extLst>
          </p:cNvPr>
          <p:cNvSpPr>
            <a:spLocks xmlns:a="http://schemas.openxmlformats.org/drawingml/2006/main" noGrp="1"/>
          </p:cNvSpPr>
          <p:nvPr/>
        </p:nvSpPr>
        <p:spPr>
          <a:xfrm xmlns:a="http://schemas.openxmlformats.org/drawingml/2006/main">
            <a:off x="762000" y="6562725"/>
            <a:ext cx="2400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Raw log storage</a:t>
            </a:r>
          </a:p>
        </p:txBody>
      </p:sp>
      <p:sp>
        <p:nvSpPr>
          <p:cNvPr id="13" name="raw-store-detail">
            <a:extLst xmlns:a="http://schemas.openxmlformats.org/drawingml/2006/main">
              <a:ext uri="{FF2B5EF4-FFF2-40B4-BE49-F238E27FC236}">
                <a16:creationId xmlns:a16="http://schemas.microsoft.com/office/drawing/2014/main" id="{1B52C5DC-1B18-4D3E-A20A-521961D6D833}"/>
              </a:ext>
            </a:extLst>
          </p:cNvPr>
          <p:cNvSpPr>
            <a:spLocks xmlns:a="http://schemas.openxmlformats.org/drawingml/2006/main" noGrp="1"/>
          </p:cNvSpPr>
          <p:nvPr/>
        </p:nvSpPr>
        <p:spPr>
          <a:xfrm xmlns:a="http://schemas.openxmlformats.org/drawingml/2006/main">
            <a:off x="762000" y="6991350"/>
            <a:ext cx="240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Original file and metadata</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kept unchanged</a:t>
            </a:r>
          </a:p>
        </p:txBody>
      </p:sp>
      <p:sp>
        <p:nvSpPr>
          <p:cNvPr id="14" name="agent-extraction">
            <a:extLst xmlns:a="http://schemas.openxmlformats.org/drawingml/2006/main">
              <a:ext uri="{FF2B5EF4-FFF2-40B4-BE49-F238E27FC236}">
                <a16:creationId xmlns:a16="http://schemas.microsoft.com/office/drawing/2014/main" id="{E82528D1-672C-4508-B536-873B954F2F84}"/>
              </a:ext>
            </a:extLst>
          </p:cNvPr>
          <p:cNvSpPr>
            <a:spLocks xmlns:a="http://schemas.openxmlformats.org/drawingml/2006/main" noGrp="1"/>
          </p:cNvSpPr>
          <p:nvPr/>
        </p:nvSpPr>
        <p:spPr>
          <a:xfrm xmlns:a="http://schemas.openxmlformats.org/drawingml/2006/main">
            <a:off x="4191000" y="2533650"/>
            <a:ext cx="3143250" cy="1714500"/>
          </a:xfrm>
          <a:prstGeom xmlns:a="http://schemas.openxmlformats.org/drawingml/2006/main" prst="roundRect">
            <a:avLst>
              <a:gd name="adj" fmla="val 6667"/>
            </a:avLst>
          </a:prstGeom>
          <a:solidFill xmlns:a="http://schemas.openxmlformats.org/drawingml/2006/main">
            <a:srgbClr val="EEE8FA"/>
          </a:solidFill>
          <a:ln xmlns:a="http://schemas.openxmlformats.org/drawingml/2006/main" w="0">
            <a:noFill/>
          </a:ln>
        </p:spPr>
      </p:sp>
      <p:sp>
        <p:nvSpPr>
          <p:cNvPr id="15" name="extraction-title">
            <a:extLst xmlns:a="http://schemas.openxmlformats.org/drawingml/2006/main">
              <a:ext uri="{FF2B5EF4-FFF2-40B4-BE49-F238E27FC236}">
                <a16:creationId xmlns:a16="http://schemas.microsoft.com/office/drawing/2014/main" id="{62B936AC-9407-44CE-9ECC-675986A45729}"/>
              </a:ext>
            </a:extLst>
          </p:cNvPr>
          <p:cNvSpPr>
            <a:spLocks xmlns:a="http://schemas.openxmlformats.org/drawingml/2006/main" noGrp="1"/>
          </p:cNvSpPr>
          <p:nvPr/>
        </p:nvSpPr>
        <p:spPr>
          <a:xfrm xmlns:a="http://schemas.openxmlformats.org/drawingml/2006/main">
            <a:off x="4419600" y="273367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75" b="1">
                <a:solidFill>
                  <a:srgbClr val="654D94"/>
                </a:solidFill>
                <a:latin typeface="Helvetica Neue"/>
                <a:ea typeface="Helvetica Neue"/>
                <a:cs typeface="Helvetica Neue"/>
              </a:defRPr>
            </a:pPr>
            <a:r>
              <a:rPr sz="2175" b="1">
                <a:solidFill>
                  <a:srgbClr val="654D94"/>
                </a:solidFill>
                <a:latin typeface="Helvetica Neue"/>
                <a:ea typeface="Helvetica Neue"/>
                <a:cs typeface="Helvetica Neue"/>
              </a:rPr>
              <a:t>Extraction</a:t>
            </a:r>
          </a:p>
        </p:txBody>
      </p:sp>
      <p:sp>
        <p:nvSpPr>
          <p:cNvPr id="16" name="extraction-owner">
            <a:extLst xmlns:a="http://schemas.openxmlformats.org/drawingml/2006/main">
              <a:ext uri="{FF2B5EF4-FFF2-40B4-BE49-F238E27FC236}">
                <a16:creationId xmlns:a16="http://schemas.microsoft.com/office/drawing/2014/main" id="{670619D1-B257-4E8F-9277-D15E2C7352F7}"/>
              </a:ext>
            </a:extLst>
          </p:cNvPr>
          <p:cNvSpPr>
            <a:spLocks xmlns:a="http://schemas.openxmlformats.org/drawingml/2006/main" noGrp="1"/>
          </p:cNvSpPr>
          <p:nvPr/>
        </p:nvSpPr>
        <p:spPr>
          <a:xfrm xmlns:a="http://schemas.openxmlformats.org/drawingml/2006/main">
            <a:off x="4419600" y="3162300"/>
            <a:ext cx="2686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Agent led</a:t>
            </a:r>
          </a:p>
        </p:txBody>
      </p:sp>
      <p:sp>
        <p:nvSpPr>
          <p:cNvPr id="17" name="extraction-detail">
            <a:extLst xmlns:a="http://schemas.openxmlformats.org/drawingml/2006/main">
              <a:ext uri="{FF2B5EF4-FFF2-40B4-BE49-F238E27FC236}">
                <a16:creationId xmlns:a16="http://schemas.microsoft.com/office/drawing/2014/main" id="{7477DC69-FACD-488E-8E34-7F1DBDB0A59F}"/>
              </a:ext>
            </a:extLst>
          </p:cNvPr>
          <p:cNvSpPr>
            <a:spLocks xmlns:a="http://schemas.openxmlformats.org/drawingml/2006/main" noGrp="1"/>
          </p:cNvSpPr>
          <p:nvPr/>
        </p:nvSpPr>
        <p:spPr>
          <a:xfrm xmlns:a="http://schemas.openxmlformats.org/drawingml/2006/main">
            <a:off x="4419600" y="3524250"/>
            <a:ext cx="2686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Extract every supplied detail</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structure it for the next agent</a:t>
            </a:r>
          </a:p>
        </p:txBody>
      </p:sp>
      <p:sp>
        <p:nvSpPr>
          <p:cNvPr id="18" name="agent-error-analysis">
            <a:extLst xmlns:a="http://schemas.openxmlformats.org/drawingml/2006/main">
              <a:ext uri="{FF2B5EF4-FFF2-40B4-BE49-F238E27FC236}">
                <a16:creationId xmlns:a16="http://schemas.microsoft.com/office/drawing/2014/main" id="{9E93CFDF-1637-4C78-B10C-181BBA589A4F}"/>
              </a:ext>
            </a:extLst>
          </p:cNvPr>
          <p:cNvSpPr>
            <a:spLocks xmlns:a="http://schemas.openxmlformats.org/drawingml/2006/main" noGrp="1"/>
          </p:cNvSpPr>
          <p:nvPr/>
        </p:nvSpPr>
        <p:spPr>
          <a:xfrm xmlns:a="http://schemas.openxmlformats.org/drawingml/2006/main">
            <a:off x="4191000" y="5143500"/>
            <a:ext cx="3143250" cy="1866900"/>
          </a:xfrm>
          <a:prstGeom xmlns:a="http://schemas.openxmlformats.org/drawingml/2006/main" prst="roundRect">
            <a:avLst>
              <a:gd name="adj" fmla="val 6122"/>
            </a:avLst>
          </a:prstGeom>
          <a:solidFill xmlns:a="http://schemas.openxmlformats.org/drawingml/2006/main">
            <a:srgbClr val="EEE8FA"/>
          </a:solidFill>
          <a:ln xmlns:a="http://schemas.openxmlformats.org/drawingml/2006/main" w="0">
            <a:noFill/>
          </a:ln>
        </p:spPr>
      </p:sp>
      <p:sp>
        <p:nvSpPr>
          <p:cNvPr id="19" name="analysis-title">
            <a:extLst xmlns:a="http://schemas.openxmlformats.org/drawingml/2006/main">
              <a:ext uri="{FF2B5EF4-FFF2-40B4-BE49-F238E27FC236}">
                <a16:creationId xmlns:a16="http://schemas.microsoft.com/office/drawing/2014/main" id="{01E2CF6B-2C36-4681-A32F-C0FFCCBFDD47}"/>
              </a:ext>
            </a:extLst>
          </p:cNvPr>
          <p:cNvSpPr>
            <a:spLocks xmlns:a="http://schemas.openxmlformats.org/drawingml/2006/main" noGrp="1"/>
          </p:cNvSpPr>
          <p:nvPr/>
        </p:nvSpPr>
        <p:spPr>
          <a:xfrm xmlns:a="http://schemas.openxmlformats.org/drawingml/2006/main">
            <a:off x="4419600" y="534352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75" b="1">
                <a:solidFill>
                  <a:srgbClr val="654D94"/>
                </a:solidFill>
                <a:latin typeface="Helvetica Neue"/>
                <a:ea typeface="Helvetica Neue"/>
                <a:cs typeface="Helvetica Neue"/>
              </a:defRPr>
            </a:pPr>
            <a:r>
              <a:rPr sz="2175" b="1">
                <a:solidFill>
                  <a:srgbClr val="654D94"/>
                </a:solidFill>
                <a:latin typeface="Helvetica Neue"/>
                <a:ea typeface="Helvetica Neue"/>
                <a:cs typeface="Helvetica Neue"/>
              </a:rPr>
              <a:t>Error Analysis</a:t>
            </a:r>
          </a:p>
        </p:txBody>
      </p:sp>
      <p:sp>
        <p:nvSpPr>
          <p:cNvPr id="20" name="analysis-owner">
            <a:extLst xmlns:a="http://schemas.openxmlformats.org/drawingml/2006/main">
              <a:ext uri="{FF2B5EF4-FFF2-40B4-BE49-F238E27FC236}">
                <a16:creationId xmlns:a16="http://schemas.microsoft.com/office/drawing/2014/main" id="{697DB25E-13B4-4FEE-8B8C-2F0A15440290}"/>
              </a:ext>
            </a:extLst>
          </p:cNvPr>
          <p:cNvSpPr>
            <a:spLocks xmlns:a="http://schemas.openxmlformats.org/drawingml/2006/main" noGrp="1"/>
          </p:cNvSpPr>
          <p:nvPr/>
        </p:nvSpPr>
        <p:spPr>
          <a:xfrm xmlns:a="http://schemas.openxmlformats.org/drawingml/2006/main">
            <a:off x="4419600" y="5772150"/>
            <a:ext cx="2686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Agent led</a:t>
            </a:r>
          </a:p>
        </p:txBody>
      </p:sp>
      <p:sp>
        <p:nvSpPr>
          <p:cNvPr id="21" name="analysis-detail">
            <a:extLst xmlns:a="http://schemas.openxmlformats.org/drawingml/2006/main">
              <a:ext uri="{FF2B5EF4-FFF2-40B4-BE49-F238E27FC236}">
                <a16:creationId xmlns:a16="http://schemas.microsoft.com/office/drawing/2014/main" id="{5BA879B6-2F48-4DAA-8F65-C63ABFD06B9E}"/>
              </a:ext>
            </a:extLst>
          </p:cNvPr>
          <p:cNvSpPr>
            <a:spLocks xmlns:a="http://schemas.openxmlformats.org/drawingml/2006/main" noGrp="1"/>
          </p:cNvSpPr>
          <p:nvPr/>
        </p:nvSpPr>
        <p:spPr>
          <a:xfrm xmlns:a="http://schemas.openxmlformats.org/drawingml/2006/main">
            <a:off x="4419600" y="6124575"/>
            <a:ext cx="2686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Identify likely cause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supporting evidence for</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Human led Review</a:t>
            </a:r>
          </a:p>
        </p:txBody>
      </p:sp>
      <p:sp>
        <p:nvSpPr>
          <p:cNvPr id="22" name="agent-summary">
            <a:extLst xmlns:a="http://schemas.openxmlformats.org/drawingml/2006/main">
              <a:ext uri="{FF2B5EF4-FFF2-40B4-BE49-F238E27FC236}">
                <a16:creationId xmlns:a16="http://schemas.microsoft.com/office/drawing/2014/main" id="{ED3D3737-C8CB-41B1-A3CC-13545634ADEF}"/>
              </a:ext>
            </a:extLst>
          </p:cNvPr>
          <p:cNvSpPr>
            <a:spLocks xmlns:a="http://schemas.openxmlformats.org/drawingml/2006/main" noGrp="1"/>
          </p:cNvSpPr>
          <p:nvPr/>
        </p:nvSpPr>
        <p:spPr>
          <a:xfrm xmlns:a="http://schemas.openxmlformats.org/drawingml/2006/main">
            <a:off x="8096250" y="2457450"/>
            <a:ext cx="3143250" cy="1809750"/>
          </a:xfrm>
          <a:prstGeom xmlns:a="http://schemas.openxmlformats.org/drawingml/2006/main" prst="roundRect">
            <a:avLst>
              <a:gd name="adj" fmla="val 6316"/>
            </a:avLst>
          </a:prstGeom>
          <a:solidFill xmlns:a="http://schemas.openxmlformats.org/drawingml/2006/main">
            <a:srgbClr val="EEE8FA"/>
          </a:solidFill>
          <a:ln xmlns:a="http://schemas.openxmlformats.org/drawingml/2006/main" w="0">
            <a:noFill/>
          </a:ln>
        </p:spPr>
      </p:sp>
      <p:sp>
        <p:nvSpPr>
          <p:cNvPr id="23" name="summary-title">
            <a:extLst xmlns:a="http://schemas.openxmlformats.org/drawingml/2006/main">
              <a:ext uri="{FF2B5EF4-FFF2-40B4-BE49-F238E27FC236}">
                <a16:creationId xmlns:a16="http://schemas.microsoft.com/office/drawing/2014/main" id="{5F9D8323-EEF8-4097-AC11-B141BB0B5232}"/>
              </a:ext>
            </a:extLst>
          </p:cNvPr>
          <p:cNvSpPr>
            <a:spLocks xmlns:a="http://schemas.openxmlformats.org/drawingml/2006/main" noGrp="1"/>
          </p:cNvSpPr>
          <p:nvPr/>
        </p:nvSpPr>
        <p:spPr>
          <a:xfrm xmlns:a="http://schemas.openxmlformats.org/drawingml/2006/main">
            <a:off x="8324850" y="265747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75" b="1">
                <a:solidFill>
                  <a:srgbClr val="654D94"/>
                </a:solidFill>
                <a:latin typeface="Helvetica Neue"/>
                <a:ea typeface="Helvetica Neue"/>
                <a:cs typeface="Helvetica Neue"/>
              </a:defRPr>
            </a:pPr>
            <a:r>
              <a:rPr sz="2175" b="1">
                <a:solidFill>
                  <a:srgbClr val="654D94"/>
                </a:solidFill>
                <a:latin typeface="Helvetica Neue"/>
                <a:ea typeface="Helvetica Neue"/>
                <a:cs typeface="Helvetica Neue"/>
              </a:rPr>
              <a:t>Summary</a:t>
            </a:r>
          </a:p>
        </p:txBody>
      </p:sp>
      <p:sp>
        <p:nvSpPr>
          <p:cNvPr id="24" name="summary-owner">
            <a:extLst xmlns:a="http://schemas.openxmlformats.org/drawingml/2006/main">
              <a:ext uri="{FF2B5EF4-FFF2-40B4-BE49-F238E27FC236}">
                <a16:creationId xmlns:a16="http://schemas.microsoft.com/office/drawing/2014/main" id="{5DE0AA05-C36F-4270-9325-0519436AD4C1}"/>
              </a:ext>
            </a:extLst>
          </p:cNvPr>
          <p:cNvSpPr>
            <a:spLocks xmlns:a="http://schemas.openxmlformats.org/drawingml/2006/main" noGrp="1"/>
          </p:cNvSpPr>
          <p:nvPr/>
        </p:nvSpPr>
        <p:spPr>
          <a:xfrm xmlns:a="http://schemas.openxmlformats.org/drawingml/2006/main">
            <a:off x="8324850" y="3086100"/>
            <a:ext cx="2686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Agent led</a:t>
            </a:r>
          </a:p>
        </p:txBody>
      </p:sp>
      <p:sp>
        <p:nvSpPr>
          <p:cNvPr id="25" name="summary-detail">
            <a:extLst xmlns:a="http://schemas.openxmlformats.org/drawingml/2006/main">
              <a:ext uri="{FF2B5EF4-FFF2-40B4-BE49-F238E27FC236}">
                <a16:creationId xmlns:a16="http://schemas.microsoft.com/office/drawing/2014/main" id="{E74CE9D4-A8A3-44EF-8A5D-21FC2A81CE80}"/>
              </a:ext>
            </a:extLst>
          </p:cNvPr>
          <p:cNvSpPr>
            <a:spLocks xmlns:a="http://schemas.openxmlformats.org/drawingml/2006/main" noGrp="1"/>
          </p:cNvSpPr>
          <p:nvPr/>
        </p:nvSpPr>
        <p:spPr>
          <a:xfrm xmlns:a="http://schemas.openxmlformats.org/drawingml/2006/main">
            <a:off x="8324850" y="3438525"/>
            <a:ext cx="26860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Summarise the analysis, cite</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the raw log and add similar</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historical cases for reference</a:t>
            </a:r>
          </a:p>
        </p:txBody>
      </p:sp>
      <p:sp>
        <p:nvSpPr>
          <p:cNvPr id="26" name="case-creation">
            <a:extLst xmlns:a="http://schemas.openxmlformats.org/drawingml/2006/main">
              <a:ext uri="{FF2B5EF4-FFF2-40B4-BE49-F238E27FC236}">
                <a16:creationId xmlns:a16="http://schemas.microsoft.com/office/drawing/2014/main" id="{81FBE29D-E8AD-440A-9BE7-296289F77E3C}"/>
              </a:ext>
            </a:extLst>
          </p:cNvPr>
          <p:cNvSpPr>
            <a:spLocks xmlns:a="http://schemas.openxmlformats.org/drawingml/2006/main" noGrp="1"/>
          </p:cNvSpPr>
          <p:nvPr/>
        </p:nvSpPr>
        <p:spPr>
          <a:xfrm xmlns:a="http://schemas.openxmlformats.org/drawingml/2006/main">
            <a:off x="11791950" y="2457450"/>
            <a:ext cx="2914650" cy="1809750"/>
          </a:xfrm>
          <a:prstGeom xmlns:a="http://schemas.openxmlformats.org/drawingml/2006/main" prst="roundRect">
            <a:avLst>
              <a:gd name="adj" fmla="val 6316"/>
            </a:avLst>
          </a:prstGeom>
          <a:solidFill xmlns:a="http://schemas.openxmlformats.org/drawingml/2006/main">
            <a:srgbClr val="E3EEFA"/>
          </a:solidFill>
          <a:ln xmlns:a="http://schemas.openxmlformats.org/drawingml/2006/main" w="0">
            <a:noFill/>
          </a:ln>
        </p:spPr>
      </p:sp>
      <p:sp>
        <p:nvSpPr>
          <p:cNvPr id="27" name="case-creation-title">
            <a:extLst xmlns:a="http://schemas.openxmlformats.org/drawingml/2006/main">
              <a:ext uri="{FF2B5EF4-FFF2-40B4-BE49-F238E27FC236}">
                <a16:creationId xmlns:a16="http://schemas.microsoft.com/office/drawing/2014/main" id="{230DFB32-EEB2-48E0-8A76-81A131047D52}"/>
              </a:ext>
            </a:extLst>
          </p:cNvPr>
          <p:cNvSpPr>
            <a:spLocks xmlns:a="http://schemas.openxmlformats.org/drawingml/2006/main" noGrp="1"/>
          </p:cNvSpPr>
          <p:nvPr/>
        </p:nvSpPr>
        <p:spPr>
          <a:xfrm xmlns:a="http://schemas.openxmlformats.org/drawingml/2006/main">
            <a:off x="12020550" y="2657475"/>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Case creation + API</a:t>
            </a:r>
          </a:p>
        </p:txBody>
      </p:sp>
      <p:sp>
        <p:nvSpPr>
          <p:cNvPr id="28" name="case-creation-owner">
            <a:extLst xmlns:a="http://schemas.openxmlformats.org/drawingml/2006/main">
              <a:ext uri="{FF2B5EF4-FFF2-40B4-BE49-F238E27FC236}">
                <a16:creationId xmlns:a16="http://schemas.microsoft.com/office/drawing/2014/main" id="{C034A348-708A-4F7C-B551-CFA22A80CFA3}"/>
              </a:ext>
            </a:extLst>
          </p:cNvPr>
          <p:cNvSpPr>
            <a:spLocks xmlns:a="http://schemas.openxmlformats.org/drawingml/2006/main" noGrp="1"/>
          </p:cNvSpPr>
          <p:nvPr/>
        </p:nvSpPr>
        <p:spPr>
          <a:xfrm xmlns:a="http://schemas.openxmlformats.org/drawingml/2006/main">
            <a:off x="12020550" y="3086100"/>
            <a:ext cx="2457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Code led</a:t>
            </a:r>
          </a:p>
        </p:txBody>
      </p:sp>
      <p:sp>
        <p:nvSpPr>
          <p:cNvPr id="29" name="case-creation-detail">
            <a:extLst xmlns:a="http://schemas.openxmlformats.org/drawingml/2006/main">
              <a:ext uri="{FF2B5EF4-FFF2-40B4-BE49-F238E27FC236}">
                <a16:creationId xmlns:a16="http://schemas.microsoft.com/office/drawing/2014/main" id="{FC80BFE3-4B79-4D4F-92FA-B3D1C44A9756}"/>
              </a:ext>
            </a:extLst>
          </p:cNvPr>
          <p:cNvSpPr>
            <a:spLocks xmlns:a="http://schemas.openxmlformats.org/drawingml/2006/main" noGrp="1"/>
          </p:cNvSpPr>
          <p:nvPr/>
        </p:nvSpPr>
        <p:spPr>
          <a:xfrm xmlns:a="http://schemas.openxmlformats.org/drawingml/2006/main">
            <a:off x="12020550" y="3438525"/>
            <a:ext cx="2457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Create the case, route the owner</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expose it to other systems</a:t>
            </a:r>
          </a:p>
        </p:txBody>
      </p:sp>
      <p:sp>
        <p:nvSpPr>
          <p:cNvPr id="30" name="human-review">
            <a:extLst xmlns:a="http://schemas.openxmlformats.org/drawingml/2006/main">
              <a:ext uri="{FF2B5EF4-FFF2-40B4-BE49-F238E27FC236}">
                <a16:creationId xmlns:a16="http://schemas.microsoft.com/office/drawing/2014/main" id="{AC6BA46A-56AB-4C4A-BA92-56FC5CAF3C5B}"/>
              </a:ext>
            </a:extLst>
          </p:cNvPr>
          <p:cNvSpPr>
            <a:spLocks xmlns:a="http://schemas.openxmlformats.org/drawingml/2006/main" noGrp="1"/>
          </p:cNvSpPr>
          <p:nvPr/>
        </p:nvSpPr>
        <p:spPr>
          <a:xfrm xmlns:a="http://schemas.openxmlformats.org/drawingml/2006/main">
            <a:off x="11791950" y="4953000"/>
            <a:ext cx="2914650" cy="2057400"/>
          </a:xfrm>
          <a:prstGeom xmlns:a="http://schemas.openxmlformats.org/drawingml/2006/main" prst="roundRect">
            <a:avLst>
              <a:gd name="adj" fmla="val 5556"/>
            </a:avLst>
          </a:prstGeom>
          <a:solidFill xmlns:a="http://schemas.openxmlformats.org/drawingml/2006/main">
            <a:srgbClr val="FFF0D8"/>
          </a:solidFill>
          <a:ln xmlns:a="http://schemas.openxmlformats.org/drawingml/2006/main" w="0">
            <a:noFill/>
          </a:ln>
        </p:spPr>
      </p:sp>
      <p:sp>
        <p:nvSpPr>
          <p:cNvPr id="31" name="human-review-title">
            <a:extLst xmlns:a="http://schemas.openxmlformats.org/drawingml/2006/main">
              <a:ext uri="{FF2B5EF4-FFF2-40B4-BE49-F238E27FC236}">
                <a16:creationId xmlns:a16="http://schemas.microsoft.com/office/drawing/2014/main" id="{5D232DA7-FE1B-4077-9750-B117926CAD2B}"/>
              </a:ext>
            </a:extLst>
          </p:cNvPr>
          <p:cNvSpPr>
            <a:spLocks xmlns:a="http://schemas.openxmlformats.org/drawingml/2006/main" noGrp="1"/>
          </p:cNvSpPr>
          <p:nvPr/>
        </p:nvSpPr>
        <p:spPr>
          <a:xfrm xmlns:a="http://schemas.openxmlformats.org/drawingml/2006/main">
            <a:off x="12020550" y="5153025"/>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8A6025"/>
                </a:solidFill>
                <a:latin typeface="Helvetica Neue"/>
                <a:ea typeface="Helvetica Neue"/>
                <a:cs typeface="Helvetica Neue"/>
              </a:defRPr>
            </a:pPr>
            <a:r>
              <a:rPr sz="2025" b="1">
                <a:solidFill>
                  <a:srgbClr val="8A6025"/>
                </a:solidFill>
                <a:latin typeface="Helvetica Neue"/>
                <a:ea typeface="Helvetica Neue"/>
                <a:cs typeface="Helvetica Neue"/>
              </a:rPr>
              <a:t>Human led Review</a:t>
            </a:r>
          </a:p>
        </p:txBody>
      </p:sp>
      <p:sp>
        <p:nvSpPr>
          <p:cNvPr id="32" name="human-review-detail">
            <a:extLst xmlns:a="http://schemas.openxmlformats.org/drawingml/2006/main">
              <a:ext uri="{FF2B5EF4-FFF2-40B4-BE49-F238E27FC236}">
                <a16:creationId xmlns:a16="http://schemas.microsoft.com/office/drawing/2014/main" id="{6C870E95-4C9C-400E-B426-E806DF855099}"/>
              </a:ext>
            </a:extLst>
          </p:cNvPr>
          <p:cNvSpPr>
            <a:spLocks xmlns:a="http://schemas.openxmlformats.org/drawingml/2006/main" noGrp="1"/>
          </p:cNvSpPr>
          <p:nvPr/>
        </p:nvSpPr>
        <p:spPr>
          <a:xfrm xmlns:a="http://schemas.openxmlformats.org/drawingml/2006/main">
            <a:off x="12020550" y="5638800"/>
            <a:ext cx="2457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15304C"/>
                </a:solidFill>
                <a:latin typeface="Helvetica Neue"/>
                <a:ea typeface="Helvetica Neue"/>
                <a:cs typeface="Helvetica Neue"/>
              </a:defRPr>
            </a:pPr>
            <a:r>
              <a:rPr sz="1500" b="0">
                <a:solidFill>
                  <a:srgbClr val="15304C"/>
                </a:solidFill>
                <a:latin typeface="Helvetica Neue"/>
                <a:ea typeface="Helvetica Neue"/>
                <a:cs typeface="Helvetica Neue"/>
              </a:rPr>
              <a:t>Review the case and raw log</a:t>
            </a:r>
          </a:p>
          <a:p xmlns:a="http://schemas.openxmlformats.org/drawingml/2006/main">
            <a:pPr algn="l">
              <a:defRPr sz="1500" b="0">
                <a:solidFill>
                  <a:srgbClr val="15304C"/>
                </a:solidFill>
                <a:latin typeface="Helvetica Neue"/>
                <a:ea typeface="Helvetica Neue"/>
                <a:cs typeface="Helvetica Neue"/>
              </a:defRPr>
            </a:pPr>
            <a:r>
              <a:rPr sz="1500" b="0">
                <a:solidFill>
                  <a:srgbClr val="15304C"/>
                </a:solidFill>
                <a:latin typeface="Helvetica Neue"/>
                <a:ea typeface="Helvetica Neue"/>
                <a:cs typeface="Helvetica Neue"/>
              </a:rPr>
              <a:t>Validate in SAP and confirm</a:t>
            </a:r>
          </a:p>
          <a:p xmlns:a="http://schemas.openxmlformats.org/drawingml/2006/main">
            <a:pPr algn="l">
              <a:defRPr sz="1500" b="0">
                <a:solidFill>
                  <a:srgbClr val="15304C"/>
                </a:solidFill>
                <a:latin typeface="Helvetica Neue"/>
                <a:ea typeface="Helvetica Neue"/>
                <a:cs typeface="Helvetica Neue"/>
              </a:defRPr>
            </a:pPr>
            <a:r>
              <a:rPr sz="1500" b="0">
                <a:solidFill>
                  <a:srgbClr val="15304C"/>
                </a:solidFill>
                <a:latin typeface="Helvetica Neue"/>
                <a:ea typeface="Helvetica Neue"/>
                <a:cs typeface="Helvetica Neue"/>
              </a:rPr>
              <a:t>the root cause</a:t>
            </a:r>
          </a:p>
          <a:p xmlns:a="http://schemas.openxmlformats.org/drawingml/2006/main">
            <a:pPr algn="l">
              <a:defRPr sz="1500" b="0">
                <a:solidFill>
                  <a:srgbClr val="15304C"/>
                </a:solidFill>
                <a:latin typeface="Helvetica Neue"/>
                <a:ea typeface="Helvetica Neue"/>
                <a:cs typeface="Helvetica Neue"/>
              </a:defRPr>
            </a:pPr>
            <a:r>
              <a:rPr sz="1500" b="0">
                <a:solidFill>
                  <a:srgbClr val="15304C"/>
                </a:solidFill>
                <a:latin typeface="Helvetica Neue"/>
                <a:ea typeface="Helvetica Neue"/>
                <a:cs typeface="Helvetica Neue"/>
              </a:rPr>
              <a:t>Log meaningful comments</a:t>
            </a:r>
          </a:p>
        </p:txBody>
      </p:sp>
      <p:sp>
        <p:nvSpPr>
          <p:cNvPr id="33" name="case-log-board">
            <a:extLst xmlns:a="http://schemas.openxmlformats.org/drawingml/2006/main">
              <a:ext uri="{FF2B5EF4-FFF2-40B4-BE49-F238E27FC236}">
                <a16:creationId xmlns:a16="http://schemas.microsoft.com/office/drawing/2014/main" id="{8C72D926-1E4C-4CEB-AB85-EF7DA7FB1339}"/>
              </a:ext>
            </a:extLst>
          </p:cNvPr>
          <p:cNvSpPr>
            <a:spLocks xmlns:a="http://schemas.openxmlformats.org/drawingml/2006/main" noGrp="1"/>
          </p:cNvSpPr>
          <p:nvPr/>
        </p:nvSpPr>
        <p:spPr>
          <a:xfrm xmlns:a="http://schemas.openxmlformats.org/drawingml/2006/main">
            <a:off x="8096250" y="5391150"/>
            <a:ext cx="3143250" cy="1390650"/>
          </a:xfrm>
          <a:prstGeom xmlns:a="http://schemas.openxmlformats.org/drawingml/2006/main" prst="roundRect">
            <a:avLst>
              <a:gd name="adj" fmla="val 8219"/>
            </a:avLst>
          </a:prstGeom>
          <a:solidFill xmlns:a="http://schemas.openxmlformats.org/drawingml/2006/main">
            <a:srgbClr val="E0F1ED"/>
          </a:solidFill>
          <a:ln xmlns:a="http://schemas.openxmlformats.org/drawingml/2006/main" w="0">
            <a:noFill/>
          </a:ln>
        </p:spPr>
      </p:sp>
      <p:sp>
        <p:nvSpPr>
          <p:cNvPr id="34" name="case-log-title">
            <a:extLst xmlns:a="http://schemas.openxmlformats.org/drawingml/2006/main">
              <a:ext uri="{FF2B5EF4-FFF2-40B4-BE49-F238E27FC236}">
                <a16:creationId xmlns:a16="http://schemas.microsoft.com/office/drawing/2014/main" id="{8755DF3C-13B9-4DCD-A596-B2639D76A213}"/>
              </a:ext>
            </a:extLst>
          </p:cNvPr>
          <p:cNvSpPr>
            <a:spLocks xmlns:a="http://schemas.openxmlformats.org/drawingml/2006/main" noGrp="1"/>
          </p:cNvSpPr>
          <p:nvPr/>
        </p:nvSpPr>
        <p:spPr>
          <a:xfrm xmlns:a="http://schemas.openxmlformats.org/drawingml/2006/main">
            <a:off x="8324850" y="559117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Case log board</a:t>
            </a:r>
          </a:p>
        </p:txBody>
      </p:sp>
      <p:sp>
        <p:nvSpPr>
          <p:cNvPr id="35" name="case-log-detail">
            <a:extLst xmlns:a="http://schemas.openxmlformats.org/drawingml/2006/main">
              <a:ext uri="{FF2B5EF4-FFF2-40B4-BE49-F238E27FC236}">
                <a16:creationId xmlns:a16="http://schemas.microsoft.com/office/drawing/2014/main" id="{7B5DE821-74A1-45B2-8F58-0C02907294E3}"/>
              </a:ext>
            </a:extLst>
          </p:cNvPr>
          <p:cNvSpPr>
            <a:spLocks xmlns:a="http://schemas.openxmlformats.org/drawingml/2006/main" noGrp="1"/>
          </p:cNvSpPr>
          <p:nvPr/>
        </p:nvSpPr>
        <p:spPr>
          <a:xfrm xmlns:a="http://schemas.openxmlformats.org/drawingml/2006/main">
            <a:off x="8324850" y="6038850"/>
            <a:ext cx="2686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Meaningful review comments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similar historical cases</a:t>
            </a:r>
          </a:p>
        </p:txBody>
      </p:sp>
      <p:cxnSp>
        <p:nvCxnSpPr>
          <p:cNvPr id="82" name=""/>
          <p:cNvCxnSpPr>
            <a:stCxn xmlns:a="http://schemas.openxmlformats.org/drawingml/2006/main" id="3" idx="2"/>
            <a:endCxn xmlns:a="http://schemas.openxmlformats.org/drawingml/2006/main" id="7" idx="0"/>
          </p:cNvCxnSpPr>
          <p:nvPr/>
        </p:nvCxnSpPr>
        <p:spPr>
          <a:xfrm xmlns:a="http://schemas.openxmlformats.org/drawingml/2006/main">
            <a:off x="1962150" y="3714750"/>
            <a:ext cx="0" cy="47625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83" name=""/>
          <p:cNvCxnSpPr>
            <a:stCxn xmlns:a="http://schemas.openxmlformats.org/drawingml/2006/main" id="7" idx="2"/>
            <a:endCxn xmlns:a="http://schemas.openxmlformats.org/drawingml/2006/main" id="11" idx="0"/>
          </p:cNvCxnSpPr>
          <p:nvPr/>
        </p:nvCxnSpPr>
        <p:spPr>
          <a:xfrm xmlns:a="http://schemas.openxmlformats.org/drawingml/2006/main">
            <a:off x="1962150" y="5867400"/>
            <a:ext cx="0" cy="51435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84" name=""/>
          <p:cNvCxnSpPr>
            <a:stCxn xmlns:a="http://schemas.openxmlformats.org/drawingml/2006/main" id="11" idx="3"/>
            <a:endCxn xmlns:a="http://schemas.openxmlformats.org/drawingml/2006/main" id="14" idx="1"/>
          </p:cNvCxnSpPr>
          <p:nvPr/>
        </p:nvCxnSpPr>
        <p:spPr>
          <a:xfrm xmlns:a="http://schemas.openxmlformats.org/drawingml/2006/main" flipV="1">
            <a:off x="3390900" y="3390900"/>
            <a:ext cx="800100" cy="3609975"/>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cxnSp>
        <p:nvCxnSpPr>
          <p:cNvPr id="85" name=""/>
          <p:cNvCxnSpPr>
            <a:stCxn xmlns:a="http://schemas.openxmlformats.org/drawingml/2006/main" id="14" idx="2"/>
            <a:endCxn xmlns:a="http://schemas.openxmlformats.org/drawingml/2006/main" id="18" idx="0"/>
          </p:cNvCxnSpPr>
          <p:nvPr/>
        </p:nvCxnSpPr>
        <p:spPr>
          <a:xfrm xmlns:a="http://schemas.openxmlformats.org/drawingml/2006/main">
            <a:off x="5762625" y="4248150"/>
            <a:ext cx="0" cy="89535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86" name=""/>
          <p:cNvCxnSpPr>
            <a:stCxn xmlns:a="http://schemas.openxmlformats.org/drawingml/2006/main" id="18" idx="3"/>
            <a:endCxn xmlns:a="http://schemas.openxmlformats.org/drawingml/2006/main" id="22" idx="1"/>
          </p:cNvCxnSpPr>
          <p:nvPr/>
        </p:nvCxnSpPr>
        <p:spPr>
          <a:xfrm xmlns:a="http://schemas.openxmlformats.org/drawingml/2006/main" flipV="1">
            <a:off x="7334250" y="3362325"/>
            <a:ext cx="762000" cy="2714625"/>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cxnSp>
        <p:nvCxnSpPr>
          <p:cNvPr id="87" name=""/>
          <p:cNvCxnSpPr>
            <a:stCxn xmlns:a="http://schemas.openxmlformats.org/drawingml/2006/main" id="22" idx="3"/>
            <a:endCxn xmlns:a="http://schemas.openxmlformats.org/drawingml/2006/main" id="26" idx="1"/>
          </p:cNvCxnSpPr>
          <p:nvPr/>
        </p:nvCxnSpPr>
        <p:spPr>
          <a:xfrm xmlns:a="http://schemas.openxmlformats.org/drawingml/2006/main">
            <a:off x="11239500" y="3362325"/>
            <a:ext cx="55245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88" name=""/>
          <p:cNvCxnSpPr>
            <a:stCxn xmlns:a="http://schemas.openxmlformats.org/drawingml/2006/main" id="26" idx="2"/>
            <a:endCxn xmlns:a="http://schemas.openxmlformats.org/drawingml/2006/main" id="30" idx="0"/>
          </p:cNvCxnSpPr>
          <p:nvPr/>
        </p:nvCxnSpPr>
        <p:spPr>
          <a:xfrm xmlns:a="http://schemas.openxmlformats.org/drawingml/2006/main">
            <a:off x="13249275" y="4267200"/>
            <a:ext cx="0" cy="68580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89" name=""/>
          <p:cNvCxnSpPr>
            <a:stCxn xmlns:a="http://schemas.openxmlformats.org/drawingml/2006/main" id="30" idx="1"/>
            <a:endCxn xmlns:a="http://schemas.openxmlformats.org/drawingml/2006/main" id="33" idx="3"/>
          </p:cNvCxnSpPr>
          <p:nvPr/>
        </p:nvCxnSpPr>
        <p:spPr>
          <a:xfrm xmlns:a="http://schemas.openxmlformats.org/drawingml/2006/main" flipH="1">
            <a:off x="11239500" y="5981700"/>
            <a:ext cx="552450" cy="104775"/>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90" name=""/>
          <p:cNvCxnSpPr>
            <a:stCxn xmlns:a="http://schemas.openxmlformats.org/drawingml/2006/main" id="33" idx="0"/>
            <a:endCxn xmlns:a="http://schemas.openxmlformats.org/drawingml/2006/main" id="22" idx="2"/>
          </p:cNvCxnSpPr>
          <p:nvPr/>
        </p:nvCxnSpPr>
        <p:spPr>
          <a:xfrm xmlns:a="http://schemas.openxmlformats.org/drawingml/2006/main" flipV="1">
            <a:off x="9667875" y="4267200"/>
            <a:ext cx="0" cy="1123950"/>
          </a:xfrm>
          <a:prstGeom xmlns:a="http://schemas.openxmlformats.org/drawingml/2006/main" prst="straightConnector1">
            <a:avLst/>
          </a:prstGeom>
          <a:ln xmlns:a="http://schemas.openxmlformats.org/drawingml/2006/main" w="28575">
            <a:solidFill>
              <a:srgbClr val="8097B1"/>
            </a:solidFill>
            <a:tailEnd type="triangle" w="med" len="med"/>
          </a:ln>
        </p:spPr>
      </p:cxnSp>
      <p:sp>
        <p:nvSpPr>
          <p:cNvPr id="45" name="history-summary-label">
            <a:extLst xmlns:a="http://schemas.openxmlformats.org/drawingml/2006/main">
              <a:ext uri="{FF2B5EF4-FFF2-40B4-BE49-F238E27FC236}">
                <a16:creationId xmlns:a16="http://schemas.microsoft.com/office/drawing/2014/main" id="{26038E84-047E-46C6-AE99-378D7032261D}"/>
              </a:ext>
            </a:extLst>
          </p:cNvPr>
          <p:cNvSpPr>
            <a:spLocks xmlns:a="http://schemas.openxmlformats.org/drawingml/2006/main" noGrp="1"/>
          </p:cNvSpPr>
          <p:nvPr/>
        </p:nvSpPr>
        <p:spPr>
          <a:xfrm xmlns:a="http://schemas.openxmlformats.org/drawingml/2006/main">
            <a:off x="8305800" y="489585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1">
                <a:solidFill>
                  <a:srgbClr val="0B7870"/>
                </a:solidFill>
                <a:latin typeface="Helvetica Neue"/>
                <a:ea typeface="Helvetica Neue"/>
                <a:cs typeface="Helvetica Neue"/>
              </a:defRPr>
            </a:pPr>
            <a:r>
              <a:rPr sz="1500" b="1">
                <a:solidFill>
                  <a:srgbClr val="0B7870"/>
                </a:solidFill>
                <a:latin typeface="Helvetica Neue"/>
                <a:ea typeface="Helvetica Neue"/>
                <a:cs typeface="Helvetica Neue"/>
              </a:rPr>
              <a:t>Historical cases feed Summary</a:t>
            </a:r>
          </a:p>
        </p:txBody>
      </p:sp>
      <p:sp>
        <p:nvSpPr>
          <p:cNvPr id="46" name="architecture-legend">
            <a:extLst xmlns:a="http://schemas.openxmlformats.org/drawingml/2006/main">
              <a:ext uri="{FF2B5EF4-FFF2-40B4-BE49-F238E27FC236}">
                <a16:creationId xmlns:a16="http://schemas.microsoft.com/office/drawing/2014/main" id="{DFD3EB0F-1D10-4230-BB67-F5895DE86E6D}"/>
              </a:ext>
            </a:extLst>
          </p:cNvPr>
          <p:cNvSpPr>
            <a:spLocks xmlns:a="http://schemas.openxmlformats.org/drawingml/2006/main" noGrp="1"/>
          </p:cNvSpPr>
          <p:nvPr/>
        </p:nvSpPr>
        <p:spPr>
          <a:xfrm xmlns:a="http://schemas.openxmlformats.org/drawingml/2006/main">
            <a:off x="533400" y="8001000"/>
            <a:ext cx="1417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Blue = code led   Purple = agent led   Amber = Human led Review   Teal = reviewed case history</a:t>
            </a:r>
          </a:p>
        </p:txBody>
      </p:sp>
    </p:spTree>
    <p:extLst>
      <p:ext uri="{BB962C8B-B14F-4D97-AF65-F5344CB8AC3E}">
        <p14:creationId xmlns:p14="http://schemas.microsoft.com/office/powerpoint/2010/main" val="1264491506"/>
      </p:ext>
    </p:extLst>
  </p:cSld>
</p:sld>
</file>

<file path=ppt/slides/slide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539C20F-E987-4660-A2BE-3A95D646561C}"/>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Architecture explained</a:t>
            </a:r>
          </a:p>
        </p:txBody>
      </p:sp>
      <p:sp>
        <p:nvSpPr>
          <p:cNvPr id="2" name="subtitle">
            <a:extLst xmlns:a="http://schemas.openxmlformats.org/drawingml/2006/main">
              <a:ext uri="{FF2B5EF4-FFF2-40B4-BE49-F238E27FC236}">
                <a16:creationId xmlns:a16="http://schemas.microsoft.com/office/drawing/2014/main" id="{8FB638C6-D5E0-40FF-8FBA-786A5A29CBBA}"/>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The flow separates machine preparation from the human confirmation required before a case becomes reusable knowledge.</a:t>
            </a:r>
          </a:p>
        </p:txBody>
      </p:sp>
      <p:graphicFrame>
        <p:nvGraphicFramePr>
          <p:cNvPr id="7" name=""/>
          <p:cNvGraphicFramePr/>
          <p:nvPr/>
        </p:nvGraphicFramePr>
        <p:xfrm>
          <a:off xmlns:a="http://schemas.openxmlformats.org/drawingml/2006/main" x="533400" y="1885950"/>
          <a:ext xmlns:a="http://schemas.openxmlformats.org/drawingml/2006/main" cx="14173200" cy="5810250"/>
        </p:xfrm>
        <a:graphic xmlns:a="http://schemas.openxmlformats.org/drawingml/2006/main">
          <a:graphicData uri="http://schemas.openxmlformats.org/drawingml/2006/table">
            <a:tbl>
              <a:tblPr firstRow="0" bandRow="0"/>
              <a:tblGrid>
                <a:gridCol w="2095500"/>
                <a:gridCol w="3905250"/>
                <a:gridCol w="3981450"/>
                <a:gridCol w="4191000"/>
              </a:tblGrid>
              <a:tr h="438150">
                <a:tc>
                  <a:txBody>
                    <a:bodyPr wrap="square">
                      <a:noAutofit/>
                    </a:bodyPr>
                    <a:lstStyle/>
                    <a:p>
                      <a:r>
                        <a:rPr sz="1650" b="1">
                          <a:solidFill>
                            <a:srgbClr val="FFFFFF"/>
                          </a:solidFill>
                          <a:latin typeface="Helvetica Neue"/>
                          <a:ea typeface="Helvetica Neue"/>
                          <a:cs typeface="Helvetica Neue"/>
                        </a:rPr>
                        <a:t>Stage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650" b="1">
                          <a:solidFill>
                            <a:srgbClr val="FFFFFF"/>
                          </a:solidFill>
                          <a:latin typeface="Helvetica Neue"/>
                          <a:ea typeface="Helvetica Neue"/>
                          <a:cs typeface="Helvetica Neue"/>
                        </a:rPr>
                        <a:t>Input</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650" b="1">
                          <a:solidFill>
                            <a:srgbClr val="FFFFFF"/>
                          </a:solidFill>
                          <a:latin typeface="Helvetica Neue"/>
                          <a:ea typeface="Helvetica Neue"/>
                          <a:cs typeface="Helvetica Neue"/>
                        </a:rPr>
                        <a:t>Output</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650" b="1">
                          <a:solidFill>
                            <a:srgbClr val="FFFFFF"/>
                          </a:solidFill>
                          <a:latin typeface="Helvetica Neue"/>
                          <a:ea typeface="Helvetica Neue"/>
                          <a:cs typeface="Helvetica Neue"/>
                        </a:rPr>
                        <a:t>What happens next</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r>
              <a:tr h="647700">
                <a:tc>
                  <a:txBody>
                    <a:bodyPr wrap="square">
                      <a:noAutofit/>
                    </a:bodyPr>
                    <a:lstStyle/>
                    <a:p>
                      <a:r>
                        <a:rPr sz="1350" b="1">
                          <a:solidFill>
                            <a:srgbClr val="FFFFFF"/>
                          </a:solidFill>
                          <a:latin typeface="Helvetica Neue"/>
                          <a:ea typeface="Helvetica Neue"/>
                          <a:cs typeface="Helvetica Neue"/>
                        </a:rPr>
                        <a:t>1. Raw AIF log</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Flat file, AIF integration or other</a:t>
                      </a:r>
                    </a:p>
                    <a:p>
                      <a:r>
                        <a:rPr sz="1350" b="0">
                          <a:solidFill>
                            <a:srgbClr val="15304C"/>
                          </a:solidFill>
                          <a:latin typeface="Helvetica Neue"/>
                          <a:ea typeface="Helvetica Neue"/>
                          <a:cs typeface="Helvetica Neue"/>
                        </a:rPr>
                        <a:t>supplied export.</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Source file or payload.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Ingestion accepts the supplied evidence.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647700">
                <a:tc>
                  <a:txBody>
                    <a:bodyPr wrap="square">
                      <a:noAutofit/>
                    </a:bodyPr>
                    <a:lstStyle/>
                    <a:p>
                      <a:r>
                        <a:rPr sz="1350" b="1">
                          <a:solidFill>
                            <a:srgbClr val="FFFFFF"/>
                          </a:solidFill>
                          <a:latin typeface="Helvetica Neue"/>
                          <a:ea typeface="Helvetica Neue"/>
                          <a:cs typeface="Helvetica Neue"/>
                        </a:rPr>
                        <a:t>2. Ingestion</a:t>
                      </a:r>
                    </a:p>
                    <a:p>
                      <a:r>
                        <a:rPr sz="1350" b="1">
                          <a:solidFill>
                            <a:srgbClr val="FFFFFF"/>
                          </a:solidFill>
                          <a:latin typeface="Helvetica Neue"/>
                          <a:ea typeface="Helvetica Neue"/>
                          <a:cs typeface="Helvetica Neue"/>
                        </a:rPr>
                        <a:t>Code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Raw AIF log.</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Original reference plus metadata.</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The app stores the raw log unchanged</a:t>
                      </a:r>
                    </a:p>
                    <a:p>
                      <a:r>
                        <a:rPr sz="1350" b="0">
                          <a:solidFill>
                            <a:srgbClr val="15304C"/>
                          </a:solidFill>
                          <a:latin typeface="Helvetica Neue"/>
                          <a:ea typeface="Helvetica Neue"/>
                          <a:cs typeface="Helvetica Neue"/>
                        </a:rPr>
                        <a:t>and starts the agent workflow.</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647700">
                <a:tc>
                  <a:txBody>
                    <a:bodyPr wrap="square">
                      <a:noAutofit/>
                    </a:bodyPr>
                    <a:lstStyle/>
                    <a:p>
                      <a:r>
                        <a:rPr sz="1350" b="1">
                          <a:solidFill>
                            <a:srgbClr val="FFFFFF"/>
                          </a:solidFill>
                          <a:latin typeface="Helvetica Neue"/>
                          <a:ea typeface="Helvetica Neue"/>
                          <a:cs typeface="Helvetica Neue"/>
                        </a:rPr>
                        <a:t>3. Raw log storage</a:t>
                      </a:r>
                    </a:p>
                    <a:p>
                      <a:r>
                        <a:rPr sz="1350" b="1">
                          <a:solidFill>
                            <a:srgbClr val="FFFFFF"/>
                          </a:solidFill>
                          <a:latin typeface="Helvetica Neue"/>
                          <a:ea typeface="Helvetica Neue"/>
                          <a:cs typeface="Helvetica Neue"/>
                        </a:rPr>
                        <a:t>Code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Raw file plus metadata.</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Traceable original evidence.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Extraction receives the original content</a:t>
                      </a:r>
                    </a:p>
                    <a:p>
                      <a:r>
                        <a:rPr sz="1350" b="0">
                          <a:solidFill>
                            <a:srgbClr val="15304C"/>
                          </a:solidFill>
                          <a:latin typeface="Helvetica Neue"/>
                          <a:ea typeface="Helvetica Neue"/>
                          <a:cs typeface="Helvetica Neue"/>
                        </a:rPr>
                        <a:t>and source reference.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685800">
                <a:tc>
                  <a:txBody>
                    <a:bodyPr wrap="square">
                      <a:noAutofit/>
                    </a:bodyPr>
                    <a:lstStyle/>
                    <a:p>
                      <a:r>
                        <a:rPr sz="1350" b="1">
                          <a:solidFill>
                            <a:srgbClr val="FFFFFF"/>
                          </a:solidFill>
                          <a:latin typeface="Helvetica Neue"/>
                          <a:ea typeface="Helvetica Neue"/>
                          <a:cs typeface="Helvetica Neue"/>
                        </a:rPr>
                        <a:t>4. Extraction</a:t>
                      </a:r>
                    </a:p>
                    <a:p>
                      <a:r>
                        <a:rPr sz="1350" b="1">
                          <a:solidFill>
                            <a:srgbClr val="FFFFFF"/>
                          </a:solidFill>
                          <a:latin typeface="Helvetica Neue"/>
                          <a:ea typeface="Helvetica Neue"/>
                          <a:cs typeface="Helvetica Neue"/>
                        </a:rPr>
                        <a:t>Agent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Raw log and metadata.</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Structured details, values, messages,</a:t>
                      </a:r>
                    </a:p>
                    <a:p>
                      <a:r>
                        <a:rPr sz="1350" b="0">
                          <a:solidFill>
                            <a:srgbClr val="15304C"/>
                          </a:solidFill>
                          <a:latin typeface="Helvetica Neue"/>
                          <a:ea typeface="Helvetica Neue"/>
                          <a:cs typeface="Helvetica Neue"/>
                        </a:rPr>
                        <a:t>context and limitations.</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Error Analysis receives the structured</a:t>
                      </a:r>
                    </a:p>
                    <a:p>
                      <a:r>
                        <a:rPr sz="1350" b="0">
                          <a:solidFill>
                            <a:srgbClr val="15304C"/>
                          </a:solidFill>
                          <a:latin typeface="Helvetica Neue"/>
                          <a:ea typeface="Helvetica Neue"/>
                          <a:cs typeface="Helvetica Neue"/>
                        </a:rPr>
                        <a:t>record rather than a loose log.</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685800">
                <a:tc>
                  <a:txBody>
                    <a:bodyPr wrap="square">
                      <a:noAutofit/>
                    </a:bodyPr>
                    <a:lstStyle/>
                    <a:p>
                      <a:r>
                        <a:rPr sz="1350" b="1">
                          <a:solidFill>
                            <a:srgbClr val="FFFFFF"/>
                          </a:solidFill>
                          <a:latin typeface="Helvetica Neue"/>
                          <a:ea typeface="Helvetica Neue"/>
                          <a:cs typeface="Helvetica Neue"/>
                        </a:rPr>
                        <a:t>5. Error Analysis</a:t>
                      </a:r>
                    </a:p>
                    <a:p>
                      <a:r>
                        <a:rPr sz="1350" b="1">
                          <a:solidFill>
                            <a:srgbClr val="FFFFFF"/>
                          </a:solidFill>
                          <a:latin typeface="Helvetica Neue"/>
                          <a:ea typeface="Helvetica Neue"/>
                          <a:cs typeface="Helvetica Neue"/>
                        </a:rPr>
                        <a:t>Agent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Structured extraction.</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Root-cause hypothesis plus supporting</a:t>
                      </a:r>
                    </a:p>
                    <a:p>
                      <a:r>
                        <a:rPr sz="1350" b="0">
                          <a:solidFill>
                            <a:srgbClr val="15304C"/>
                          </a:solidFill>
                          <a:latin typeface="Helvetica Neue"/>
                          <a:ea typeface="Helvetica Neue"/>
                          <a:cs typeface="Helvetica Neue"/>
                        </a:rPr>
                        <a:t>evidence for investigation.</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Summary receives the analysis and the</a:t>
                      </a:r>
                    </a:p>
                    <a:p>
                      <a:r>
                        <a:rPr sz="1350" b="0">
                          <a:solidFill>
                            <a:srgbClr val="15304C"/>
                          </a:solidFill>
                          <a:latin typeface="Helvetica Neue"/>
                          <a:ea typeface="Helvetica Neue"/>
                          <a:cs typeface="Helvetica Neue"/>
                        </a:rPr>
                        <a:t>evidence it needs to cite.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685800">
                <a:tc>
                  <a:txBody>
                    <a:bodyPr wrap="square">
                      <a:noAutofit/>
                    </a:bodyPr>
                    <a:lstStyle/>
                    <a:p>
                      <a:r>
                        <a:rPr sz="1350" b="1">
                          <a:solidFill>
                            <a:srgbClr val="FFFFFF"/>
                          </a:solidFill>
                          <a:latin typeface="Helvetica Neue"/>
                          <a:ea typeface="Helvetica Neue"/>
                          <a:cs typeface="Helvetica Neue"/>
                        </a:rPr>
                        <a:t>6. Summary</a:t>
                      </a:r>
                    </a:p>
                    <a:p>
                      <a:r>
                        <a:rPr sz="1350" b="1">
                          <a:solidFill>
                            <a:srgbClr val="FFFFFF"/>
                          </a:solidFill>
                          <a:latin typeface="Helvetica Neue"/>
                          <a:ea typeface="Helvetica Neue"/>
                          <a:cs typeface="Helvetica Neue"/>
                        </a:rPr>
                        <a:t>Agent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Error analysis, raw-log references</a:t>
                      </a:r>
                    </a:p>
                    <a:p>
                      <a:r>
                        <a:rPr sz="1350" b="0">
                          <a:solidFill>
                            <a:srgbClr val="15304C"/>
                          </a:solidFill>
                          <a:latin typeface="Helvetica Neue"/>
                          <a:ea typeface="Helvetica Neue"/>
                          <a:cs typeface="Helvetica Neue"/>
                        </a:rPr>
                        <a:t>and case log board history.</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Readable case summary with source</a:t>
                      </a:r>
                    </a:p>
                    <a:p>
                      <a:r>
                        <a:rPr sz="1350" b="0">
                          <a:solidFill>
                            <a:srgbClr val="15304C"/>
                          </a:solidFill>
                          <a:latin typeface="Helvetica Neue"/>
                          <a:ea typeface="Helvetica Neue"/>
                          <a:cs typeface="Helvetica Neue"/>
                        </a:rPr>
                        <a:t>citations and related cases.</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Case creation saves, routes and exports</a:t>
                      </a:r>
                    </a:p>
                    <a:p>
                      <a:r>
                        <a:rPr sz="1350" b="0">
                          <a:solidFill>
                            <a:srgbClr val="15304C"/>
                          </a:solidFill>
                          <a:latin typeface="Helvetica Neue"/>
                          <a:ea typeface="Helvetica Neue"/>
                          <a:cs typeface="Helvetica Neue"/>
                        </a:rPr>
                        <a:t>the case through the API.</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685800">
                <a:tc>
                  <a:txBody>
                    <a:bodyPr wrap="square">
                      <a:noAutofit/>
                    </a:bodyPr>
                    <a:lstStyle/>
                    <a:p>
                      <a:r>
                        <a:rPr sz="1350" b="1">
                          <a:solidFill>
                            <a:srgbClr val="FFFFFF"/>
                          </a:solidFill>
                          <a:latin typeface="Helvetica Neue"/>
                          <a:ea typeface="Helvetica Neue"/>
                          <a:cs typeface="Helvetica Neue"/>
                        </a:rPr>
                        <a:t>7. Case creation</a:t>
                      </a:r>
                    </a:p>
                    <a:p>
                      <a:r>
                        <a:rPr sz="1350" b="1">
                          <a:solidFill>
                            <a:srgbClr val="FFFFFF"/>
                          </a:solidFill>
                          <a:latin typeface="Helvetica Neue"/>
                          <a:ea typeface="Helvetica Neue"/>
                          <a:cs typeface="Helvetica Neue"/>
                        </a:rPr>
                        <a:t>Code led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Summary and evidence references.</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Routed case, assigned owner and</a:t>
                      </a:r>
                    </a:p>
                    <a:p>
                      <a:r>
                        <a:rPr sz="1350" b="0">
                          <a:solidFill>
                            <a:srgbClr val="15304C"/>
                          </a:solidFill>
                          <a:latin typeface="Helvetica Neue"/>
                          <a:ea typeface="Helvetica Neue"/>
                          <a:cs typeface="Helvetica Neue"/>
                        </a:rPr>
                        <a:t>exportable API record.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350" b="0">
                          <a:solidFill>
                            <a:srgbClr val="15304C"/>
                          </a:solidFill>
                          <a:latin typeface="Helvetica Neue"/>
                          <a:ea typeface="Helvetica Neue"/>
                          <a:cs typeface="Helvetica Neue"/>
                        </a:rPr>
                        <a:t>Human led Review receives the case.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685800">
                <a:tc>
                  <a:txBody>
                    <a:bodyPr wrap="square">
                      <a:noAutofit/>
                    </a:bodyPr>
                    <a:lstStyle/>
                    <a:p>
                      <a:r>
                        <a:rPr sz="1350" b="1">
                          <a:solidFill>
                            <a:srgbClr val="FFFFFF"/>
                          </a:solidFill>
                          <a:latin typeface="Helvetica Neue"/>
                          <a:ea typeface="Helvetica Neue"/>
                          <a:cs typeface="Helvetica Neue"/>
                        </a:rPr>
                        <a:t>8. Human led Review</a:t>
                      </a:r>
                    </a:p>
                    <a:p>
                      <a:r>
                        <a:rPr sz="1350" b="1">
                          <a:solidFill>
                            <a:srgbClr val="FFFFFF"/>
                          </a:solidFill>
                          <a:latin typeface="Helvetica Neue"/>
                          <a:ea typeface="Helvetica Neue"/>
                          <a:cs typeface="Helvetica Neue"/>
                        </a:rPr>
                        <a:t>and case log board</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350" b="0">
                          <a:solidFill>
                            <a:srgbClr val="15304C"/>
                          </a:solidFill>
                          <a:latin typeface="Helvetica Neue"/>
                          <a:ea typeface="Helvetica Neue"/>
                          <a:cs typeface="Helvetica Neue"/>
                        </a:rPr>
                        <a:t>Case summary, raw log and live</a:t>
                      </a:r>
                    </a:p>
                    <a:p>
                      <a:r>
                        <a:rPr sz="1350" b="0">
                          <a:solidFill>
                            <a:srgbClr val="15304C"/>
                          </a:solidFill>
                          <a:latin typeface="Helvetica Neue"/>
                          <a:ea typeface="Helvetica Neue"/>
                          <a:cs typeface="Helvetica Neue"/>
                        </a:rPr>
                        <a:t>SAP validation.</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Confirmed root cause and meaningful</a:t>
                      </a:r>
                    </a:p>
                    <a:p>
                      <a:r>
                        <a:rPr sz="1350" b="0">
                          <a:solidFill>
                            <a:srgbClr val="15304C"/>
                          </a:solidFill>
                          <a:latin typeface="Helvetica Neue"/>
                          <a:ea typeface="Helvetica Neue"/>
                          <a:cs typeface="Helvetica Neue"/>
                        </a:rPr>
                        <a:t>comments, outcomes and evidence.</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350" b="0">
                          <a:solidFill>
                            <a:srgbClr val="15304C"/>
                          </a:solidFill>
                          <a:latin typeface="Helvetica Neue"/>
                          <a:ea typeface="Helvetica Neue"/>
                          <a:cs typeface="Helvetica Neue"/>
                        </a:rPr>
                        <a:t>Reviewed cases become future context</a:t>
                      </a:r>
                    </a:p>
                    <a:p>
                      <a:r>
                        <a:rPr sz="1350" b="0">
                          <a:solidFill>
                            <a:srgbClr val="15304C"/>
                          </a:solidFill>
                          <a:latin typeface="Helvetica Neue"/>
                          <a:ea typeface="Helvetica Neue"/>
                          <a:cs typeface="Helvetica Neue"/>
                        </a:rPr>
                        <a:t>for the Summary agent.</a:t>
                      </a:r>
                    </a:p>
                  </a:txBody>
                  <a:tcPr marL="123825" marR="123825"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bl>
          </a:graphicData>
        </a:graphic>
      </p:graphicFrame>
      <p:sp>
        <p:nvSpPr>
          <p:cNvPr id="4" name="architecture-note">
            <a:extLst xmlns:a="http://schemas.openxmlformats.org/drawingml/2006/main">
              <a:ext uri="{FF2B5EF4-FFF2-40B4-BE49-F238E27FC236}">
                <a16:creationId xmlns:a16="http://schemas.microsoft.com/office/drawing/2014/main" id="{2D14E183-D5BF-48CF-ADE3-392A09BA4081}"/>
              </a:ext>
            </a:extLst>
          </p:cNvPr>
          <p:cNvSpPr>
            <a:spLocks xmlns:a="http://schemas.openxmlformats.org/drawingml/2006/main" noGrp="1"/>
          </p:cNvSpPr>
          <p:nvPr/>
        </p:nvSpPr>
        <p:spPr>
          <a:xfrm xmlns:a="http://schemas.openxmlformats.org/drawingml/2006/main">
            <a:off x="533400" y="7867650"/>
            <a:ext cx="1417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The case log board stores reviewed history for future reference. Humans in the loop validate root cause in SAP before that history informs another case.</a:t>
            </a:r>
          </a:p>
        </p:txBody>
      </p:sp>
    </p:spTree>
    <p:extLst>
      <p:ext uri="{BB962C8B-B14F-4D97-AF65-F5344CB8AC3E}">
        <p14:creationId xmlns:p14="http://schemas.microsoft.com/office/powerpoint/2010/main" val="745935270"/>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614E68D-211D-4EFA-A182-8EF1A0809B40}"/>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CFIN exception case from AIF evidence</a:t>
            </a:r>
          </a:p>
        </p:txBody>
      </p:sp>
      <p:sp>
        <p:nvSpPr>
          <p:cNvPr id="2" name="subtitle">
            <a:extLst xmlns:a="http://schemas.openxmlformats.org/drawingml/2006/main">
              <a:ext uri="{FF2B5EF4-FFF2-40B4-BE49-F238E27FC236}">
                <a16:creationId xmlns:a16="http://schemas.microsoft.com/office/drawing/2014/main" id="{ED83D10E-B06C-4A90-90DD-52639ED20D39}"/>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The product removes routine log reconstruction while preserving the evidence an analyst needs to validate the case.</a:t>
            </a:r>
          </a:p>
        </p:txBody>
      </p:sp>
      <p:graphicFrame>
        <p:nvGraphicFramePr>
          <p:cNvPr id="11" name=""/>
          <p:cNvGraphicFramePr/>
          <p:nvPr/>
        </p:nvGraphicFramePr>
        <p:xfrm>
          <a:off xmlns:a="http://schemas.openxmlformats.org/drawingml/2006/main" x="533400" y="2009775"/>
          <a:ext xmlns:a="http://schemas.openxmlformats.org/drawingml/2006/main" cx="14173200" cy="4562475"/>
        </p:xfrm>
        <a:graphic xmlns:a="http://schemas.openxmlformats.org/drawingml/2006/main">
          <a:graphicData uri="http://schemas.openxmlformats.org/drawingml/2006/table">
            <a:tbl>
              <a:tblPr firstRow="0" bandRow="0"/>
              <a:tblGrid>
                <a:gridCol w="3543300"/>
                <a:gridCol w="10629900"/>
              </a:tblGrid>
              <a:tr h="914400">
                <a:tc>
                  <a:txBody>
                    <a:bodyPr wrap="square">
                      <a:noAutofit/>
                    </a:bodyPr>
                    <a:lstStyle/>
                    <a:p>
                      <a:r>
                        <a:rPr sz="1950" b="1">
                          <a:solidFill>
                            <a:srgbClr val="FFFFFF"/>
                          </a:solidFill>
                          <a:latin typeface="Helvetica Neue"/>
                          <a:ea typeface="Helvetica Neue"/>
                          <a:cs typeface="Helvetica Neue"/>
                        </a:rPr>
                        <a:t>Uploaded AIF evidence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Data Messages, Log Messages, Data Structure, Data Content and any supplied message details. The app keeps the supplied original as the record of evidence.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r h="914400">
                <a:tc>
                  <a:txBody>
                    <a:bodyPr wrap="square">
                      <a:noAutofit/>
                    </a:bodyPr>
                    <a:lstStyle/>
                    <a:p>
                      <a:r>
                        <a:rPr sz="1950" b="1">
                          <a:solidFill>
                            <a:srgbClr val="FFFFFF"/>
                          </a:solidFill>
                          <a:latin typeface="Helvetica Neue"/>
                          <a:ea typeface="Helvetica Neue"/>
                          <a:cs typeface="Helvetica Neue"/>
                        </a:rPr>
                        <a:t>Factual case brief</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Reported error, document and source or target context, affected items, reported outcome, explicit gaps and links back to the source.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FFFFFF"/>
                    </a:solidFill>
                  </a:tcPr>
                </a:tc>
              </a:tr>
              <a:tr h="914400">
                <a:tc>
                  <a:txBody>
                    <a:bodyPr wrap="square">
                      <a:noAutofit/>
                    </a:bodyPr>
                    <a:lstStyle/>
                    <a:p>
                      <a:r>
                        <a:rPr sz="1950" b="1">
                          <a:solidFill>
                            <a:srgbClr val="FFFFFF"/>
                          </a:solidFill>
                          <a:latin typeface="Helvetica Neue"/>
                          <a:ea typeface="Helvetica Neue"/>
                          <a:cs typeface="Helvetica Neue"/>
                        </a:rPr>
                        <a:t>Human led Review</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Checks or corrects the brief, investigates in SAP, then records the finding, action, outcome and proof.</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r h="914400">
                <a:tc>
                  <a:txBody>
                    <a:bodyPr wrap="square">
                      <a:noAutofit/>
                    </a:bodyPr>
                    <a:lstStyle/>
                    <a:p>
                      <a:r>
                        <a:rPr sz="1950" b="1">
                          <a:solidFill>
                            <a:srgbClr val="FFFFFF"/>
                          </a:solidFill>
                          <a:latin typeface="Helvetica Neue"/>
                          <a:ea typeface="Helvetica Neue"/>
                          <a:cs typeface="Helvetica Neue"/>
                        </a:rPr>
                        <a:t>Reusable case data</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The saved case appears in the portal and through a versioned, authenticated, read-only JSON API for authorised consumers.</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FFFFFF"/>
                    </a:solidFill>
                  </a:tcPr>
                </a:tc>
              </a:tr>
              <a:tr h="904875">
                <a:tc>
                  <a:txBody>
                    <a:bodyPr wrap="square">
                      <a:noAutofit/>
                    </a:bodyPr>
                    <a:lstStyle/>
                    <a:p>
                      <a:r>
                        <a:rPr sz="1950" b="1">
                          <a:solidFill>
                            <a:srgbClr val="FFFFFF"/>
                          </a:solidFill>
                          <a:latin typeface="Helvetica Neue"/>
                          <a:ea typeface="Helvetica Neue"/>
                          <a:cs typeface="Helvetica Neue"/>
                        </a:rPr>
                        <a:t>Product boundary</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The app does not retrieve live SAP data, diagnose a root cause, recommend a fix or run SAP transactions.</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bl>
          </a:graphicData>
        </a:graphic>
      </p:graphicFrame>
      <p:sp>
        <p:nvSpPr>
          <p:cNvPr id="4" name="key-things">
            <a:extLst xmlns:a="http://schemas.openxmlformats.org/drawingml/2006/main">
              <a:ext uri="{FF2B5EF4-FFF2-40B4-BE49-F238E27FC236}">
                <a16:creationId xmlns:a16="http://schemas.microsoft.com/office/drawing/2014/main" id="{1ECC88C0-3A27-4BA4-BF25-C2555835D40D}"/>
              </a:ext>
            </a:extLst>
          </p:cNvPr>
          <p:cNvSpPr>
            <a:spLocks xmlns:a="http://schemas.openxmlformats.org/drawingml/2006/main" noGrp="1"/>
          </p:cNvSpPr>
          <p:nvPr/>
        </p:nvSpPr>
        <p:spPr>
          <a:xfrm xmlns:a="http://schemas.openxmlformats.org/drawingml/2006/main">
            <a:off x="533400" y="6934200"/>
            <a:ext cx="14173200" cy="1219200"/>
          </a:xfrm>
          <a:prstGeom xmlns:a="http://schemas.openxmlformats.org/drawingml/2006/main" prst="roundRect">
            <a:avLst>
              <a:gd name="adj" fmla="val 9375"/>
            </a:avLst>
          </a:prstGeom>
          <a:solidFill xmlns:a="http://schemas.openxmlformats.org/drawingml/2006/main">
            <a:srgbClr val="E0F1ED"/>
          </a:solidFill>
          <a:ln xmlns:a="http://schemas.openxmlformats.org/drawingml/2006/main" w="0">
            <a:noFill/>
          </a:ln>
        </p:spPr>
      </p:sp>
      <p:sp>
        <p:nvSpPr>
          <p:cNvPr id="5" name="key-things-heading">
            <a:extLst xmlns:a="http://schemas.openxmlformats.org/drawingml/2006/main">
              <a:ext uri="{FF2B5EF4-FFF2-40B4-BE49-F238E27FC236}">
                <a16:creationId xmlns:a16="http://schemas.microsoft.com/office/drawing/2014/main" id="{5E2F3CC3-A98D-41C3-8857-73069DD25CA4}"/>
              </a:ext>
            </a:extLst>
          </p:cNvPr>
          <p:cNvSpPr>
            <a:spLocks xmlns:a="http://schemas.openxmlformats.org/drawingml/2006/main" noGrp="1"/>
          </p:cNvSpPr>
          <p:nvPr/>
        </p:nvSpPr>
        <p:spPr>
          <a:xfrm xmlns:a="http://schemas.openxmlformats.org/drawingml/2006/main">
            <a:off x="800100" y="71247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Key things to note</a:t>
            </a:r>
          </a:p>
        </p:txBody>
      </p:sp>
      <p:sp>
        <p:nvSpPr>
          <p:cNvPr id="6" name="synthetic-note">
            <a:extLst xmlns:a="http://schemas.openxmlformats.org/drawingml/2006/main">
              <a:ext uri="{FF2B5EF4-FFF2-40B4-BE49-F238E27FC236}">
                <a16:creationId xmlns:a16="http://schemas.microsoft.com/office/drawing/2014/main" id="{FCF9395A-F0B3-4F4A-9B6D-73212D1FADD6}"/>
              </a:ext>
            </a:extLst>
          </p:cNvPr>
          <p:cNvSpPr>
            <a:spLocks xmlns:a="http://schemas.openxmlformats.org/drawingml/2006/main" noGrp="1"/>
          </p:cNvSpPr>
          <p:nvPr/>
        </p:nvSpPr>
        <p:spPr>
          <a:xfrm xmlns:a="http://schemas.openxmlformats.org/drawingml/2006/main">
            <a:off x="4152900" y="7124700"/>
            <a:ext cx="4610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950" b="1">
                <a:solidFill>
                  <a:srgbClr val="15304C"/>
                </a:solidFill>
                <a:latin typeface="Helvetica Neue"/>
                <a:ea typeface="Helvetica Neue"/>
                <a:cs typeface="Helvetica Neue"/>
              </a:defRPr>
            </a:pPr>
            <a:r>
              <a:rPr sz="1950" b="1">
                <a:solidFill>
                  <a:srgbClr val="15304C"/>
                </a:solidFill>
                <a:latin typeface="Helvetica Neue"/>
                <a:ea typeface="Helvetica Neue"/>
                <a:cs typeface="Helvetica Neue"/>
              </a:rPr>
              <a:t>Built on synthetic AIF data</a:t>
            </a:r>
          </a:p>
        </p:txBody>
      </p:sp>
      <p:sp>
        <p:nvSpPr>
          <p:cNvPr id="7" name="no-sap-note">
            <a:extLst xmlns:a="http://schemas.openxmlformats.org/drawingml/2006/main">
              <a:ext uri="{FF2B5EF4-FFF2-40B4-BE49-F238E27FC236}">
                <a16:creationId xmlns:a16="http://schemas.microsoft.com/office/drawing/2014/main" id="{B1561E8C-1283-4937-B28C-1A513EEB4723}"/>
              </a:ext>
            </a:extLst>
          </p:cNvPr>
          <p:cNvSpPr>
            <a:spLocks xmlns:a="http://schemas.openxmlformats.org/drawingml/2006/main" noGrp="1"/>
          </p:cNvSpPr>
          <p:nvPr/>
        </p:nvSpPr>
        <p:spPr>
          <a:xfrm xmlns:a="http://schemas.openxmlformats.org/drawingml/2006/main">
            <a:off x="9696450" y="712470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950" b="1">
                <a:solidFill>
                  <a:srgbClr val="15304C"/>
                </a:solidFill>
                <a:latin typeface="Helvetica Neue"/>
                <a:ea typeface="Helvetica Neue"/>
                <a:cs typeface="Helvetica Neue"/>
              </a:defRPr>
            </a:pPr>
            <a:r>
              <a:rPr sz="1950" b="1">
                <a:solidFill>
                  <a:srgbClr val="15304C"/>
                </a:solidFill>
                <a:latin typeface="Helvetica Neue"/>
                <a:ea typeface="Helvetica Neue"/>
                <a:cs typeface="Helvetica Neue"/>
              </a:rPr>
              <a:t>No SAP integration today</a:t>
            </a:r>
          </a:p>
        </p:txBody>
      </p:sp>
      <p:sp>
        <p:nvSpPr>
          <p:cNvPr id="8" name="key-things-detail">
            <a:extLst xmlns:a="http://schemas.openxmlformats.org/drawingml/2006/main">
              <a:ext uri="{FF2B5EF4-FFF2-40B4-BE49-F238E27FC236}">
                <a16:creationId xmlns:a16="http://schemas.microsoft.com/office/drawing/2014/main" id="{5F45E3C3-D984-4F2A-B2CE-1455B2507145}"/>
              </a:ext>
            </a:extLst>
          </p:cNvPr>
          <p:cNvSpPr>
            <a:spLocks xmlns:a="http://schemas.openxmlformats.org/drawingml/2006/main" noGrp="1"/>
          </p:cNvSpPr>
          <p:nvPr/>
        </p:nvSpPr>
        <p:spPr>
          <a:xfrm xmlns:a="http://schemas.openxmlformats.org/drawingml/2006/main">
            <a:off x="800100" y="7639050"/>
            <a:ext cx="13068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Real AIF samples and human semantic acceptance remain the evidence needed before claims about production quality or time saved.</a:t>
            </a:r>
          </a:p>
        </p:txBody>
      </p:sp>
    </p:spTree>
    <p:extLst>
      <p:ext uri="{BB962C8B-B14F-4D97-AF65-F5344CB8AC3E}">
        <p14:creationId xmlns:p14="http://schemas.microsoft.com/office/powerpoint/2010/main" val="1462756703"/>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7C8F47CF-1445-46AC-8CE7-14EBD378A3F7}"/>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Future: Joule agents use the app in SAP</a:t>
            </a:r>
          </a:p>
        </p:txBody>
      </p:sp>
      <p:sp>
        <p:nvSpPr>
          <p:cNvPr id="2" name="subtitle">
            <a:extLst xmlns:a="http://schemas.openxmlformats.org/drawingml/2006/main">
              <a:ext uri="{FF2B5EF4-FFF2-40B4-BE49-F238E27FC236}">
                <a16:creationId xmlns:a16="http://schemas.microsoft.com/office/drawing/2014/main" id="{2AD17E86-2CAD-4EED-8012-8BDD53468F01}"/>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Reuse the app. Set up Joule agents for each customer’s SAP process.</a:t>
            </a:r>
          </a:p>
        </p:txBody>
      </p:sp>
      <p:sp>
        <p:nvSpPr>
          <p:cNvPr id="3" name="future-app">
            <a:extLst xmlns:a="http://schemas.openxmlformats.org/drawingml/2006/main">
              <a:ext uri="{FF2B5EF4-FFF2-40B4-BE49-F238E27FC236}">
                <a16:creationId xmlns:a16="http://schemas.microsoft.com/office/drawing/2014/main" id="{E4DF957C-E1BE-412E-9DE8-CBAF8321CF40}"/>
              </a:ext>
            </a:extLst>
          </p:cNvPr>
          <p:cNvSpPr>
            <a:spLocks xmlns:a="http://schemas.openxmlformats.org/drawingml/2006/main" noGrp="1"/>
          </p:cNvSpPr>
          <p:nvPr/>
        </p:nvSpPr>
        <p:spPr>
          <a:xfrm xmlns:a="http://schemas.openxmlformats.org/drawingml/2006/main">
            <a:off x="533400" y="2076450"/>
            <a:ext cx="4210050" cy="3429000"/>
          </a:xfrm>
          <a:prstGeom xmlns:a="http://schemas.openxmlformats.org/drawingml/2006/main" prst="roundRect">
            <a:avLst>
              <a:gd name="adj" fmla="val 3333"/>
            </a:avLst>
          </a:prstGeom>
          <a:solidFill xmlns:a="http://schemas.openxmlformats.org/drawingml/2006/main">
            <a:srgbClr val="15304C"/>
          </a:solidFill>
          <a:ln xmlns:a="http://schemas.openxmlformats.org/drawingml/2006/main" w="0">
            <a:noFill/>
          </a:ln>
        </p:spPr>
      </p:sp>
      <p:sp>
        <p:nvSpPr>
          <p:cNvPr id="4" name="future-app-title">
            <a:extLst xmlns:a="http://schemas.openxmlformats.org/drawingml/2006/main">
              <a:ext uri="{FF2B5EF4-FFF2-40B4-BE49-F238E27FC236}">
                <a16:creationId xmlns:a16="http://schemas.microsoft.com/office/drawing/2014/main" id="{43233493-CC2D-4504-A847-47B8D5A5782F}"/>
              </a:ext>
            </a:extLst>
          </p:cNvPr>
          <p:cNvSpPr>
            <a:spLocks xmlns:a="http://schemas.openxmlformats.org/drawingml/2006/main" noGrp="1"/>
          </p:cNvSpPr>
          <p:nvPr/>
        </p:nvSpPr>
        <p:spPr>
          <a:xfrm xmlns:a="http://schemas.openxmlformats.org/drawingml/2006/main">
            <a:off x="781050" y="236220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CFIN app + API</a:t>
            </a:r>
          </a:p>
        </p:txBody>
      </p:sp>
      <p:sp>
        <p:nvSpPr>
          <p:cNvPr id="5" name="future-app-data-0">
            <a:extLst xmlns:a="http://schemas.openxmlformats.org/drawingml/2006/main">
              <a:ext uri="{FF2B5EF4-FFF2-40B4-BE49-F238E27FC236}">
                <a16:creationId xmlns:a16="http://schemas.microsoft.com/office/drawing/2014/main" id="{43149F69-BD83-4F68-8F0A-070AB0A2F470}"/>
              </a:ext>
            </a:extLst>
          </p:cNvPr>
          <p:cNvSpPr>
            <a:spLocks xmlns:a="http://schemas.openxmlformats.org/drawingml/2006/main" noGrp="1"/>
          </p:cNvSpPr>
          <p:nvPr/>
        </p:nvSpPr>
        <p:spPr>
          <a:xfrm xmlns:a="http://schemas.openxmlformats.org/drawingml/2006/main">
            <a:off x="781050" y="31718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Case summary</a:t>
            </a:r>
          </a:p>
        </p:txBody>
      </p:sp>
      <p:sp>
        <p:nvSpPr>
          <p:cNvPr id="6" name="future-app-data-1">
            <a:extLst xmlns:a="http://schemas.openxmlformats.org/drawingml/2006/main">
              <a:ext uri="{FF2B5EF4-FFF2-40B4-BE49-F238E27FC236}">
                <a16:creationId xmlns:a16="http://schemas.microsoft.com/office/drawing/2014/main" id="{6E89589B-2DF8-4800-9009-0E154B69B6EB}"/>
              </a:ext>
            </a:extLst>
          </p:cNvPr>
          <p:cNvSpPr>
            <a:spLocks xmlns:a="http://schemas.openxmlformats.org/drawingml/2006/main" noGrp="1"/>
          </p:cNvSpPr>
          <p:nvPr/>
        </p:nvSpPr>
        <p:spPr>
          <a:xfrm xmlns:a="http://schemas.openxmlformats.org/drawingml/2006/main">
            <a:off x="781050" y="36576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Original AIF log</a:t>
            </a:r>
          </a:p>
        </p:txBody>
      </p:sp>
      <p:sp>
        <p:nvSpPr>
          <p:cNvPr id="7" name="future-app-data-2">
            <a:extLst xmlns:a="http://schemas.openxmlformats.org/drawingml/2006/main">
              <a:ext uri="{FF2B5EF4-FFF2-40B4-BE49-F238E27FC236}">
                <a16:creationId xmlns:a16="http://schemas.microsoft.com/office/drawing/2014/main" id="{56776106-8759-47F9-9E2C-BCA58243602D}"/>
              </a:ext>
            </a:extLst>
          </p:cNvPr>
          <p:cNvSpPr>
            <a:spLocks xmlns:a="http://schemas.openxmlformats.org/drawingml/2006/main" noGrp="1"/>
          </p:cNvSpPr>
          <p:nvPr/>
        </p:nvSpPr>
        <p:spPr>
          <a:xfrm xmlns:a="http://schemas.openxmlformats.org/drawingml/2006/main">
            <a:off x="781050" y="4143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Related cases</a:t>
            </a:r>
          </a:p>
        </p:txBody>
      </p:sp>
      <p:sp>
        <p:nvSpPr>
          <p:cNvPr id="8" name="future-app-data-3">
            <a:extLst xmlns:a="http://schemas.openxmlformats.org/drawingml/2006/main">
              <a:ext uri="{FF2B5EF4-FFF2-40B4-BE49-F238E27FC236}">
                <a16:creationId xmlns:a16="http://schemas.microsoft.com/office/drawing/2014/main" id="{4F400EAF-300C-47B8-ADE7-25556073EF25}"/>
              </a:ext>
            </a:extLst>
          </p:cNvPr>
          <p:cNvSpPr>
            <a:spLocks xmlns:a="http://schemas.openxmlformats.org/drawingml/2006/main" noGrp="1"/>
          </p:cNvSpPr>
          <p:nvPr/>
        </p:nvSpPr>
        <p:spPr>
          <a:xfrm xmlns:a="http://schemas.openxmlformats.org/drawingml/2006/main">
            <a:off x="781050" y="4629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Review findings</a:t>
            </a:r>
          </a:p>
        </p:txBody>
      </p:sp>
      <p:sp>
        <p:nvSpPr>
          <p:cNvPr id="9" name="future-joule">
            <a:extLst xmlns:a="http://schemas.openxmlformats.org/drawingml/2006/main">
              <a:ext uri="{FF2B5EF4-FFF2-40B4-BE49-F238E27FC236}">
                <a16:creationId xmlns:a16="http://schemas.microsoft.com/office/drawing/2014/main" id="{2F74DE4D-B779-45EC-A094-7A7240880748}"/>
              </a:ext>
            </a:extLst>
          </p:cNvPr>
          <p:cNvSpPr>
            <a:spLocks xmlns:a="http://schemas.openxmlformats.org/drawingml/2006/main" noGrp="1"/>
          </p:cNvSpPr>
          <p:nvPr/>
        </p:nvSpPr>
        <p:spPr>
          <a:xfrm xmlns:a="http://schemas.openxmlformats.org/drawingml/2006/main">
            <a:off x="5467350" y="2076450"/>
            <a:ext cx="4286250" cy="3429000"/>
          </a:xfrm>
          <a:prstGeom xmlns:a="http://schemas.openxmlformats.org/drawingml/2006/main" prst="roundRect">
            <a:avLst>
              <a:gd name="adj" fmla="val 3333"/>
            </a:avLst>
          </a:prstGeom>
          <a:solidFill xmlns:a="http://schemas.openxmlformats.org/drawingml/2006/main">
            <a:srgbClr val="EEE8FA"/>
          </a:solidFill>
          <a:ln xmlns:a="http://schemas.openxmlformats.org/drawingml/2006/main" w="0">
            <a:noFill/>
          </a:ln>
        </p:spPr>
      </p:sp>
      <p:sp>
        <p:nvSpPr>
          <p:cNvPr id="10" name="future-joule-title">
            <a:extLst xmlns:a="http://schemas.openxmlformats.org/drawingml/2006/main">
              <a:ext uri="{FF2B5EF4-FFF2-40B4-BE49-F238E27FC236}">
                <a16:creationId xmlns:a16="http://schemas.microsoft.com/office/drawing/2014/main" id="{1F4C6E54-60A4-47B0-926A-4796A5CC01A9}"/>
              </a:ext>
            </a:extLst>
          </p:cNvPr>
          <p:cNvSpPr>
            <a:spLocks xmlns:a="http://schemas.openxmlformats.org/drawingml/2006/main" noGrp="1"/>
          </p:cNvSpPr>
          <p:nvPr/>
        </p:nvSpPr>
        <p:spPr>
          <a:xfrm xmlns:a="http://schemas.openxmlformats.org/drawingml/2006/main">
            <a:off x="5715000" y="236220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15304C"/>
                </a:solidFill>
                <a:latin typeface="Helvetica Neue"/>
                <a:ea typeface="Helvetica Neue"/>
                <a:cs typeface="Helvetica Neue"/>
              </a:defRPr>
            </a:pPr>
            <a:r>
              <a:rPr sz="2775" b="1">
                <a:solidFill>
                  <a:srgbClr val="15304C"/>
                </a:solidFill>
                <a:latin typeface="Helvetica Neue"/>
                <a:ea typeface="Helvetica Neue"/>
                <a:cs typeface="Helvetica Neue"/>
              </a:rPr>
              <a:t>Joule agents</a:t>
            </a:r>
          </a:p>
        </p:txBody>
      </p:sp>
      <p:sp>
        <p:nvSpPr>
          <p:cNvPr id="11" name="future-joule-detail">
            <a:extLst xmlns:a="http://schemas.openxmlformats.org/drawingml/2006/main">
              <a:ext uri="{FF2B5EF4-FFF2-40B4-BE49-F238E27FC236}">
                <a16:creationId xmlns:a16="http://schemas.microsoft.com/office/drawing/2014/main" id="{294C2F1D-FF1C-4942-9E78-7B18B11EAC41}"/>
              </a:ext>
            </a:extLst>
          </p:cNvPr>
          <p:cNvSpPr>
            <a:spLocks xmlns:a="http://schemas.openxmlformats.org/drawingml/2006/main" noGrp="1"/>
          </p:cNvSpPr>
          <p:nvPr/>
        </p:nvSpPr>
        <p:spPr>
          <a:xfrm xmlns:a="http://schemas.openxmlformats.org/drawingml/2006/main">
            <a:off x="5715000" y="3171825"/>
            <a:ext cx="37909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Read case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Check live SAP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Apply customer rules</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Choose the next step</a:t>
            </a:r>
          </a:p>
        </p:txBody>
      </p:sp>
      <p:cxnSp>
        <p:nvCxnSpPr>
          <p:cNvPr id="34" name=""/>
          <p:cNvCxnSpPr>
            <a:stCxn xmlns:a="http://schemas.openxmlformats.org/drawingml/2006/main" id="3" idx="3"/>
            <a:endCxn xmlns:a="http://schemas.openxmlformats.org/drawingml/2006/main" id="9" idx="1"/>
          </p:cNvCxnSpPr>
          <p:nvPr/>
        </p:nvCxnSpPr>
        <p:spPr>
          <a:xfrm xmlns:a="http://schemas.openxmlformats.org/drawingml/2006/main">
            <a:off x="4743450" y="3790950"/>
            <a:ext cx="723900" cy="0"/>
          </a:xfrm>
          <a:prstGeom xmlns:a="http://schemas.openxmlformats.org/drawingml/2006/main" prst="straightConnector1">
            <a:avLst/>
          </a:prstGeom>
          <a:ln xmlns:a="http://schemas.openxmlformats.org/drawingml/2006/main" w="28575">
            <a:solidFill>
              <a:srgbClr val="8097B1"/>
            </a:solidFill>
            <a:headEnd type="triangle" w="med" len="med"/>
            <a:tailEnd type="triangle" w="med" len="med"/>
          </a:ln>
        </p:spPr>
      </p:cxnSp>
      <p:sp>
        <p:nvSpPr>
          <p:cNvPr id="13" name="future-sap">
            <a:extLst xmlns:a="http://schemas.openxmlformats.org/drawingml/2006/main">
              <a:ext uri="{FF2B5EF4-FFF2-40B4-BE49-F238E27FC236}">
                <a16:creationId xmlns:a16="http://schemas.microsoft.com/office/drawing/2014/main" id="{E3E3A6D5-0F07-47A7-A4E3-585F1080EA89}"/>
              </a:ext>
            </a:extLst>
          </p:cNvPr>
          <p:cNvSpPr>
            <a:spLocks xmlns:a="http://schemas.openxmlformats.org/drawingml/2006/main" noGrp="1"/>
          </p:cNvSpPr>
          <p:nvPr/>
        </p:nvSpPr>
        <p:spPr>
          <a:xfrm xmlns:a="http://schemas.openxmlformats.org/drawingml/2006/main">
            <a:off x="10477500" y="2076450"/>
            <a:ext cx="4229100" cy="1552575"/>
          </a:xfrm>
          <a:prstGeom xmlns:a="http://schemas.openxmlformats.org/drawingml/2006/main" prst="roundRect">
            <a:avLst>
              <a:gd name="adj" fmla="val 7362"/>
            </a:avLst>
          </a:prstGeom>
          <a:solidFill xmlns:a="http://schemas.openxmlformats.org/drawingml/2006/main">
            <a:srgbClr val="E3EEFA"/>
          </a:solidFill>
          <a:ln xmlns:a="http://schemas.openxmlformats.org/drawingml/2006/main" w="0">
            <a:noFill/>
          </a:ln>
        </p:spPr>
      </p:sp>
      <p:sp>
        <p:nvSpPr>
          <p:cNvPr id="14" name="future-sap-title">
            <a:extLst xmlns:a="http://schemas.openxmlformats.org/drawingml/2006/main">
              <a:ext uri="{FF2B5EF4-FFF2-40B4-BE49-F238E27FC236}">
                <a16:creationId xmlns:a16="http://schemas.microsoft.com/office/drawing/2014/main" id="{E1CD6B99-AE5B-4A50-9851-DFFC3B733A13}"/>
              </a:ext>
            </a:extLst>
          </p:cNvPr>
          <p:cNvSpPr>
            <a:spLocks xmlns:a="http://schemas.openxmlformats.org/drawingml/2006/main" noGrp="1"/>
          </p:cNvSpPr>
          <p:nvPr/>
        </p:nvSpPr>
        <p:spPr>
          <a:xfrm xmlns:a="http://schemas.openxmlformats.org/drawingml/2006/main">
            <a:off x="10706100" y="228600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2F6095"/>
                </a:solidFill>
                <a:latin typeface="Helvetica Neue"/>
                <a:ea typeface="Helvetica Neue"/>
                <a:cs typeface="Helvetica Neue"/>
              </a:defRPr>
            </a:pPr>
            <a:r>
              <a:rPr sz="2325" b="1">
                <a:solidFill>
                  <a:srgbClr val="2F6095"/>
                </a:solidFill>
                <a:latin typeface="Helvetica Neue"/>
                <a:ea typeface="Helvetica Neue"/>
                <a:cs typeface="Helvetica Neue"/>
              </a:rPr>
              <a:t>Actions in SAP</a:t>
            </a:r>
          </a:p>
        </p:txBody>
      </p:sp>
      <p:sp>
        <p:nvSpPr>
          <p:cNvPr id="15" name="future-sap-detail">
            <a:extLst xmlns:a="http://schemas.openxmlformats.org/drawingml/2006/main">
              <a:ext uri="{FF2B5EF4-FFF2-40B4-BE49-F238E27FC236}">
                <a16:creationId xmlns:a16="http://schemas.microsoft.com/office/drawing/2014/main" id="{B55CCDF3-E2B0-4CF9-8A36-3DA2664C9F79}"/>
              </a:ext>
            </a:extLst>
          </p:cNvPr>
          <p:cNvSpPr>
            <a:spLocks xmlns:a="http://schemas.openxmlformats.org/drawingml/2006/main" noGrp="1"/>
          </p:cNvSpPr>
          <p:nvPr/>
        </p:nvSpPr>
        <p:spPr>
          <a:xfrm xmlns:a="http://schemas.openxmlformats.org/drawingml/2006/main">
            <a:off x="10706100" y="2876550"/>
            <a:ext cx="3771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Run permitted SAP steps</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Record the result</a:t>
            </a:r>
          </a:p>
        </p:txBody>
      </p:sp>
      <p:sp>
        <p:nvSpPr>
          <p:cNvPr id="16" name="future-human">
            <a:extLst xmlns:a="http://schemas.openxmlformats.org/drawingml/2006/main">
              <a:ext uri="{FF2B5EF4-FFF2-40B4-BE49-F238E27FC236}">
                <a16:creationId xmlns:a16="http://schemas.microsoft.com/office/drawing/2014/main" id="{D37ED153-0493-49A9-869D-48D7AE6BEBCF}"/>
              </a:ext>
            </a:extLst>
          </p:cNvPr>
          <p:cNvSpPr>
            <a:spLocks xmlns:a="http://schemas.openxmlformats.org/drawingml/2006/main" noGrp="1"/>
          </p:cNvSpPr>
          <p:nvPr/>
        </p:nvSpPr>
        <p:spPr>
          <a:xfrm xmlns:a="http://schemas.openxmlformats.org/drawingml/2006/main">
            <a:off x="10477500" y="3952875"/>
            <a:ext cx="4229100" cy="1552575"/>
          </a:xfrm>
          <a:prstGeom xmlns:a="http://schemas.openxmlformats.org/drawingml/2006/main" prst="roundRect">
            <a:avLst>
              <a:gd name="adj" fmla="val 7362"/>
            </a:avLst>
          </a:prstGeom>
          <a:solidFill xmlns:a="http://schemas.openxmlformats.org/drawingml/2006/main">
            <a:srgbClr val="FFF0D8"/>
          </a:solidFill>
          <a:ln xmlns:a="http://schemas.openxmlformats.org/drawingml/2006/main" w="0">
            <a:noFill/>
          </a:ln>
        </p:spPr>
      </p:sp>
      <p:sp>
        <p:nvSpPr>
          <p:cNvPr id="17" name="future-human-title">
            <a:extLst xmlns:a="http://schemas.openxmlformats.org/drawingml/2006/main">
              <a:ext uri="{FF2B5EF4-FFF2-40B4-BE49-F238E27FC236}">
                <a16:creationId xmlns:a16="http://schemas.microsoft.com/office/drawing/2014/main" id="{890907D6-0F8E-4F61-A447-DAC841890CE7}"/>
              </a:ext>
            </a:extLst>
          </p:cNvPr>
          <p:cNvSpPr>
            <a:spLocks xmlns:a="http://schemas.openxmlformats.org/drawingml/2006/main" noGrp="1"/>
          </p:cNvSpPr>
          <p:nvPr/>
        </p:nvSpPr>
        <p:spPr>
          <a:xfrm xmlns:a="http://schemas.openxmlformats.org/drawingml/2006/main">
            <a:off x="10706100" y="417195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8A6025"/>
                </a:solidFill>
                <a:latin typeface="Helvetica Neue"/>
                <a:ea typeface="Helvetica Neue"/>
                <a:cs typeface="Helvetica Neue"/>
              </a:defRPr>
            </a:pPr>
            <a:r>
              <a:rPr sz="2325" b="1">
                <a:solidFill>
                  <a:srgbClr val="8A6025"/>
                </a:solidFill>
                <a:latin typeface="Helvetica Neue"/>
                <a:ea typeface="Helvetica Neue"/>
                <a:cs typeface="Helvetica Neue"/>
              </a:rPr>
              <a:t>Human led Review</a:t>
            </a:r>
          </a:p>
        </p:txBody>
      </p:sp>
      <p:sp>
        <p:nvSpPr>
          <p:cNvPr id="18" name="future-human-detail">
            <a:extLst xmlns:a="http://schemas.openxmlformats.org/drawingml/2006/main">
              <a:ext uri="{FF2B5EF4-FFF2-40B4-BE49-F238E27FC236}">
                <a16:creationId xmlns:a16="http://schemas.microsoft.com/office/drawing/2014/main" id="{8BAB751D-A07E-4049-AF86-84CCC971D640}"/>
              </a:ext>
            </a:extLst>
          </p:cNvPr>
          <p:cNvSpPr>
            <a:spLocks xmlns:a="http://schemas.openxmlformats.org/drawingml/2006/main" noGrp="1"/>
          </p:cNvSpPr>
          <p:nvPr/>
        </p:nvSpPr>
        <p:spPr>
          <a:xfrm xmlns:a="http://schemas.openxmlformats.org/drawingml/2006/main">
            <a:off x="10706100" y="4724400"/>
            <a:ext cx="3771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Humans in the loop approve</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or carry out the SAP work.</a:t>
            </a:r>
          </a:p>
        </p:txBody>
      </p:sp>
      <p:cxnSp>
        <p:nvCxnSpPr>
          <p:cNvPr id="41" name=""/>
          <p:cNvCxnSpPr>
            <a:stCxn xmlns:a="http://schemas.openxmlformats.org/drawingml/2006/main" id="9" idx="3"/>
            <a:endCxn xmlns:a="http://schemas.openxmlformats.org/drawingml/2006/main" id="13" idx="1"/>
          </p:cNvCxnSpPr>
          <p:nvPr/>
        </p:nvCxnSpPr>
        <p:spPr>
          <a:xfrm xmlns:a="http://schemas.openxmlformats.org/drawingml/2006/main" flipV="1">
            <a:off x="9753600" y="2852738"/>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cxnSp>
        <p:nvCxnSpPr>
          <p:cNvPr id="42" name=""/>
          <p:cNvCxnSpPr>
            <a:stCxn xmlns:a="http://schemas.openxmlformats.org/drawingml/2006/main" id="9" idx="3"/>
            <a:endCxn xmlns:a="http://schemas.openxmlformats.org/drawingml/2006/main" id="16" idx="1"/>
          </p:cNvCxnSpPr>
          <p:nvPr/>
        </p:nvCxnSpPr>
        <p:spPr>
          <a:xfrm xmlns:a="http://schemas.openxmlformats.org/drawingml/2006/main">
            <a:off x="9753600" y="3790950"/>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graphicFrame>
        <p:nvGraphicFramePr>
          <p:cNvPr id="43" name=""/>
          <p:cNvGraphicFramePr/>
          <p:nvPr/>
        </p:nvGraphicFramePr>
        <p:xfrm>
          <a:off xmlns:a="http://schemas.openxmlformats.org/drawingml/2006/main" x="533400" y="6076950"/>
          <a:ext xmlns:a="http://schemas.openxmlformats.org/drawingml/2006/main" cx="14173200" cy="1676400"/>
        </p:xfrm>
        <a:graphic xmlns:a="http://schemas.openxmlformats.org/drawingml/2006/main">
          <a:graphicData uri="http://schemas.openxmlformats.org/drawingml/2006/table">
            <a:tbl>
              <a:tblPr firstRow="0" bandRow="0"/>
              <a:tblGrid>
                <a:gridCol w="3048000"/>
                <a:gridCol w="11125200"/>
              </a:tblGrid>
              <a:tr h="838200">
                <a:tc>
                  <a:txBody>
                    <a:bodyPr wrap="square">
                      <a:noAutofit/>
                    </a:bodyPr>
                    <a:lstStyle/>
                    <a:p>
                      <a:r>
                        <a:rPr sz="2100" b="1">
                          <a:solidFill>
                            <a:srgbClr val="FFFFFF"/>
                          </a:solidFill>
                          <a:latin typeface="Helvetica Neue"/>
                          <a:ea typeface="Helvetica Neue"/>
                          <a:cs typeface="Helvetica Neue"/>
                        </a:rPr>
                        <a:t>Reuse across clients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The app, API, case format and evaluation checks.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EAF0F8"/>
                    </a:solidFill>
                  </a:tcPr>
                </a:tc>
              </a:tr>
              <a:tr h="838200">
                <a:tc>
                  <a:txBody>
                    <a:bodyPr wrap="square">
                      <a:noAutofit/>
                    </a:bodyPr>
                    <a:lstStyle/>
                    <a:p>
                      <a:r>
                        <a:rPr sz="2100" b="1">
                          <a:solidFill>
                            <a:srgbClr val="FFFFFF"/>
                          </a:solidFill>
                          <a:latin typeface="Helvetica Neue"/>
                          <a:ea typeface="Helvetica Neue"/>
                          <a:cs typeface="Helvetica Neue"/>
                        </a:rPr>
                        <a:t>Set up per customer</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SAP connections, tools, permissions, approval rules and reviewed case history.</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FFFFFF"/>
                    </a:solidFill>
                  </a:tcPr>
                </a:tc>
              </a:tr>
            </a:tbl>
          </a:graphicData>
        </a:graphic>
      </p:graphicFrame>
      <p:sp>
        <p:nvSpPr>
          <p:cNvPr id="22" name="future-boundary">
            <a:extLst xmlns:a="http://schemas.openxmlformats.org/drawingml/2006/main">
              <a:ext uri="{FF2B5EF4-FFF2-40B4-BE49-F238E27FC236}">
                <a16:creationId xmlns:a16="http://schemas.microsoft.com/office/drawing/2014/main" id="{9C44F346-2D5D-45D3-BC17-80F1FB5342A2}"/>
              </a:ext>
            </a:extLst>
          </p:cNvPr>
          <p:cNvSpPr>
            <a:spLocks xmlns:a="http://schemas.openxmlformats.org/drawingml/2006/main" noGrp="1"/>
          </p:cNvSpPr>
          <p:nvPr/>
        </p:nvSpPr>
        <p:spPr>
          <a:xfrm xmlns:a="http://schemas.openxmlformats.org/drawingml/2006/main">
            <a:off x="533400" y="8115300"/>
            <a:ext cx="1417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52677F"/>
                </a:solidFill>
                <a:latin typeface="Helvetica Neue"/>
                <a:ea typeface="Helvetica Neue"/>
                <a:cs typeface="Helvetica Neue"/>
              </a:defRPr>
            </a:pPr>
            <a:r>
              <a:rPr sz="1725" b="0">
                <a:solidFill>
                  <a:srgbClr val="52677F"/>
                </a:solidFill>
                <a:latin typeface="Helvetica Neue"/>
                <a:ea typeface="Helvetica Neue"/>
                <a:cs typeface="Helvetica Neue"/>
              </a:rPr>
              <a:t>Joule integration is future work. SAP actions need current checks and customer approval rules.</a:t>
            </a:r>
          </a:p>
        </p:txBody>
      </p:sp>
    </p:spTree>
    <p:extLst>
      <p:ext uri="{BB962C8B-B14F-4D97-AF65-F5344CB8AC3E}">
        <p14:creationId xmlns:p14="http://schemas.microsoft.com/office/powerpoint/2010/main" val="514839243"/>
      </p:ext>
    </p:extLst>
  </p:cSld>
</p:sld>
</file>

<file path=ppt/slides/slide5.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DA54EF92-A76F-4D7C-8D55-CA652769D610}"/>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document, messages and values</a:t>
            </a:r>
          </a:p>
        </p:txBody>
      </p:sp>
      <p:sp>
        <p:nvSpPr>
          <p:cNvPr id="2" name="subtitle">
            <a:extLst xmlns:a="http://schemas.openxmlformats.org/drawingml/2006/main">
              <a:ext uri="{FF2B5EF4-FFF2-40B4-BE49-F238E27FC236}">
                <a16:creationId xmlns:a16="http://schemas.microsoft.com/office/drawing/2014/main" id="{5D808431-65B7-4200-AEFC-F7F196CA5F9E}"/>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Document 1900000421. All values, message codes and field paths below are fictional.</a:t>
            </a:r>
          </a:p>
        </p:txBody>
      </p:sp>
      <p:sp>
        <p:nvSpPr>
          <p:cNvPr id="3" name="aif-data-messages">
            <a:extLst xmlns:a="http://schemas.openxmlformats.org/drawingml/2006/main">
              <a:ext uri="{FF2B5EF4-FFF2-40B4-BE49-F238E27FC236}">
                <a16:creationId xmlns:a16="http://schemas.microsoft.com/office/drawing/2014/main" id="{A152D13B-9EC4-45EF-B061-F3E4C6E6610A}"/>
              </a:ext>
            </a:extLst>
          </p:cNvPr>
          <p:cNvSpPr>
            <a:spLocks xmlns:a="http://schemas.openxmlformats.org/drawingml/2006/main" noGrp="1"/>
          </p:cNvSpPr>
          <p:nvPr/>
        </p:nvSpPr>
        <p:spPr>
          <a:xfrm xmlns:a="http://schemas.openxmlformats.org/drawingml/2006/main">
            <a:off x="533400" y="1971675"/>
            <a:ext cx="6191250" cy="2838450"/>
          </a:xfrm>
          <a:prstGeom xmlns:a="http://schemas.openxmlformats.org/drawingml/2006/main" prst="roundRect">
            <a:avLst>
              <a:gd name="adj" fmla="val 4027"/>
            </a:avLst>
          </a:prstGeom>
          <a:solidFill xmlns:a="http://schemas.openxmlformats.org/drawingml/2006/main">
            <a:srgbClr val="FFFFFF"/>
          </a:solidFill>
          <a:ln xmlns:a="http://schemas.openxmlformats.org/drawingml/2006/main" w="0">
            <a:noFill/>
          </a:ln>
        </p:spPr>
      </p:sp>
      <p:sp>
        <p:nvSpPr>
          <p:cNvPr id="4" name="aif-data-messages-title">
            <a:extLst xmlns:a="http://schemas.openxmlformats.org/drawingml/2006/main">
              <a:ext uri="{FF2B5EF4-FFF2-40B4-BE49-F238E27FC236}">
                <a16:creationId xmlns:a16="http://schemas.microsoft.com/office/drawing/2014/main" id="{0FF2F213-0C9C-4129-A3A4-B55D12E1AA57}"/>
              </a:ext>
            </a:extLst>
          </p:cNvPr>
          <p:cNvSpPr>
            <a:spLocks xmlns:a="http://schemas.openxmlformats.org/drawingml/2006/main" noGrp="1"/>
          </p:cNvSpPr>
          <p:nvPr/>
        </p:nvSpPr>
        <p:spPr>
          <a:xfrm xmlns:a="http://schemas.openxmlformats.org/drawingml/2006/main">
            <a:off x="742950" y="2162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Messages</a:t>
            </a:r>
          </a:p>
        </p:txBody>
      </p:sp>
      <p:graphicFrame>
        <p:nvGraphicFramePr>
          <p:cNvPr id="25" name=""/>
          <p:cNvGraphicFramePr/>
          <p:nvPr/>
        </p:nvGraphicFramePr>
        <p:xfrm>
          <a:off xmlns:a="http://schemas.openxmlformats.org/drawingml/2006/main" x="742950" y="2619375"/>
          <a:ext xmlns:a="http://schemas.openxmlformats.org/drawingml/2006/main" cx="5772150" cy="2057400"/>
        </p:xfrm>
        <a:graphic xmlns:a="http://schemas.openxmlformats.org/drawingml/2006/main">
          <a:graphicData uri="http://schemas.openxmlformats.org/drawingml/2006/table">
            <a:tbl>
              <a:tblPr firstRow="0" bandRow="0"/>
              <a:tblGrid>
                <a:gridCol w="2457450"/>
                <a:gridCol w="3314700"/>
              </a:tblGrid>
              <a:tr h="342900">
                <a:tc>
                  <a:txBody>
                    <a:bodyPr wrap="square">
                      <a:noAutofit/>
                    </a:bodyPr>
                    <a:lstStyle/>
                    <a:p>
                      <a:r>
                        <a:rPr sz="1725" b="1">
                          <a:solidFill>
                            <a:srgbClr val="FFFFFF"/>
                          </a:solidFill>
                          <a:latin typeface="Helvetica Neue"/>
                          <a:ea typeface="Helvetica Neue"/>
                          <a:cs typeface="Helvetica Neue"/>
                        </a:rPr>
                        <a:t>Source document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1900000421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Source company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Fiscal year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2026</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Target / client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CFIN-DEMO / 100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Attempt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Reported status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6" name="aif-data-content">
            <a:extLst xmlns:a="http://schemas.openxmlformats.org/drawingml/2006/main">
              <a:ext uri="{FF2B5EF4-FFF2-40B4-BE49-F238E27FC236}">
                <a16:creationId xmlns:a16="http://schemas.microsoft.com/office/drawing/2014/main" id="{B96F4EDC-0F31-41F3-92C9-A96CB3B9DD25}"/>
              </a:ext>
            </a:extLst>
          </p:cNvPr>
          <p:cNvSpPr>
            <a:spLocks xmlns:a="http://schemas.openxmlformats.org/drawingml/2006/main" noGrp="1"/>
          </p:cNvSpPr>
          <p:nvPr/>
        </p:nvSpPr>
        <p:spPr>
          <a:xfrm xmlns:a="http://schemas.openxmlformats.org/drawingml/2006/main">
            <a:off x="533400" y="5019675"/>
            <a:ext cx="6191250" cy="3038475"/>
          </a:xfrm>
          <a:prstGeom xmlns:a="http://schemas.openxmlformats.org/drawingml/2006/main" prst="roundRect">
            <a:avLst>
              <a:gd name="adj" fmla="val 3762"/>
            </a:avLst>
          </a:prstGeom>
          <a:solidFill xmlns:a="http://schemas.openxmlformats.org/drawingml/2006/main">
            <a:srgbClr val="FFFFFF"/>
          </a:solidFill>
          <a:ln xmlns:a="http://schemas.openxmlformats.org/drawingml/2006/main" w="0">
            <a:noFill/>
          </a:ln>
        </p:spPr>
      </p:sp>
      <p:sp>
        <p:nvSpPr>
          <p:cNvPr id="7" name="aif-data-content-title">
            <a:extLst xmlns:a="http://schemas.openxmlformats.org/drawingml/2006/main">
              <a:ext uri="{FF2B5EF4-FFF2-40B4-BE49-F238E27FC236}">
                <a16:creationId xmlns:a16="http://schemas.microsoft.com/office/drawing/2014/main" id="{77F7C989-F0DA-4C33-8313-B32E9A27DFA6}"/>
              </a:ext>
            </a:extLst>
          </p:cNvPr>
          <p:cNvSpPr>
            <a:spLocks xmlns:a="http://schemas.openxmlformats.org/drawingml/2006/main" noGrp="1"/>
          </p:cNvSpPr>
          <p:nvPr/>
        </p:nvSpPr>
        <p:spPr>
          <a:xfrm xmlns:a="http://schemas.openxmlformats.org/drawingml/2006/main">
            <a:off x="742950" y="5210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Content</a:t>
            </a:r>
          </a:p>
        </p:txBody>
      </p:sp>
      <p:graphicFrame>
        <p:nvGraphicFramePr>
          <p:cNvPr id="28" name=""/>
          <p:cNvGraphicFramePr/>
          <p:nvPr/>
        </p:nvGraphicFramePr>
        <p:xfrm>
          <a:off xmlns:a="http://schemas.openxmlformats.org/drawingml/2006/main" x="742950" y="5676900"/>
          <a:ext xmlns:a="http://schemas.openxmlformats.org/drawingml/2006/main" cx="5772150" cy="2190750"/>
        </p:xfrm>
        <a:graphic xmlns:a="http://schemas.openxmlformats.org/drawingml/2006/main">
          <a:graphicData uri="http://schemas.openxmlformats.org/drawingml/2006/table">
            <a:tbl>
              <a:tblPr firstRow="0" bandRow="0"/>
              <a:tblGrid>
                <a:gridCol w="2457450"/>
                <a:gridCol w="3314700"/>
              </a:tblGrid>
              <a:tr h="438150">
                <a:tc>
                  <a:txBody>
                    <a:bodyPr wrap="square">
                      <a:noAutofit/>
                    </a:bodyPr>
                    <a:lstStyle/>
                    <a:p>
                      <a:r>
                        <a:rPr sz="1725" b="1">
                          <a:solidFill>
                            <a:srgbClr val="FFFFFF"/>
                          </a:solidFill>
                          <a:latin typeface="Helvetica Neue"/>
                          <a:ea typeface="Helvetica Neue"/>
                          <a:cs typeface="Helvetica Neue"/>
                        </a:rPr>
                        <a:t>Item</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0001</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Source G/L account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0000400000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Attempted target G/L</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0000410000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Target company</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2000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Debit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GBP 1,250.00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bl>
          </a:graphicData>
        </a:graphic>
      </p:graphicFrame>
      <p:sp>
        <p:nvSpPr>
          <p:cNvPr id="9" name="aif-log-messages">
            <a:extLst xmlns:a="http://schemas.openxmlformats.org/drawingml/2006/main">
              <a:ext uri="{FF2B5EF4-FFF2-40B4-BE49-F238E27FC236}">
                <a16:creationId xmlns:a16="http://schemas.microsoft.com/office/drawing/2014/main" id="{35441172-4A2F-4CB8-9893-86A87ADD1666}"/>
              </a:ext>
            </a:extLst>
          </p:cNvPr>
          <p:cNvSpPr>
            <a:spLocks xmlns:a="http://schemas.openxmlformats.org/drawingml/2006/main" noGrp="1"/>
          </p:cNvSpPr>
          <p:nvPr/>
        </p:nvSpPr>
        <p:spPr>
          <a:xfrm xmlns:a="http://schemas.openxmlformats.org/drawingml/2006/main">
            <a:off x="6953250" y="1971675"/>
            <a:ext cx="775335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0">
            <a:noFill/>
          </a:ln>
        </p:spPr>
      </p:sp>
      <p:sp>
        <p:nvSpPr>
          <p:cNvPr id="10" name="aif-log-messages-title">
            <a:extLst xmlns:a="http://schemas.openxmlformats.org/drawingml/2006/main">
              <a:ext uri="{FF2B5EF4-FFF2-40B4-BE49-F238E27FC236}">
                <a16:creationId xmlns:a16="http://schemas.microsoft.com/office/drawing/2014/main" id="{166E2CC0-F522-4B57-9263-F7019818E61E}"/>
              </a:ext>
            </a:extLst>
          </p:cNvPr>
          <p:cNvSpPr>
            <a:spLocks xmlns:a="http://schemas.openxmlformats.org/drawingml/2006/main" noGrp="1"/>
          </p:cNvSpPr>
          <p:nvPr/>
        </p:nvSpPr>
        <p:spPr>
          <a:xfrm xmlns:a="http://schemas.openxmlformats.org/drawingml/2006/main">
            <a:off x="7181850" y="2162175"/>
            <a:ext cx="7296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Log Messages</a:t>
            </a:r>
          </a:p>
        </p:txBody>
      </p:sp>
      <p:sp>
        <p:nvSpPr>
          <p:cNvPr id="11" name="aif-reported-error">
            <a:extLst xmlns:a="http://schemas.openxmlformats.org/drawingml/2006/main">
              <a:ext uri="{FF2B5EF4-FFF2-40B4-BE49-F238E27FC236}">
                <a16:creationId xmlns:a16="http://schemas.microsoft.com/office/drawing/2014/main" id="{3B50249B-AE58-4625-8E69-3278DF0C7D87}"/>
              </a:ext>
            </a:extLst>
          </p:cNvPr>
          <p:cNvSpPr>
            <a:spLocks xmlns:a="http://schemas.openxmlformats.org/drawingml/2006/main" noGrp="1"/>
          </p:cNvSpPr>
          <p:nvPr/>
        </p:nvSpPr>
        <p:spPr>
          <a:xfrm xmlns:a="http://schemas.openxmlformats.org/drawingml/2006/main">
            <a:off x="7181850" y="2705100"/>
            <a:ext cx="7296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“G/L account 0000410000 is not maintained</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in company code 2000.”</a:t>
            </a:r>
          </a:p>
        </p:txBody>
      </p:sp>
      <p:sp>
        <p:nvSpPr>
          <p:cNvPr id="12" name="aif-reported-outcome">
            <a:extLst xmlns:a="http://schemas.openxmlformats.org/drawingml/2006/main">
              <a:ext uri="{FF2B5EF4-FFF2-40B4-BE49-F238E27FC236}">
                <a16:creationId xmlns:a16="http://schemas.microsoft.com/office/drawing/2014/main" id="{94BF0163-897F-40AA-9B9F-C2236EE31C64}"/>
              </a:ext>
            </a:extLst>
          </p:cNvPr>
          <p:cNvSpPr>
            <a:spLocks xmlns:a="http://schemas.openxmlformats.org/drawingml/2006/main" noGrp="1"/>
          </p:cNvSpPr>
          <p:nvPr/>
        </p:nvSpPr>
        <p:spPr>
          <a:xfrm xmlns:a="http://schemas.openxmlformats.org/drawingml/2006/main">
            <a:off x="7181850" y="3495675"/>
            <a:ext cx="7296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Posting stopped for attempt 1.</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No target document reference was returned.</a:t>
            </a:r>
          </a:p>
        </p:txBody>
      </p:sp>
      <p:sp>
        <p:nvSpPr>
          <p:cNvPr id="13" name="aif-data-structure">
            <a:extLst xmlns:a="http://schemas.openxmlformats.org/drawingml/2006/main">
              <a:ext uri="{FF2B5EF4-FFF2-40B4-BE49-F238E27FC236}">
                <a16:creationId xmlns:a16="http://schemas.microsoft.com/office/drawing/2014/main" id="{ABDD32DB-C6CC-4F29-ABB5-FCF8DE10A768}"/>
              </a:ext>
            </a:extLst>
          </p:cNvPr>
          <p:cNvSpPr>
            <a:spLocks xmlns:a="http://schemas.openxmlformats.org/drawingml/2006/main" noGrp="1"/>
          </p:cNvSpPr>
          <p:nvPr/>
        </p:nvSpPr>
        <p:spPr>
          <a:xfrm xmlns:a="http://schemas.openxmlformats.org/drawingml/2006/main">
            <a:off x="6953250" y="4276725"/>
            <a:ext cx="7753350" cy="10858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14" name="aif-data-structure-title">
            <a:extLst xmlns:a="http://schemas.openxmlformats.org/drawingml/2006/main">
              <a:ext uri="{FF2B5EF4-FFF2-40B4-BE49-F238E27FC236}">
                <a16:creationId xmlns:a16="http://schemas.microsoft.com/office/drawing/2014/main" id="{FC2477A7-0377-488C-8379-47C93F9C8819}"/>
              </a:ext>
            </a:extLst>
          </p:cNvPr>
          <p:cNvSpPr>
            <a:spLocks xmlns:a="http://schemas.openxmlformats.org/drawingml/2006/main" noGrp="1"/>
          </p:cNvSpPr>
          <p:nvPr/>
        </p:nvSpPr>
        <p:spPr>
          <a:xfrm xmlns:a="http://schemas.openxmlformats.org/drawingml/2006/main">
            <a:off x="7181850" y="4448175"/>
            <a:ext cx="7296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Data Structure: error field link</a:t>
            </a:r>
          </a:p>
        </p:txBody>
      </p:sp>
      <p:sp>
        <p:nvSpPr>
          <p:cNvPr id="15" name="aif-field-path">
            <a:extLst xmlns:a="http://schemas.openxmlformats.org/drawingml/2006/main">
              <a:ext uri="{FF2B5EF4-FFF2-40B4-BE49-F238E27FC236}">
                <a16:creationId xmlns:a16="http://schemas.microsoft.com/office/drawing/2014/main" id="{FDDA388F-913E-4B5C-BD49-FB789FB9E0C7}"/>
              </a:ext>
            </a:extLst>
          </p:cNvPr>
          <p:cNvSpPr>
            <a:spLocks xmlns:a="http://schemas.openxmlformats.org/drawingml/2006/main" noGrp="1"/>
          </p:cNvSpPr>
          <p:nvPr/>
        </p:nvSpPr>
        <p:spPr>
          <a:xfrm xmlns:a="http://schemas.openxmlformats.org/drawingml/2006/main">
            <a:off x="7181850" y="4895850"/>
            <a:ext cx="729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Courier New"/>
                <a:ea typeface="Courier New"/>
                <a:cs typeface="Courier New"/>
              </a:defRPr>
            </a:pPr>
            <a:r>
              <a:rPr sz="2025" b="0">
                <a:solidFill>
                  <a:srgbClr val="15304C"/>
                </a:solidFill>
                <a:latin typeface="Courier New"/>
                <a:ea typeface="Courier New"/>
                <a:cs typeface="Courier New"/>
              </a:rPr>
              <a:t>Items[1].target_gl_account</a:t>
            </a:r>
          </a:p>
        </p:txBody>
      </p:sp>
      <p:sp>
        <p:nvSpPr>
          <p:cNvPr id="16" name="aif-error-details">
            <a:extLst xmlns:a="http://schemas.openxmlformats.org/drawingml/2006/main">
              <a:ext uri="{FF2B5EF4-FFF2-40B4-BE49-F238E27FC236}">
                <a16:creationId xmlns:a16="http://schemas.microsoft.com/office/drawing/2014/main" id="{10D6B13E-CDC9-4874-94CA-F9EA9433394A}"/>
              </a:ext>
            </a:extLst>
          </p:cNvPr>
          <p:cNvSpPr>
            <a:spLocks xmlns:a="http://schemas.openxmlformats.org/drawingml/2006/main" noGrp="1"/>
          </p:cNvSpPr>
          <p:nvPr/>
        </p:nvSpPr>
        <p:spPr>
          <a:xfrm xmlns:a="http://schemas.openxmlformats.org/drawingml/2006/main">
            <a:off x="6953250" y="5534025"/>
            <a:ext cx="775335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0">
            <a:noFill/>
          </a:ln>
        </p:spPr>
      </p:sp>
      <p:sp>
        <p:nvSpPr>
          <p:cNvPr id="17" name="aif-error-details-title">
            <a:extLst xmlns:a="http://schemas.openxmlformats.org/drawingml/2006/main">
              <a:ext uri="{FF2B5EF4-FFF2-40B4-BE49-F238E27FC236}">
                <a16:creationId xmlns:a16="http://schemas.microsoft.com/office/drawing/2014/main" id="{EA4647BC-41BA-41C0-8286-276255921BD5}"/>
              </a:ext>
            </a:extLst>
          </p:cNvPr>
          <p:cNvSpPr>
            <a:spLocks xmlns:a="http://schemas.openxmlformats.org/drawingml/2006/main" noGrp="1"/>
          </p:cNvSpPr>
          <p:nvPr/>
        </p:nvSpPr>
        <p:spPr>
          <a:xfrm xmlns:a="http://schemas.openxmlformats.org/drawingml/2006/main">
            <a:off x="7181850" y="5715000"/>
            <a:ext cx="729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Error details</a:t>
            </a:r>
          </a:p>
        </p:txBody>
      </p:sp>
      <p:graphicFrame>
        <p:nvGraphicFramePr>
          <p:cNvPr id="38" name=""/>
          <p:cNvGraphicFramePr/>
          <p:nvPr/>
        </p:nvGraphicFramePr>
        <p:xfrm>
          <a:off xmlns:a="http://schemas.openxmlformats.org/drawingml/2006/main" x="7181850" y="6191250"/>
          <a:ext xmlns:a="http://schemas.openxmlformats.org/drawingml/2006/main" cx="7296150" cy="1409700"/>
        </p:xfrm>
        <a:graphic xmlns:a="http://schemas.openxmlformats.org/drawingml/2006/main">
          <a:graphicData uri="http://schemas.openxmlformats.org/drawingml/2006/table">
            <a:tbl>
              <a:tblPr firstRow="0" bandRow="0"/>
              <a:tblGrid>
                <a:gridCol w="2076450"/>
                <a:gridCol w="5219700"/>
              </a:tblGrid>
              <a:tr h="352425">
                <a:tc>
                  <a:txBody>
                    <a:bodyPr wrap="square">
                      <a:noAutofit/>
                    </a:bodyPr>
                    <a:lstStyle/>
                    <a:p>
                      <a:r>
                        <a:rPr sz="1725" b="1">
                          <a:solidFill>
                            <a:srgbClr val="FFFFFF"/>
                          </a:solidFill>
                          <a:latin typeface="Helvetica Neue"/>
                          <a:ea typeface="Helvetica Neue"/>
                          <a:cs typeface="Helvetica Neue"/>
                        </a:rPr>
                        <a:t>MSGTY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 (Error)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MSGID</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Z_DEMO_CFIN</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52425">
                <a:tc>
                  <a:txBody>
                    <a:bodyPr wrap="square">
                      <a:noAutofit/>
                    </a:bodyPr>
                    <a:lstStyle/>
                    <a:p>
                      <a:r>
                        <a:rPr sz="1725" b="1">
                          <a:solidFill>
                            <a:srgbClr val="FFFFFF"/>
                          </a:solidFill>
                          <a:latin typeface="Helvetica Neue"/>
                          <a:ea typeface="Helvetica Neue"/>
                          <a:cs typeface="Helvetica Neue"/>
                        </a:rPr>
                        <a:t>MSGNO</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001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Message values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Account 0000410000, company 2000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19" name="aif-template-note">
            <a:extLst xmlns:a="http://schemas.openxmlformats.org/drawingml/2006/main">
              <a:ext uri="{FF2B5EF4-FFF2-40B4-BE49-F238E27FC236}">
                <a16:creationId xmlns:a16="http://schemas.microsoft.com/office/drawing/2014/main" id="{C6DDF51D-AA1A-401B-9AA2-8411F3723D60}"/>
              </a:ext>
            </a:extLst>
          </p:cNvPr>
          <p:cNvSpPr>
            <a:spLocks xmlns:a="http://schemas.openxmlformats.org/drawingml/2006/main" noGrp="1"/>
          </p:cNvSpPr>
          <p:nvPr/>
        </p:nvSpPr>
        <p:spPr>
          <a:xfrm xmlns:a="http://schemas.openxmlformats.org/drawingml/2006/main">
            <a:off x="7181850" y="7772400"/>
            <a:ext cx="7296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Exact template and MSGV1–MSGV4 order are not shown here.</a:t>
            </a:r>
          </a:p>
        </p:txBody>
      </p:sp>
      <p:sp>
        <p:nvSpPr>
          <p:cNvPr id="20" name="aif-example-limit">
            <a:extLst xmlns:a="http://schemas.openxmlformats.org/drawingml/2006/main">
              <a:ext uri="{FF2B5EF4-FFF2-40B4-BE49-F238E27FC236}">
                <a16:creationId xmlns:a16="http://schemas.microsoft.com/office/drawing/2014/main" id="{7429FCCD-A5B4-4814-A6B5-4FC8FAFF6EF5}"/>
              </a:ext>
            </a:extLst>
          </p:cNvPr>
          <p:cNvSpPr>
            <a:spLocks xmlns:a="http://schemas.openxmlformats.org/drawingml/2006/main" noGrp="1"/>
          </p:cNvSpPr>
          <p:nvPr/>
        </p:nvSpPr>
        <p:spPr>
          <a:xfrm xmlns:a="http://schemas.openxmlformats.org/drawingml/2006/main">
            <a:off x="533400" y="8277225"/>
            <a:ext cx="1417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425" b="0">
                <a:solidFill>
                  <a:srgbClr val="52677F"/>
                </a:solidFill>
                <a:latin typeface="Helvetica Neue"/>
                <a:ea typeface="Helvetica Neue"/>
                <a:cs typeface="Helvetica Neue"/>
              </a:defRPr>
            </a:pPr>
            <a:r>
              <a:rPr sz="1425" b="0">
                <a:solidFill>
                  <a:srgbClr val="52677F"/>
                </a:solidFill>
                <a:latin typeface="Helvetica Neue"/>
                <a:ea typeface="Helvetica Neue"/>
                <a:cs typeface="Helvetica Neue"/>
              </a:rPr>
              <a:t>Synthetic teaching example, not an SAP export. Error details are message metadata, not a universal fifth tab.</a:t>
            </a:r>
          </a:p>
        </p:txBody>
      </p:sp>
    </p:spTree>
    <p:extLst>
      <p:ext uri="{BB962C8B-B14F-4D97-AF65-F5344CB8AC3E}">
        <p14:creationId xmlns:p14="http://schemas.microsoft.com/office/powerpoint/2010/main" val="1420563769"/>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E4C7CB4-1597-4C67-8373-5BFE18FBB8AE}"/>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full log used in development</a:t>
            </a:r>
          </a:p>
        </p:txBody>
      </p:sp>
      <p:sp>
        <p:nvSpPr>
          <p:cNvPr id="2" name="subtitle">
            <a:extLst xmlns:a="http://schemas.openxmlformats.org/drawingml/2006/main">
              <a:ext uri="{FF2B5EF4-FFF2-40B4-BE49-F238E27FC236}">
                <a16:creationId xmlns:a16="http://schemas.microsoft.com/office/drawing/2014/main" id="{FFFCF4CA-33C5-4A02-B91A-1C428AD5BA30}"/>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MD-01, document 0000123456. Synthetic application log, not an SAP export.</a:t>
            </a:r>
          </a:p>
        </p:txBody>
      </p:sp>
      <p:sp>
        <p:nvSpPr>
          <p:cNvPr id="3" name="full-original-log">
            <a:extLst xmlns:a="http://schemas.openxmlformats.org/drawingml/2006/main">
              <a:ext uri="{FF2B5EF4-FFF2-40B4-BE49-F238E27FC236}">
                <a16:creationId xmlns:a16="http://schemas.microsoft.com/office/drawing/2014/main" id="{1BF0339E-BAF8-4018-825A-6312096DC1D8}"/>
              </a:ext>
            </a:extLst>
          </p:cNvPr>
          <p:cNvSpPr>
            <a:spLocks xmlns:a="http://schemas.openxmlformats.org/drawingml/2006/main" noGrp="1"/>
          </p:cNvSpPr>
          <p:nvPr/>
        </p:nvSpPr>
        <p:spPr>
          <a:xfrm xmlns:a="http://schemas.openxmlformats.org/drawingml/2006/main">
            <a:off x="533400" y="1952625"/>
            <a:ext cx="14173200" cy="6067425"/>
          </a:xfrm>
          <a:prstGeom xmlns:a="http://schemas.openxmlformats.org/drawingml/2006/main" prst="roundRect">
            <a:avLst>
              <a:gd name="adj" fmla="val 1884"/>
            </a:avLst>
          </a:prstGeom>
          <a:solidFill xmlns:a="http://schemas.openxmlformats.org/drawingml/2006/main">
            <a:srgbClr val="15304C"/>
          </a:solidFill>
          <a:ln xmlns:a="http://schemas.openxmlformats.org/drawingml/2006/main" w="0">
            <a:noFill/>
          </a:ln>
        </p:spPr>
      </p:sp>
      <p:sp>
        <p:nvSpPr>
          <p:cNvPr id="4" name="full-original-log-text">
            <a:extLst xmlns:a="http://schemas.openxmlformats.org/drawingml/2006/main">
              <a:ext uri="{FF2B5EF4-FFF2-40B4-BE49-F238E27FC236}">
                <a16:creationId xmlns:a16="http://schemas.microsoft.com/office/drawing/2014/main" id="{48A663B2-E128-4453-B1F9-9ECE7A3EA7DD}"/>
              </a:ext>
            </a:extLst>
          </p:cNvPr>
          <p:cNvSpPr>
            <a:spLocks xmlns:a="http://schemas.openxmlformats.org/drawingml/2006/main" noGrp="1"/>
          </p:cNvSpPr>
          <p:nvPr/>
        </p:nvSpPr>
        <p:spPr>
          <a:xfrm xmlns:a="http://schemas.openxmlformats.org/drawingml/2006/main">
            <a:off x="762000" y="2133600"/>
            <a:ext cx="13716000" cy="571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SYNTHETIC FIXTURE — MD-01; fictional application log, not an SAP export.</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No SAP release, message class, message number, or product-specific interface semantics are asserted.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attempt_id=MD01-0001 | processing_order=1 | event=replication_started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source_system=ERP-DEMO | source_client=010 | source_company_code=0010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fiscal_year=2026 | document_number=0000123456 | source_status=posted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source_posting_date=2026-09-30 | source_posted_at=2026-09-30T08:45:00Z</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target_system=CFIN-DEMO | target_client=100 | target_company_code=0010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interface=DEMO_CFIN_GL | target_chart_of_accounts=SYN1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source_line=0001 | source_account=0000400000 | debit=1250.00 | credit=0.00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source_line=0002 | source_account=0000200000 | debit=0.00 | credit=1250.00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synthetic_message_id=DEMO_GL_LOOKUP_FAILURE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Observed target lookup: G/L account 0041001000 could not be located for chart SYN1 in CFIN-DEMO/100.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Requested posting company code: 0010. Requested target line: 0001.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synthetic_message_id=DEMO_POSTING_STOPPED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 posting stopped for this attempt; no target document reference was returned.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event=replication_finished | result=failed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Evidence is limited to this attempt. Error wording alone does not establish an approved diagnosis.</a:t>
            </a:r>
          </a:p>
        </p:txBody>
      </p:sp>
      <p:sp>
        <p:nvSpPr>
          <p:cNvPr id="5" name="full-log-note">
            <a:extLst xmlns:a="http://schemas.openxmlformats.org/drawingml/2006/main">
              <a:ext uri="{FF2B5EF4-FFF2-40B4-BE49-F238E27FC236}">
                <a16:creationId xmlns:a16="http://schemas.microsoft.com/office/drawing/2014/main" id="{AC3156FB-91D2-422F-ADD2-AB2CAA42F3D4}"/>
              </a:ext>
            </a:extLst>
          </p:cNvPr>
          <p:cNvSpPr>
            <a:spLocks xmlns:a="http://schemas.openxmlformats.org/drawingml/2006/main" noGrp="1"/>
          </p:cNvSpPr>
          <p:nvPr/>
        </p:nvSpPr>
        <p:spPr>
          <a:xfrm xmlns:a="http://schemas.openxmlformats.org/drawingml/2006/main">
            <a:off x="533400" y="8201025"/>
            <a:ext cx="14173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0">
                <a:solidFill>
                  <a:srgbClr val="52677F"/>
                </a:solidFill>
                <a:latin typeface="Helvetica Neue"/>
                <a:ea typeface="Helvetica Neue"/>
                <a:cs typeface="Helvetica Neue"/>
              </a:defRPr>
            </a:pPr>
            <a:r>
              <a:rPr sz="1575" b="0">
                <a:solidFill>
                  <a:srgbClr val="52677F"/>
                </a:solidFill>
                <a:latin typeface="Helvetica Neue"/>
                <a:ea typeface="Helvetica Neue"/>
                <a:cs typeface="Helvetica Neue"/>
              </a:rPr>
              <a:t>Complete original shown. This is a different synthetic example from the multi-view case on the previous slide.</a:t>
            </a:r>
          </a:p>
        </p:txBody>
      </p:sp>
    </p:spTree>
    <p:extLst>
      <p:ext uri="{BB962C8B-B14F-4D97-AF65-F5344CB8AC3E}">
        <p14:creationId xmlns:p14="http://schemas.microsoft.com/office/powerpoint/2010/main" val="9263034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2026-10-02T14:12:46.4160000Z</dcterms:created>
  <dcterms:modified xsi:type="dcterms:W3CDTF">2026-10-02T14:12:46.4160000Z</dcterms:modified>
</coreProperties>
</file>