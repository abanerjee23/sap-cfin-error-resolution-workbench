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f0102c5dce416c" /><Relationship Type="http://schemas.openxmlformats.org/officeDocument/2006/relationships/extended-properties" Target="/docProps/app.xml" Id="Rd45e4f1f8ba74076" /><Relationship Type="http://schemas.openxmlformats.org/officeDocument/2006/relationships/officeDocument" Target="/ppt/presentation.xml" Id="Rf0f5c6e7a3f04eb6" /></Relationships>
</file>

<file path=ppt/presentation.xml><?xml version="1.0" encoding="utf-8"?>
<p:presentation xmlns:p="http://schemas.openxmlformats.org/presentationml/2006/main">
  <p:sldMasterIdLst>
    <p:sldMasterId xmlns:r="http://schemas.openxmlformats.org/officeDocument/2006/relationships" id="2147483648" r:id="R80c0abc9d7164218"/>
  </p:sldMasterIdLst>
  <p:notesMasterIdLst>
    <p:notesMasterId xmlns:r="http://schemas.openxmlformats.org/officeDocument/2006/relationships" r:id="Rd65c9482be794fe5"/>
  </p:notesMasterIdLst>
  <p:sldIdLst>
    <p:sldId xmlns:r="http://schemas.openxmlformats.org/officeDocument/2006/relationships" id="256" r:id="R0419fe8f777e4528"/>
    <p:sldId xmlns:r="http://schemas.openxmlformats.org/officeDocument/2006/relationships" id="257" r:id="Rf75791184bd840e1"/>
    <p:sldId xmlns:r="http://schemas.openxmlformats.org/officeDocument/2006/relationships" id="258" r:id="Rfc971cb2b59048d3"/>
    <p:sldId xmlns:r="http://schemas.openxmlformats.org/officeDocument/2006/relationships" id="259" r:id="R4aa0195eefa14a1d"/>
    <p:sldId xmlns:r="http://schemas.openxmlformats.org/officeDocument/2006/relationships" id="260" r:id="Rf105b040f0cc4e8c"/>
    <p:sldId xmlns:r="http://schemas.openxmlformats.org/officeDocument/2006/relationships" id="261" r:id="R1b17cca36cdf4a7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814bd2e3c74296" /><Relationship Type="http://schemas.openxmlformats.org/officeDocument/2006/relationships/slideMaster" Target="/ppt/slideMasters/slideMaster1.xml" Id="R80c0abc9d7164218" /><Relationship Type="http://schemas.openxmlformats.org/officeDocument/2006/relationships/notesMaster" Target="/ppt/notesMasters/notesMaster1.xml" Id="Rd65c9482be794fe5" /><Relationship Type="http://schemas.openxmlformats.org/officeDocument/2006/relationships/presProps" Target="/ppt/presProps.xml" Id="Rcd77194484f64e59" /><Relationship Type="http://schemas.openxmlformats.org/officeDocument/2006/relationships/tableStyles" Target="/ppt/tableStyles.xml" Id="Rcdc6d5b601154b2f" /><Relationship Type="http://schemas.openxmlformats.org/officeDocument/2006/relationships/slide" Target="/ppt/slides/slide1.xml" Id="R0419fe8f777e4528" /><Relationship Type="http://schemas.openxmlformats.org/officeDocument/2006/relationships/slide" Target="/ppt/slides/slide2.xml" Id="Rf75791184bd840e1" /><Relationship Type="http://schemas.openxmlformats.org/officeDocument/2006/relationships/slide" Target="/ppt/slides/slide3.xml" Id="Rfc971cb2b59048d3" /><Relationship Type="http://schemas.openxmlformats.org/officeDocument/2006/relationships/slide" Target="/ppt/slides/slide4.xml" Id="R4aa0195eefa14a1d" /><Relationship Type="http://schemas.openxmlformats.org/officeDocument/2006/relationships/slide" Target="/ppt/slides/slide5.xml" Id="Rf105b040f0cc4e8c" /><Relationship Type="http://schemas.openxmlformats.org/officeDocument/2006/relationships/slide" Target="/ppt/slides/slide6.xml" Id="R1b17cca36cdf4a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b4c803344643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4aca4e9c9a4682" /><Relationship Type="http://schemas.openxmlformats.org/officeDocument/2006/relationships/notesMaster" Target="/ppt/notesMasters/notesMaster1.xml" Id="Rebdfc0aae6e64e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f1d8ac1d0741a9" /><Relationship Type="http://schemas.openxmlformats.org/officeDocument/2006/relationships/notesMaster" Target="/ppt/notesMasters/notesMaster1.xml" Id="R7c93c0725bea48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60961567d343fc" /><Relationship Type="http://schemas.openxmlformats.org/officeDocument/2006/relationships/notesMaster" Target="/ppt/notesMasters/notesMaster1.xml" Id="R7084e39d0e9240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a25dc9537f472e" /><Relationship Type="http://schemas.openxmlformats.org/officeDocument/2006/relationships/notesMaster" Target="/ppt/notesMasters/notesMaster1.xml" Id="R849df452399b45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4558bc325b45c1" /><Relationship Type="http://schemas.openxmlformats.org/officeDocument/2006/relationships/notesMaster" Target="/ppt/notesMasters/notesMaster1.xml" Id="Rf9c5e2bffb004e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b8c75dbe1f4ab3" /><Relationship Type="http://schemas.openxmlformats.org/officeDocument/2006/relationships/notesMaster" Target="/ppt/notesMasters/notesMaster1.xml" Id="R34994f9ef8e443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reads the AIF logs that are uploaded and prepares a case to help investigate the reported CFIN error. The original remains available and the summary links back to it. The app does not decide the root cause, suggest a fix or run SAP transactions. Human led Review checks the summary and records findings and outcomes. Humans in the loop retain responsibility for investigation and action. There are two key things to note: development uses synthetic AIF data, and the app is not integrated with an SAP system today.</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app architecture. The supplied AIF log enters code-managed intake, which keeps the original unchanged. Agent 1 extracts it, Agent 2 selects the evidence, and Agent 3 writes the case summary. Code saves the case and exposes saved data through the read API. Human led Review checks the case, investigates and records the result. The learning loop is explicit: Human led Review approves findings for the case library, and Agent 3 can use eligible reviewed cases in later summaries. Humans in the loop control what becomes reusable history. History informs context; it is not proof of the current root cause or automatic model retraining. The factual workflow and read API are implemented and locally verified; model-quality acceptance and intended-environment release checks remain.</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separates each input from its output. All current-case facts come from the supplied log. Extraction captures the content; selection focuses the evidence; summary makes it readable. The case retains its original log and source links. Human led Review is the control point: Humans in the loop check the summary, investigate in their SAP system outside this app, and record what changed or why no change was needed. Approved findings enter reviewed case history and can be retrieved by Agent 3 in a later case. Completing a case does not automatically approve knowledge reuse. The starting model for Agent 1 is GPT-6 Luna, and Agents 2 and 3 use GPT-6.1 Sol. These are benchmarks to evaluate, not a claim of proven superiority.</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customer-configured Joule agent could call the app API, read the saved case and original evidence, and check current information in the customer SAP system. It could then run a permitted SAP step or send the work to Human led Review. Humans in the loop approve or carry out actions where the customer workflow requires it. The reusable asset remains the CFIN app, case format, API and evaluation checks; SAP tools, permissions, approval rules and reviewed history are configured per customer. Customer data remains separate. Joule integration and SAP actions are future work, and app API read access grants no SAP write authority. The app has no SAP integration today.</a:t>
            </a:r>
          </a:p>
          <a:p xmlns:a="http://schemas.openxmlformats.org/drawingml/2006/main">
            <a:r>
              <a:t/>
            </a:r>
          </a:p>
          <a:p xmlns:a="http://schemas.openxmlformats.org/drawingml/2006/main">
            <a:r>
              <a:t>Sources: README.md case JSON API and Joule integration sections; BUILD.md. Official SAP example of agents using skills as tools, actions and destinations: https://developers.sap.com/tutorials/joulestudio-agent-create/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fictional multi-view AIF teaching example in README.md, now shown with its concrete values rather than only view descriptions. Data Messages identifies source document 1900000421, company 1000, fiscal year 2026, target CFIN-DEMO/100 and error attempt 1. Log Messages reports an account-maintenance error for G/L 0000410000 and company 2000, stopped posting, and no returned target document reference. Data Structure supplies the explicit link Items[1].target_gl_account. Data Content retains item 0001, source account 0000400000, attempted target 0000410000, company 2000 and GBP 1,250.00 debit. Error details preserves fictional MSGID Z_DEMO_CFIN, MSGNO 001 and MSGTY E. The example associates the account and company with message values but does not show the exact template or ordered MSGV1–MSGV4 slots, so these are not invented. AIF can include long text and message details, but none is invented for this example. The log describes what was reported for this attempt; it does not independently establish root cause, mapping correctness, a fix, current SAP state or a later outcome.</a:t>
            </a:r>
          </a:p>
          <a:p xmlns:a="http://schemas.openxmlformats.org/drawingml/2006/main">
            <a:r>
              <a:t/>
            </a:r>
          </a:p>
          <a:p xmlns:a="http://schemas.openxmlformats.org/drawingml/2006/main">
            <a:r>
              <a:t>Local source: README.md, Understanding the AIF log and How the views fit together: one fictional error. Official sources for AIF view concepts: https://help.sap.com/docs/ABAP_PLATFORM_NEW/4db1676c3f114f119b500bd80ccd944d/4ff5e0047b0a4351bd963640c680caec.html?version=latest ; https://help.sap.com/docs/SAP_APPLICATION_INTERFACE_FRAMEWORK/1cefaed5b7a3471cb08564e54d5ba866/2e733c049ad7445584ae7adbc7900c69.html ; https://help.sap.com/docs/ABAP_PLATFORM_NEW/4db1676c3f114f119b500bd80ccd944d/ed18d1cc52c447f78a2e26195f7cb450.html?locale=en-US&amp;state=PRODUCTION&amp;version=202110.002 ; https://help.sap.com/docs/ABAP_PLATFORM_NEW/4db1676c3f114f119b500bd80ccd944d/73ac69e929734790ab6c554c30f14e0f.html?locale=en-US&amp;state=PRODUCTION&amp;version=202310.002 ; https://help.sap.com/docs/SAP_NETWEAVER_750/addb96cd90c945dfb3182865363bbc47/4e2106b735d44180e10000000a15822b.html?locale=en-US&amp;state=PRODUCTION&amp;version=7.5.27 . Sources span releases and were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17-line MD-01 synthetic development log from fixtures/MD-01/agent-visible/original-log.txt. No source lines have been omitted. It is a fictional application log, not a verified SAP AIF export. It is separate from the preceding teaching case. It contains the attempt and timestamp, source and target identifiers, source posting state, chart, both accounting lines and amounts, the reported lookup error, requested company and target line, stopped posting, and the explicit limit to this attempt. The original is preserved unchanged in the application. Missing SAP release semantics, real message class/number, template, long text or mapping evidence must not be inferred from this fixture. Human led Review can inspect this original when checking the summary. Humans in the loop record later investigation and outcomes separately.</a:t>
            </a:r>
          </a:p>
          <a:p xmlns:a="http://schemas.openxmlformats.org/drawingml/2006/main">
            <a:r>
              <a:t/>
            </a:r>
          </a:p>
          <a:p xmlns:a="http://schemas.openxmlformats.org/drawingml/2006/main">
            <a:r>
              <a:t>Source: fixtures/MD-01/agent-visible/original-log.txt, complete content,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bbdac21a6e4e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f4da70038241e4" /><Relationship Type="http://schemas.openxmlformats.org/officeDocument/2006/relationships/slideLayout" Target="/ppt/slideLayouts/slideLayout1.xml" Id="R369c60f69cb147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9c60f69cb147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c405fa3aa242aa" /><Relationship Type="http://schemas.openxmlformats.org/officeDocument/2006/relationships/notesSlide" Target="/ppt/notesSlides/notesSlide1.xml" Id="Rccc0725a91e442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d3c7ad301e4185" /><Relationship Type="http://schemas.openxmlformats.org/officeDocument/2006/relationships/notesSlide" Target="/ppt/notesSlides/notesSlide2.xml" Id="Re0f705f9959d4f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00d8f271d7455e" /><Relationship Type="http://schemas.openxmlformats.org/officeDocument/2006/relationships/notesSlide" Target="/ppt/notesSlides/notesSlide3.xml" Id="R0e8b6816113f46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80940021db4380" /><Relationship Type="http://schemas.openxmlformats.org/officeDocument/2006/relationships/notesSlide" Target="/ppt/notesSlides/notesSlide4.xml" Id="R0e8eba5c90944b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603464c9b34626" /><Relationship Type="http://schemas.openxmlformats.org/officeDocument/2006/relationships/notesSlide" Target="/ppt/notesSlides/notesSlide5.xml" Id="Rf924af6fa68f43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860da003324d5f" /><Relationship Type="http://schemas.openxmlformats.org/officeDocument/2006/relationships/notesSlide" Target="/ppt/notesSlides/notesSlide6.xml" Id="Rb9cbc81ad8ea4890" /></Relationships>
</file>

<file path=ppt/slides/slide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9B68F22-4911-43E3-8361-6F9F97B6B58A}"/>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SAP CFIN error log assistant</a:t>
            </a:r>
          </a:p>
        </p:txBody>
      </p:sp>
      <p:sp>
        <p:nvSpPr>
          <p:cNvPr id="2" name="subtitle">
            <a:extLst xmlns:a="http://schemas.openxmlformats.org/drawingml/2006/main">
              <a:ext uri="{FF2B5EF4-FFF2-40B4-BE49-F238E27FC236}">
                <a16:creationId xmlns:a16="http://schemas.microsoft.com/office/drawing/2014/main" id="{DE992D93-A5B9-4B0A-A419-7C76C3795681}"/>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Read uploaded AIF logs. Create a clear case for investigation.</a:t>
            </a:r>
          </a:p>
        </p:txBody>
      </p:sp>
      <p:graphicFrame>
        <p:nvGraphicFramePr>
          <p:cNvPr id="10" name=""/>
          <p:cNvGraphicFramePr/>
          <p:nvPr/>
        </p:nvGraphicFramePr>
        <p:xfrm>
          <a:off xmlns:a="http://schemas.openxmlformats.org/drawingml/2006/main" x="533400" y="2028825"/>
          <a:ext xmlns:a="http://schemas.openxmlformats.org/drawingml/2006/main" cx="14173200" cy="3429000"/>
        </p:xfrm>
        <a:graphic xmlns:a="http://schemas.openxmlformats.org/drawingml/2006/main">
          <a:graphicData uri="http://schemas.openxmlformats.org/drawingml/2006/table">
            <a:tbl>
              <a:tblPr firstRow="0" bandRow="0"/>
              <a:tblGrid>
                <a:gridCol w="3048000"/>
                <a:gridCol w="11125200"/>
              </a:tblGrid>
              <a:tr h="1333500">
                <a:tc>
                  <a:txBody>
                    <a:bodyPr wrap="square">
                      <a:noAutofit/>
                    </a:bodyPr>
                    <a:lstStyle/>
                    <a:p>
                      <a:r>
                        <a:rPr sz="2250" b="1">
                          <a:solidFill>
                            <a:srgbClr val="FFFFFF"/>
                          </a:solidFill>
                          <a:latin typeface="Helvetica Neue"/>
                          <a:ea typeface="Helvetica Neue"/>
                          <a:cs typeface="Helvetica Neue"/>
                        </a:rPr>
                        <a:t>What the app does</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15304C"/>
                    </a:solidFill>
                  </a:tcPr>
                </a:tc>
                <a:tc>
                  <a:txBody>
                    <a:bodyPr wrap="square">
                      <a:noAutofit/>
                    </a:bodyPr>
                    <a:lstStyle/>
                    <a:p>
                      <a:r>
                        <a:rPr sz="2250" b="0">
                          <a:solidFill>
                            <a:srgbClr val="15304C"/>
                          </a:solidFill>
                          <a:latin typeface="Helvetica Neue"/>
                          <a:ea typeface="Helvetica Neue"/>
                          <a:cs typeface="Helvetica Neue"/>
                        </a:rPr>
                        <a:t>Turns uploaded AIF logs into a case showing the reported error, document details, key values and posting outcome. Keeps the original log and links the summary to it.</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EAF0F8"/>
                    </a:solidFill>
                  </a:tcPr>
                </a:tc>
              </a:tr>
              <a:tr h="952500">
                <a:tc>
                  <a:txBody>
                    <a:bodyPr wrap="square">
                      <a:noAutofit/>
                    </a:bodyPr>
                    <a:lstStyle/>
                    <a:p>
                      <a:r>
                        <a:rPr sz="2250" b="1">
                          <a:solidFill>
                            <a:srgbClr val="FFFFFF"/>
                          </a:solidFill>
                          <a:latin typeface="Helvetica Neue"/>
                          <a:ea typeface="Helvetica Neue"/>
                          <a:cs typeface="Helvetica Neue"/>
                        </a:rPr>
                        <a:t>What it does not do</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15304C"/>
                    </a:solidFill>
                  </a:tcPr>
                </a:tc>
                <a:tc>
                  <a:txBody>
                    <a:bodyPr wrap="square">
                      <a:noAutofit/>
                    </a:bodyPr>
                    <a:lstStyle/>
                    <a:p>
                      <a:r>
                        <a:rPr sz="2250" b="0">
                          <a:solidFill>
                            <a:srgbClr val="15304C"/>
                          </a:solidFill>
                          <a:latin typeface="Helvetica Neue"/>
                          <a:ea typeface="Helvetica Neue"/>
                          <a:cs typeface="Helvetica Neue"/>
                        </a:rPr>
                        <a:t>It does not confirm the root cause, suggest a fix or run SAP transactions.</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FFFFFF"/>
                    </a:solidFill>
                  </a:tcPr>
                </a:tc>
              </a:tr>
              <a:tr h="1143000">
                <a:tc>
                  <a:txBody>
                    <a:bodyPr wrap="square">
                      <a:noAutofit/>
                    </a:bodyPr>
                    <a:lstStyle/>
                    <a:p>
                      <a:r>
                        <a:rPr sz="2250" b="1">
                          <a:solidFill>
                            <a:srgbClr val="FFFFFF"/>
                          </a:solidFill>
                          <a:latin typeface="Helvetica Neue"/>
                          <a:ea typeface="Helvetica Neue"/>
                          <a:cs typeface="Helvetica Neue"/>
                        </a:rPr>
                        <a:t>Human led Review</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15304C"/>
                    </a:solidFill>
                  </a:tcPr>
                </a:tc>
                <a:tc>
                  <a:txBody>
                    <a:bodyPr wrap="square">
                      <a:noAutofit/>
                    </a:bodyPr>
                    <a:lstStyle/>
                    <a:p>
                      <a:r>
                        <a:rPr sz="2250" b="0">
                          <a:solidFill>
                            <a:srgbClr val="15304C"/>
                          </a:solidFill>
                          <a:latin typeface="Helvetica Neue"/>
                          <a:ea typeface="Helvetica Neue"/>
                          <a:cs typeface="Helvetica Neue"/>
                        </a:rPr>
                        <a:t>Checks the summary, investigates the error and records the result. Approved findings can help with future cases.</a:t>
                      </a:r>
                    </a:p>
                  </a:txBody>
                  <a:tcPr marL="190500" marR="190500" marT="76200" marB="76200" anchor="ctr">
                    <a:lnL w="76200">
                      <a:solidFill>
                        <a:srgbClr val="F3F6FB"/>
                      </a:solidFill>
                      <a:prstDash val="solid"/>
                    </a:lnL>
                    <a:lnR w="76200">
                      <a:solidFill>
                        <a:srgbClr val="F3F6FB"/>
                      </a:solidFill>
                      <a:prstDash val="solid"/>
                    </a:lnR>
                    <a:lnT w="76200">
                      <a:solidFill>
                        <a:srgbClr val="F3F6FB"/>
                      </a:solidFill>
                      <a:prstDash val="solid"/>
                    </a:lnT>
                    <a:lnB w="76200">
                      <a:solidFill>
                        <a:srgbClr val="F3F6FB"/>
                      </a:solidFill>
                      <a:prstDash val="solid"/>
                    </a:lnB>
                    <a:solidFill>
                      <a:srgbClr val="EAF0F8"/>
                    </a:solidFill>
                  </a:tcPr>
                </a:tc>
              </a:tr>
            </a:tbl>
          </a:graphicData>
        </a:graphic>
      </p:graphicFrame>
      <p:sp>
        <p:nvSpPr>
          <p:cNvPr id="4" name="key-things">
            <a:extLst xmlns:a="http://schemas.openxmlformats.org/drawingml/2006/main">
              <a:ext uri="{FF2B5EF4-FFF2-40B4-BE49-F238E27FC236}">
                <a16:creationId xmlns:a16="http://schemas.microsoft.com/office/drawing/2014/main" id="{E5B32EC3-189C-478E-95A8-6B86E87BA758}"/>
              </a:ext>
            </a:extLst>
          </p:cNvPr>
          <p:cNvSpPr>
            <a:spLocks xmlns:a="http://schemas.openxmlformats.org/drawingml/2006/main" noGrp="1"/>
          </p:cNvSpPr>
          <p:nvPr/>
        </p:nvSpPr>
        <p:spPr>
          <a:xfrm xmlns:a="http://schemas.openxmlformats.org/drawingml/2006/main">
            <a:off x="533400" y="6000750"/>
            <a:ext cx="14173200" cy="2095500"/>
          </a:xfrm>
          <a:prstGeom xmlns:a="http://schemas.openxmlformats.org/drawingml/2006/main" prst="roundRect">
            <a:avLst>
              <a:gd name="adj" fmla="val 5455"/>
            </a:avLst>
          </a:prstGeom>
          <a:solidFill xmlns:a="http://schemas.openxmlformats.org/drawingml/2006/main">
            <a:srgbClr val="E0F1ED"/>
          </a:solidFill>
          <a:ln xmlns:a="http://schemas.openxmlformats.org/drawingml/2006/main" w="0">
            <a:noFill/>
          </a:ln>
        </p:spPr>
      </p:sp>
      <p:sp>
        <p:nvSpPr>
          <p:cNvPr id="5" name="key-things-heading">
            <a:extLst xmlns:a="http://schemas.openxmlformats.org/drawingml/2006/main">
              <a:ext uri="{FF2B5EF4-FFF2-40B4-BE49-F238E27FC236}">
                <a16:creationId xmlns:a16="http://schemas.microsoft.com/office/drawing/2014/main" id="{F6D59DF4-DCE1-4F80-96A0-736F19C11BDC}"/>
              </a:ext>
            </a:extLst>
          </p:cNvPr>
          <p:cNvSpPr>
            <a:spLocks xmlns:a="http://schemas.openxmlformats.org/drawingml/2006/main" noGrp="1"/>
          </p:cNvSpPr>
          <p:nvPr/>
        </p:nvSpPr>
        <p:spPr>
          <a:xfrm xmlns:a="http://schemas.openxmlformats.org/drawingml/2006/main">
            <a:off x="800100" y="6219825"/>
            <a:ext cx="1363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400" b="1">
                <a:solidFill>
                  <a:srgbClr val="0B7870"/>
                </a:solidFill>
                <a:latin typeface="Helvetica Neue"/>
                <a:ea typeface="Helvetica Neue"/>
                <a:cs typeface="Helvetica Neue"/>
              </a:defRPr>
            </a:pPr>
            <a:r>
              <a:rPr sz="2400" b="1">
                <a:solidFill>
                  <a:srgbClr val="0B7870"/>
                </a:solidFill>
                <a:latin typeface="Helvetica Neue"/>
                <a:ea typeface="Helvetica Neue"/>
                <a:cs typeface="Helvetica Neue"/>
              </a:rPr>
              <a:t>Key things to note</a:t>
            </a:r>
          </a:p>
        </p:txBody>
      </p:sp>
      <p:sp>
        <p:nvSpPr>
          <p:cNvPr id="6" name="synthetic-note">
            <a:extLst xmlns:a="http://schemas.openxmlformats.org/drawingml/2006/main">
              <a:ext uri="{FF2B5EF4-FFF2-40B4-BE49-F238E27FC236}">
                <a16:creationId xmlns:a16="http://schemas.microsoft.com/office/drawing/2014/main" id="{43E49093-44F0-4955-976F-A22AD82A4308}"/>
              </a:ext>
            </a:extLst>
          </p:cNvPr>
          <p:cNvSpPr>
            <a:spLocks xmlns:a="http://schemas.openxmlformats.org/drawingml/2006/main" noGrp="1"/>
          </p:cNvSpPr>
          <p:nvPr/>
        </p:nvSpPr>
        <p:spPr>
          <a:xfrm xmlns:a="http://schemas.openxmlformats.org/drawingml/2006/main">
            <a:off x="800100" y="6848475"/>
            <a:ext cx="1363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400" b="1">
                <a:solidFill>
                  <a:srgbClr val="15304C"/>
                </a:solidFill>
                <a:latin typeface="Helvetica Neue"/>
                <a:ea typeface="Helvetica Neue"/>
                <a:cs typeface="Helvetica Neue"/>
              </a:defRPr>
            </a:pPr>
            <a:r>
              <a:rPr sz="2400" b="1">
                <a:solidFill>
                  <a:srgbClr val="15304C"/>
                </a:solidFill>
                <a:latin typeface="Helvetica Neue"/>
                <a:ea typeface="Helvetica Neue"/>
                <a:cs typeface="Helvetica Neue"/>
              </a:rPr>
              <a:t>Built using synthetic AIF data.</a:t>
            </a:r>
          </a:p>
        </p:txBody>
      </p:sp>
      <p:sp>
        <p:nvSpPr>
          <p:cNvPr id="7" name="no-sap-note">
            <a:extLst xmlns:a="http://schemas.openxmlformats.org/drawingml/2006/main">
              <a:ext uri="{FF2B5EF4-FFF2-40B4-BE49-F238E27FC236}">
                <a16:creationId xmlns:a16="http://schemas.microsoft.com/office/drawing/2014/main" id="{29B50F70-7299-4708-A7FA-92203A35F6CE}"/>
              </a:ext>
            </a:extLst>
          </p:cNvPr>
          <p:cNvSpPr>
            <a:spLocks xmlns:a="http://schemas.openxmlformats.org/drawingml/2006/main" noGrp="1"/>
          </p:cNvSpPr>
          <p:nvPr/>
        </p:nvSpPr>
        <p:spPr>
          <a:xfrm xmlns:a="http://schemas.openxmlformats.org/drawingml/2006/main">
            <a:off x="800100" y="7486650"/>
            <a:ext cx="1363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400" b="1">
                <a:solidFill>
                  <a:srgbClr val="15304C"/>
                </a:solidFill>
                <a:latin typeface="Helvetica Neue"/>
                <a:ea typeface="Helvetica Neue"/>
                <a:cs typeface="Helvetica Neue"/>
              </a:defRPr>
            </a:pPr>
            <a:r>
              <a:rPr sz="2400" b="1">
                <a:solidFill>
                  <a:srgbClr val="15304C"/>
                </a:solidFill>
                <a:latin typeface="Helvetica Neue"/>
                <a:ea typeface="Helvetica Neue"/>
                <a:cs typeface="Helvetica Neue"/>
              </a:rPr>
              <a:t>No integration with an SAP system today.</a:t>
            </a:r>
          </a:p>
        </p:txBody>
      </p:sp>
    </p:spTree>
    <p:extLst>
      <p:ext uri="{BB962C8B-B14F-4D97-AF65-F5344CB8AC3E}">
        <p14:creationId xmlns:p14="http://schemas.microsoft.com/office/powerpoint/2010/main" val="1869683863"/>
      </p:ext>
    </p:extLst>
  </p:cSld>
</p:sld>
</file>

<file path=ppt/slides/slide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49" name="title">
            <a:extLst xmlns:a="http://schemas.openxmlformats.org/drawingml/2006/main">
              <a:ext uri="{FF2B5EF4-FFF2-40B4-BE49-F238E27FC236}">
                <a16:creationId xmlns:a16="http://schemas.microsoft.com/office/drawing/2014/main" id="{B6633DDF-C714-4F6D-87F9-C70921EFD314}"/>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How the app works</a:t>
            </a:r>
          </a:p>
        </p:txBody>
      </p:sp>
      <p:sp>
        <p:nvSpPr>
          <p:cNvPr id="2" name="subtitle">
            <a:extLst xmlns:a="http://schemas.openxmlformats.org/drawingml/2006/main">
              <a:ext uri="{FF2B5EF4-FFF2-40B4-BE49-F238E27FC236}">
                <a16:creationId xmlns:a16="http://schemas.microsoft.com/office/drawing/2014/main" id="{C3108A37-8C53-421D-8CFA-E24B66CCB85F}"/>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Uploaded AIF log, case summary, Human led Review and learning loop</a:t>
            </a:r>
          </a:p>
        </p:txBody>
      </p:sp>
      <p:sp>
        <p:nvSpPr>
          <p:cNvPr id="3" name="flow-0">
            <a:extLst xmlns:a="http://schemas.openxmlformats.org/drawingml/2006/main">
              <a:ext uri="{FF2B5EF4-FFF2-40B4-BE49-F238E27FC236}">
                <a16:creationId xmlns:a16="http://schemas.microsoft.com/office/drawing/2014/main" id="{C2F112BF-7290-4832-944A-3EB5C34EAA98}"/>
              </a:ext>
            </a:extLst>
          </p:cNvPr>
          <p:cNvSpPr>
            <a:spLocks xmlns:a="http://schemas.openxmlformats.org/drawingml/2006/main" noGrp="1"/>
          </p:cNvSpPr>
          <p:nvPr/>
        </p:nvSpPr>
        <p:spPr>
          <a:xfrm xmlns:a="http://schemas.openxmlformats.org/drawingml/2006/main">
            <a:off x="533400" y="2524125"/>
            <a:ext cx="1981200" cy="1809750"/>
          </a:xfrm>
          <a:prstGeom xmlns:a="http://schemas.openxmlformats.org/drawingml/2006/main" prst="roundRect">
            <a:avLst>
              <a:gd name="adj" fmla="val 6316"/>
            </a:avLst>
          </a:prstGeom>
          <a:solidFill xmlns:a="http://schemas.openxmlformats.org/drawingml/2006/main">
            <a:srgbClr val="E3EEFA"/>
          </a:solidFill>
          <a:ln xmlns:a="http://schemas.openxmlformats.org/drawingml/2006/main" w="0">
            <a:noFill/>
          </a:ln>
        </p:spPr>
      </p:sp>
      <p:sp>
        <p:nvSpPr>
          <p:cNvPr id="4" name="flow-title-0">
            <a:extLst xmlns:a="http://schemas.openxmlformats.org/drawingml/2006/main">
              <a:ext uri="{FF2B5EF4-FFF2-40B4-BE49-F238E27FC236}">
                <a16:creationId xmlns:a16="http://schemas.microsoft.com/office/drawing/2014/main" id="{F61ECF29-E9EC-4808-82D8-5CA1516C4511}"/>
              </a:ext>
            </a:extLst>
          </p:cNvPr>
          <p:cNvSpPr>
            <a:spLocks xmlns:a="http://schemas.openxmlformats.org/drawingml/2006/main" noGrp="1"/>
          </p:cNvSpPr>
          <p:nvPr/>
        </p:nvSpPr>
        <p:spPr>
          <a:xfrm xmlns:a="http://schemas.openxmlformats.org/drawingml/2006/main">
            <a:off x="7048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AIF log</a:t>
            </a:r>
          </a:p>
        </p:txBody>
      </p:sp>
      <p:sp>
        <p:nvSpPr>
          <p:cNvPr id="5" name="flow-owner-0">
            <a:extLst xmlns:a="http://schemas.openxmlformats.org/drawingml/2006/main">
              <a:ext uri="{FF2B5EF4-FFF2-40B4-BE49-F238E27FC236}">
                <a16:creationId xmlns:a16="http://schemas.microsoft.com/office/drawing/2014/main" id="{8C44B358-068C-4720-95CA-893972CBEF71}"/>
              </a:ext>
            </a:extLst>
          </p:cNvPr>
          <p:cNvSpPr>
            <a:spLocks xmlns:a="http://schemas.openxmlformats.org/drawingml/2006/main" noGrp="1"/>
          </p:cNvSpPr>
          <p:nvPr/>
        </p:nvSpPr>
        <p:spPr>
          <a:xfrm xmlns:a="http://schemas.openxmlformats.org/drawingml/2006/main">
            <a:off x="7048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2F6095"/>
                </a:solidFill>
                <a:latin typeface="Helvetica Neue"/>
                <a:ea typeface="Helvetica Neue"/>
                <a:cs typeface="Helvetica Neue"/>
              </a:defRPr>
            </a:pPr>
            <a:r>
              <a:rPr sz="1800" b="0">
                <a:solidFill>
                  <a:srgbClr val="2F6095"/>
                </a:solidFill>
                <a:latin typeface="Helvetica Neue"/>
                <a:ea typeface="Helvetica Neue"/>
                <a:cs typeface="Helvetica Neue"/>
              </a:rPr>
              <a:t>Input</a:t>
            </a:r>
          </a:p>
        </p:txBody>
      </p:sp>
      <p:sp>
        <p:nvSpPr>
          <p:cNvPr id="6" name="flow-detail-0">
            <a:extLst xmlns:a="http://schemas.openxmlformats.org/drawingml/2006/main">
              <a:ext uri="{FF2B5EF4-FFF2-40B4-BE49-F238E27FC236}">
                <a16:creationId xmlns:a16="http://schemas.microsoft.com/office/drawing/2014/main" id="{E4268F5D-E64D-4C93-B854-D62897A21EAB}"/>
              </a:ext>
            </a:extLst>
          </p:cNvPr>
          <p:cNvSpPr>
            <a:spLocks xmlns:a="http://schemas.openxmlformats.org/drawingml/2006/main" noGrp="1"/>
          </p:cNvSpPr>
          <p:nvPr/>
        </p:nvSpPr>
        <p:spPr>
          <a:xfrm xmlns:a="http://schemas.openxmlformats.org/drawingml/2006/main">
            <a:off x="7048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Uploaded</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original</a:t>
            </a:r>
          </a:p>
        </p:txBody>
      </p:sp>
      <p:sp>
        <p:nvSpPr>
          <p:cNvPr id="7" name="flow-1">
            <a:extLst xmlns:a="http://schemas.openxmlformats.org/drawingml/2006/main">
              <a:ext uri="{FF2B5EF4-FFF2-40B4-BE49-F238E27FC236}">
                <a16:creationId xmlns:a16="http://schemas.microsoft.com/office/drawing/2014/main" id="{ABF4747B-3947-49A6-8B53-EDFE3787C7DA}"/>
              </a:ext>
            </a:extLst>
          </p:cNvPr>
          <p:cNvSpPr>
            <a:spLocks xmlns:a="http://schemas.openxmlformats.org/drawingml/2006/main" noGrp="1"/>
          </p:cNvSpPr>
          <p:nvPr/>
        </p:nvSpPr>
        <p:spPr>
          <a:xfrm xmlns:a="http://schemas.openxmlformats.org/drawingml/2006/main">
            <a:off x="2971800" y="2524125"/>
            <a:ext cx="1981200" cy="1809750"/>
          </a:xfrm>
          <a:prstGeom xmlns:a="http://schemas.openxmlformats.org/drawingml/2006/main" prst="roundRect">
            <a:avLst>
              <a:gd name="adj" fmla="val 6316"/>
            </a:avLst>
          </a:prstGeom>
          <a:solidFill xmlns:a="http://schemas.openxmlformats.org/drawingml/2006/main">
            <a:srgbClr val="E3EEFA"/>
          </a:solidFill>
          <a:ln xmlns:a="http://schemas.openxmlformats.org/drawingml/2006/main" w="0">
            <a:noFill/>
          </a:ln>
        </p:spPr>
      </p:sp>
      <p:sp>
        <p:nvSpPr>
          <p:cNvPr id="8" name="flow-title-1">
            <a:extLst xmlns:a="http://schemas.openxmlformats.org/drawingml/2006/main">
              <a:ext uri="{FF2B5EF4-FFF2-40B4-BE49-F238E27FC236}">
                <a16:creationId xmlns:a16="http://schemas.microsoft.com/office/drawing/2014/main" id="{B687E9C3-0AB9-41D5-92CA-75C48C7450AA}"/>
              </a:ext>
            </a:extLst>
          </p:cNvPr>
          <p:cNvSpPr>
            <a:spLocks xmlns:a="http://schemas.openxmlformats.org/drawingml/2006/main" noGrp="1"/>
          </p:cNvSpPr>
          <p:nvPr/>
        </p:nvSpPr>
        <p:spPr>
          <a:xfrm xmlns:a="http://schemas.openxmlformats.org/drawingml/2006/main">
            <a:off x="31432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Intake</a:t>
            </a:r>
          </a:p>
        </p:txBody>
      </p:sp>
      <p:sp>
        <p:nvSpPr>
          <p:cNvPr id="9" name="flow-owner-1">
            <a:extLst xmlns:a="http://schemas.openxmlformats.org/drawingml/2006/main">
              <a:ext uri="{FF2B5EF4-FFF2-40B4-BE49-F238E27FC236}">
                <a16:creationId xmlns:a16="http://schemas.microsoft.com/office/drawing/2014/main" id="{58E8C021-DA25-4A4C-9655-60E77568E3FB}"/>
              </a:ext>
            </a:extLst>
          </p:cNvPr>
          <p:cNvSpPr>
            <a:spLocks xmlns:a="http://schemas.openxmlformats.org/drawingml/2006/main" noGrp="1"/>
          </p:cNvSpPr>
          <p:nvPr/>
        </p:nvSpPr>
        <p:spPr>
          <a:xfrm xmlns:a="http://schemas.openxmlformats.org/drawingml/2006/main">
            <a:off x="31432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2F6095"/>
                </a:solidFill>
                <a:latin typeface="Helvetica Neue"/>
                <a:ea typeface="Helvetica Neue"/>
                <a:cs typeface="Helvetica Neue"/>
              </a:defRPr>
            </a:pPr>
            <a:r>
              <a:rPr sz="1800" b="0">
                <a:solidFill>
                  <a:srgbClr val="2F6095"/>
                </a:solidFill>
                <a:latin typeface="Helvetica Neue"/>
                <a:ea typeface="Helvetica Neue"/>
                <a:cs typeface="Helvetica Neue"/>
              </a:rPr>
              <a:t>Code</a:t>
            </a:r>
          </a:p>
        </p:txBody>
      </p:sp>
      <p:sp>
        <p:nvSpPr>
          <p:cNvPr id="10" name="flow-detail-1">
            <a:extLst xmlns:a="http://schemas.openxmlformats.org/drawingml/2006/main">
              <a:ext uri="{FF2B5EF4-FFF2-40B4-BE49-F238E27FC236}">
                <a16:creationId xmlns:a16="http://schemas.microsoft.com/office/drawing/2014/main" id="{A316C616-9FD1-4151-B1D1-D23713DB1C29}"/>
              </a:ext>
            </a:extLst>
          </p:cNvPr>
          <p:cNvSpPr>
            <a:spLocks xmlns:a="http://schemas.openxmlformats.org/drawingml/2006/main" noGrp="1"/>
          </p:cNvSpPr>
          <p:nvPr/>
        </p:nvSpPr>
        <p:spPr>
          <a:xfrm xmlns:a="http://schemas.openxmlformats.org/drawingml/2006/main">
            <a:off x="31432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Save original</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Queue work</a:t>
            </a:r>
          </a:p>
        </p:txBody>
      </p:sp>
      <p:sp>
        <p:nvSpPr>
          <p:cNvPr id="11" name="flow-2">
            <a:extLst xmlns:a="http://schemas.openxmlformats.org/drawingml/2006/main">
              <a:ext uri="{FF2B5EF4-FFF2-40B4-BE49-F238E27FC236}">
                <a16:creationId xmlns:a16="http://schemas.microsoft.com/office/drawing/2014/main" id="{7605BE1C-0E7B-4D73-A3BC-3D493613632B}"/>
              </a:ext>
            </a:extLst>
          </p:cNvPr>
          <p:cNvSpPr>
            <a:spLocks xmlns:a="http://schemas.openxmlformats.org/drawingml/2006/main" noGrp="1"/>
          </p:cNvSpPr>
          <p:nvPr/>
        </p:nvSpPr>
        <p:spPr>
          <a:xfrm xmlns:a="http://schemas.openxmlformats.org/drawingml/2006/main">
            <a:off x="5410200" y="2524125"/>
            <a:ext cx="1981200" cy="1809750"/>
          </a:xfrm>
          <a:prstGeom xmlns:a="http://schemas.openxmlformats.org/drawingml/2006/main" prst="roundRect">
            <a:avLst>
              <a:gd name="adj" fmla="val 6316"/>
            </a:avLst>
          </a:prstGeom>
          <a:solidFill xmlns:a="http://schemas.openxmlformats.org/drawingml/2006/main">
            <a:srgbClr val="EEE8FA"/>
          </a:solidFill>
          <a:ln xmlns:a="http://schemas.openxmlformats.org/drawingml/2006/main" w="0">
            <a:noFill/>
          </a:ln>
        </p:spPr>
      </p:sp>
      <p:sp>
        <p:nvSpPr>
          <p:cNvPr id="12" name="flow-title-2">
            <a:extLst xmlns:a="http://schemas.openxmlformats.org/drawingml/2006/main">
              <a:ext uri="{FF2B5EF4-FFF2-40B4-BE49-F238E27FC236}">
                <a16:creationId xmlns:a16="http://schemas.microsoft.com/office/drawing/2014/main" id="{E89657BE-DE33-46A2-A1DB-6008414E7E03}"/>
              </a:ext>
            </a:extLst>
          </p:cNvPr>
          <p:cNvSpPr>
            <a:spLocks xmlns:a="http://schemas.openxmlformats.org/drawingml/2006/main" noGrp="1"/>
          </p:cNvSpPr>
          <p:nvPr/>
        </p:nvSpPr>
        <p:spPr>
          <a:xfrm xmlns:a="http://schemas.openxmlformats.org/drawingml/2006/main">
            <a:off x="55816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654D94"/>
                </a:solidFill>
                <a:latin typeface="Helvetica Neue"/>
                <a:ea typeface="Helvetica Neue"/>
                <a:cs typeface="Helvetica Neue"/>
              </a:defRPr>
            </a:pPr>
            <a:r>
              <a:rPr sz="2100" b="1">
                <a:solidFill>
                  <a:srgbClr val="654D94"/>
                </a:solidFill>
                <a:latin typeface="Helvetica Neue"/>
                <a:ea typeface="Helvetica Neue"/>
                <a:cs typeface="Helvetica Neue"/>
              </a:rPr>
              <a:t>Extract</a:t>
            </a:r>
          </a:p>
        </p:txBody>
      </p:sp>
      <p:sp>
        <p:nvSpPr>
          <p:cNvPr id="13" name="flow-owner-2">
            <a:extLst xmlns:a="http://schemas.openxmlformats.org/drawingml/2006/main">
              <a:ext uri="{FF2B5EF4-FFF2-40B4-BE49-F238E27FC236}">
                <a16:creationId xmlns:a16="http://schemas.microsoft.com/office/drawing/2014/main" id="{28CE916E-E82D-44D0-A00A-4FEC5E9084FC}"/>
              </a:ext>
            </a:extLst>
          </p:cNvPr>
          <p:cNvSpPr>
            <a:spLocks xmlns:a="http://schemas.openxmlformats.org/drawingml/2006/main" noGrp="1"/>
          </p:cNvSpPr>
          <p:nvPr/>
        </p:nvSpPr>
        <p:spPr>
          <a:xfrm xmlns:a="http://schemas.openxmlformats.org/drawingml/2006/main">
            <a:off x="55816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654D94"/>
                </a:solidFill>
                <a:latin typeface="Helvetica Neue"/>
                <a:ea typeface="Helvetica Neue"/>
                <a:cs typeface="Helvetica Neue"/>
              </a:defRPr>
            </a:pPr>
            <a:r>
              <a:rPr sz="1800" b="0">
                <a:solidFill>
                  <a:srgbClr val="654D94"/>
                </a:solidFill>
                <a:latin typeface="Helvetica Neue"/>
                <a:ea typeface="Helvetica Neue"/>
                <a:cs typeface="Helvetica Neue"/>
              </a:rPr>
              <a:t>Agent 1</a:t>
            </a:r>
          </a:p>
        </p:txBody>
      </p:sp>
      <p:sp>
        <p:nvSpPr>
          <p:cNvPr id="14" name="flow-detail-2">
            <a:extLst xmlns:a="http://schemas.openxmlformats.org/drawingml/2006/main">
              <a:ext uri="{FF2B5EF4-FFF2-40B4-BE49-F238E27FC236}">
                <a16:creationId xmlns:a16="http://schemas.microsoft.com/office/drawing/2014/main" id="{F92BD553-4127-419E-8F0A-0B1DF5CD2038}"/>
              </a:ext>
            </a:extLst>
          </p:cNvPr>
          <p:cNvSpPr>
            <a:spLocks xmlns:a="http://schemas.openxmlformats.org/drawingml/2006/main" noGrp="1"/>
          </p:cNvSpPr>
          <p:nvPr/>
        </p:nvSpPr>
        <p:spPr>
          <a:xfrm xmlns:a="http://schemas.openxmlformats.org/drawingml/2006/main">
            <a:off x="55816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All entries</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and fields</a:t>
            </a:r>
          </a:p>
        </p:txBody>
      </p:sp>
      <p:sp>
        <p:nvSpPr>
          <p:cNvPr id="15" name="flow-3">
            <a:extLst xmlns:a="http://schemas.openxmlformats.org/drawingml/2006/main">
              <a:ext uri="{FF2B5EF4-FFF2-40B4-BE49-F238E27FC236}">
                <a16:creationId xmlns:a16="http://schemas.microsoft.com/office/drawing/2014/main" id="{86F81493-6739-46D9-A83C-D8DE0B3E4072}"/>
              </a:ext>
            </a:extLst>
          </p:cNvPr>
          <p:cNvSpPr>
            <a:spLocks xmlns:a="http://schemas.openxmlformats.org/drawingml/2006/main" noGrp="1"/>
          </p:cNvSpPr>
          <p:nvPr/>
        </p:nvSpPr>
        <p:spPr>
          <a:xfrm xmlns:a="http://schemas.openxmlformats.org/drawingml/2006/main">
            <a:off x="7848600" y="2524125"/>
            <a:ext cx="1981200" cy="1809750"/>
          </a:xfrm>
          <a:prstGeom xmlns:a="http://schemas.openxmlformats.org/drawingml/2006/main" prst="roundRect">
            <a:avLst>
              <a:gd name="adj" fmla="val 6316"/>
            </a:avLst>
          </a:prstGeom>
          <a:solidFill xmlns:a="http://schemas.openxmlformats.org/drawingml/2006/main">
            <a:srgbClr val="EEE8FA"/>
          </a:solidFill>
          <a:ln xmlns:a="http://schemas.openxmlformats.org/drawingml/2006/main" w="0">
            <a:noFill/>
          </a:ln>
        </p:spPr>
      </p:sp>
      <p:sp>
        <p:nvSpPr>
          <p:cNvPr id="16" name="flow-title-3">
            <a:extLst xmlns:a="http://schemas.openxmlformats.org/drawingml/2006/main">
              <a:ext uri="{FF2B5EF4-FFF2-40B4-BE49-F238E27FC236}">
                <a16:creationId xmlns:a16="http://schemas.microsoft.com/office/drawing/2014/main" id="{EFC39D9F-B7FA-48AE-BBA2-86F5043995EC}"/>
              </a:ext>
            </a:extLst>
          </p:cNvPr>
          <p:cNvSpPr>
            <a:spLocks xmlns:a="http://schemas.openxmlformats.org/drawingml/2006/main" noGrp="1"/>
          </p:cNvSpPr>
          <p:nvPr/>
        </p:nvSpPr>
        <p:spPr>
          <a:xfrm xmlns:a="http://schemas.openxmlformats.org/drawingml/2006/main">
            <a:off x="80200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654D94"/>
                </a:solidFill>
                <a:latin typeface="Helvetica Neue"/>
                <a:ea typeface="Helvetica Neue"/>
                <a:cs typeface="Helvetica Neue"/>
              </a:defRPr>
            </a:pPr>
            <a:r>
              <a:rPr sz="2100" b="1">
                <a:solidFill>
                  <a:srgbClr val="654D94"/>
                </a:solidFill>
                <a:latin typeface="Helvetica Neue"/>
                <a:ea typeface="Helvetica Neue"/>
                <a:cs typeface="Helvetica Neue"/>
              </a:rPr>
              <a:t>Select</a:t>
            </a:r>
          </a:p>
        </p:txBody>
      </p:sp>
      <p:sp>
        <p:nvSpPr>
          <p:cNvPr id="17" name="flow-owner-3">
            <a:extLst xmlns:a="http://schemas.openxmlformats.org/drawingml/2006/main">
              <a:ext uri="{FF2B5EF4-FFF2-40B4-BE49-F238E27FC236}">
                <a16:creationId xmlns:a16="http://schemas.microsoft.com/office/drawing/2014/main" id="{2781BA20-1AA6-4D28-A97C-0C3214FA0965}"/>
              </a:ext>
            </a:extLst>
          </p:cNvPr>
          <p:cNvSpPr>
            <a:spLocks xmlns:a="http://schemas.openxmlformats.org/drawingml/2006/main" noGrp="1"/>
          </p:cNvSpPr>
          <p:nvPr/>
        </p:nvSpPr>
        <p:spPr>
          <a:xfrm xmlns:a="http://schemas.openxmlformats.org/drawingml/2006/main">
            <a:off x="80200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654D94"/>
                </a:solidFill>
                <a:latin typeface="Helvetica Neue"/>
                <a:ea typeface="Helvetica Neue"/>
                <a:cs typeface="Helvetica Neue"/>
              </a:defRPr>
            </a:pPr>
            <a:r>
              <a:rPr sz="1800" b="0">
                <a:solidFill>
                  <a:srgbClr val="654D94"/>
                </a:solidFill>
                <a:latin typeface="Helvetica Neue"/>
                <a:ea typeface="Helvetica Neue"/>
                <a:cs typeface="Helvetica Neue"/>
              </a:rPr>
              <a:t>Agent 2</a:t>
            </a:r>
          </a:p>
        </p:txBody>
      </p:sp>
      <p:sp>
        <p:nvSpPr>
          <p:cNvPr id="18" name="flow-detail-3">
            <a:extLst xmlns:a="http://schemas.openxmlformats.org/drawingml/2006/main">
              <a:ext uri="{FF2B5EF4-FFF2-40B4-BE49-F238E27FC236}">
                <a16:creationId xmlns:a16="http://schemas.microsoft.com/office/drawing/2014/main" id="{9BA84BF0-9C7B-476A-93E0-B63551B9EB24}"/>
              </a:ext>
            </a:extLst>
          </p:cNvPr>
          <p:cNvSpPr>
            <a:spLocks xmlns:a="http://schemas.openxmlformats.org/drawingml/2006/main" noGrp="1"/>
          </p:cNvSpPr>
          <p:nvPr/>
        </p:nvSpPr>
        <p:spPr>
          <a:xfrm xmlns:a="http://schemas.openxmlformats.org/drawingml/2006/main">
            <a:off x="80200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Key evidence</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and gaps</a:t>
            </a:r>
          </a:p>
        </p:txBody>
      </p:sp>
      <p:sp>
        <p:nvSpPr>
          <p:cNvPr id="19" name="flow-4">
            <a:extLst xmlns:a="http://schemas.openxmlformats.org/drawingml/2006/main">
              <a:ext uri="{FF2B5EF4-FFF2-40B4-BE49-F238E27FC236}">
                <a16:creationId xmlns:a16="http://schemas.microsoft.com/office/drawing/2014/main" id="{54171CD6-227C-4F71-AE94-258E55601DDF}"/>
              </a:ext>
            </a:extLst>
          </p:cNvPr>
          <p:cNvSpPr>
            <a:spLocks xmlns:a="http://schemas.openxmlformats.org/drawingml/2006/main" noGrp="1"/>
          </p:cNvSpPr>
          <p:nvPr/>
        </p:nvSpPr>
        <p:spPr>
          <a:xfrm xmlns:a="http://schemas.openxmlformats.org/drawingml/2006/main">
            <a:off x="10287000" y="2524125"/>
            <a:ext cx="1981200" cy="1809750"/>
          </a:xfrm>
          <a:prstGeom xmlns:a="http://schemas.openxmlformats.org/drawingml/2006/main" prst="roundRect">
            <a:avLst>
              <a:gd name="adj" fmla="val 6316"/>
            </a:avLst>
          </a:prstGeom>
          <a:solidFill xmlns:a="http://schemas.openxmlformats.org/drawingml/2006/main">
            <a:srgbClr val="EEE8FA"/>
          </a:solidFill>
          <a:ln xmlns:a="http://schemas.openxmlformats.org/drawingml/2006/main" w="0">
            <a:noFill/>
          </a:ln>
        </p:spPr>
      </p:sp>
      <p:sp>
        <p:nvSpPr>
          <p:cNvPr id="20" name="flow-title-4">
            <a:extLst xmlns:a="http://schemas.openxmlformats.org/drawingml/2006/main">
              <a:ext uri="{FF2B5EF4-FFF2-40B4-BE49-F238E27FC236}">
                <a16:creationId xmlns:a16="http://schemas.microsoft.com/office/drawing/2014/main" id="{81B06FCC-EE0F-42FC-8678-D945841FDD95}"/>
              </a:ext>
            </a:extLst>
          </p:cNvPr>
          <p:cNvSpPr>
            <a:spLocks xmlns:a="http://schemas.openxmlformats.org/drawingml/2006/main" noGrp="1"/>
          </p:cNvSpPr>
          <p:nvPr/>
        </p:nvSpPr>
        <p:spPr>
          <a:xfrm xmlns:a="http://schemas.openxmlformats.org/drawingml/2006/main">
            <a:off x="104584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654D94"/>
                </a:solidFill>
                <a:latin typeface="Helvetica Neue"/>
                <a:ea typeface="Helvetica Neue"/>
                <a:cs typeface="Helvetica Neue"/>
              </a:defRPr>
            </a:pPr>
            <a:r>
              <a:rPr sz="2100" b="1">
                <a:solidFill>
                  <a:srgbClr val="654D94"/>
                </a:solidFill>
                <a:latin typeface="Helvetica Neue"/>
                <a:ea typeface="Helvetica Neue"/>
                <a:cs typeface="Helvetica Neue"/>
              </a:rPr>
              <a:t>Summarise</a:t>
            </a:r>
          </a:p>
        </p:txBody>
      </p:sp>
      <p:sp>
        <p:nvSpPr>
          <p:cNvPr id="21" name="flow-owner-4">
            <a:extLst xmlns:a="http://schemas.openxmlformats.org/drawingml/2006/main">
              <a:ext uri="{FF2B5EF4-FFF2-40B4-BE49-F238E27FC236}">
                <a16:creationId xmlns:a16="http://schemas.microsoft.com/office/drawing/2014/main" id="{EE2C3BFC-71AB-4A32-BFBA-E92FB67441F8}"/>
              </a:ext>
            </a:extLst>
          </p:cNvPr>
          <p:cNvSpPr>
            <a:spLocks xmlns:a="http://schemas.openxmlformats.org/drawingml/2006/main" noGrp="1"/>
          </p:cNvSpPr>
          <p:nvPr/>
        </p:nvSpPr>
        <p:spPr>
          <a:xfrm xmlns:a="http://schemas.openxmlformats.org/drawingml/2006/main">
            <a:off x="104584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654D94"/>
                </a:solidFill>
                <a:latin typeface="Helvetica Neue"/>
                <a:ea typeface="Helvetica Neue"/>
                <a:cs typeface="Helvetica Neue"/>
              </a:defRPr>
            </a:pPr>
            <a:r>
              <a:rPr sz="1800" b="0">
                <a:solidFill>
                  <a:srgbClr val="654D94"/>
                </a:solidFill>
                <a:latin typeface="Helvetica Neue"/>
                <a:ea typeface="Helvetica Neue"/>
                <a:cs typeface="Helvetica Neue"/>
              </a:rPr>
              <a:t>Agent 3</a:t>
            </a:r>
          </a:p>
        </p:txBody>
      </p:sp>
      <p:sp>
        <p:nvSpPr>
          <p:cNvPr id="22" name="flow-detail-4">
            <a:extLst xmlns:a="http://schemas.openxmlformats.org/drawingml/2006/main">
              <a:ext uri="{FF2B5EF4-FFF2-40B4-BE49-F238E27FC236}">
                <a16:creationId xmlns:a16="http://schemas.microsoft.com/office/drawing/2014/main" id="{A25CC973-EFF3-4518-A3CD-2B709F283FB8}"/>
              </a:ext>
            </a:extLst>
          </p:cNvPr>
          <p:cNvSpPr>
            <a:spLocks xmlns:a="http://schemas.openxmlformats.org/drawingml/2006/main" noGrp="1"/>
          </p:cNvSpPr>
          <p:nvPr/>
        </p:nvSpPr>
        <p:spPr>
          <a:xfrm xmlns:a="http://schemas.openxmlformats.org/drawingml/2006/main">
            <a:off x="104584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Summary and</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past cases</a:t>
            </a:r>
          </a:p>
        </p:txBody>
      </p:sp>
      <p:sp>
        <p:nvSpPr>
          <p:cNvPr id="23" name="flow-5">
            <a:extLst xmlns:a="http://schemas.openxmlformats.org/drawingml/2006/main">
              <a:ext uri="{FF2B5EF4-FFF2-40B4-BE49-F238E27FC236}">
                <a16:creationId xmlns:a16="http://schemas.microsoft.com/office/drawing/2014/main" id="{026C71DE-F5C9-4446-868F-60BBBACFA67C}"/>
              </a:ext>
            </a:extLst>
          </p:cNvPr>
          <p:cNvSpPr>
            <a:spLocks xmlns:a="http://schemas.openxmlformats.org/drawingml/2006/main" noGrp="1"/>
          </p:cNvSpPr>
          <p:nvPr/>
        </p:nvSpPr>
        <p:spPr>
          <a:xfrm xmlns:a="http://schemas.openxmlformats.org/drawingml/2006/main">
            <a:off x="12725400" y="2524125"/>
            <a:ext cx="1981200" cy="1809750"/>
          </a:xfrm>
          <a:prstGeom xmlns:a="http://schemas.openxmlformats.org/drawingml/2006/main" prst="roundRect">
            <a:avLst>
              <a:gd name="adj" fmla="val 6316"/>
            </a:avLst>
          </a:prstGeom>
          <a:solidFill xmlns:a="http://schemas.openxmlformats.org/drawingml/2006/main">
            <a:srgbClr val="E3EEFA"/>
          </a:solidFill>
          <a:ln xmlns:a="http://schemas.openxmlformats.org/drawingml/2006/main" w="0">
            <a:noFill/>
          </a:ln>
        </p:spPr>
      </p:sp>
      <p:sp>
        <p:nvSpPr>
          <p:cNvPr id="24" name="flow-title-5">
            <a:extLst xmlns:a="http://schemas.openxmlformats.org/drawingml/2006/main">
              <a:ext uri="{FF2B5EF4-FFF2-40B4-BE49-F238E27FC236}">
                <a16:creationId xmlns:a16="http://schemas.microsoft.com/office/drawing/2014/main" id="{A4F7EFBD-A1A3-4EBC-839D-25F478A4DB7A}"/>
              </a:ext>
            </a:extLst>
          </p:cNvPr>
          <p:cNvSpPr>
            <a:spLocks xmlns:a="http://schemas.openxmlformats.org/drawingml/2006/main" noGrp="1"/>
          </p:cNvSpPr>
          <p:nvPr/>
        </p:nvSpPr>
        <p:spPr>
          <a:xfrm xmlns:a="http://schemas.openxmlformats.org/drawingml/2006/main">
            <a:off x="12896850" y="2695575"/>
            <a:ext cx="1638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Save case</a:t>
            </a:r>
          </a:p>
        </p:txBody>
      </p:sp>
      <p:sp>
        <p:nvSpPr>
          <p:cNvPr id="25" name="flow-owner-5">
            <a:extLst xmlns:a="http://schemas.openxmlformats.org/drawingml/2006/main">
              <a:ext uri="{FF2B5EF4-FFF2-40B4-BE49-F238E27FC236}">
                <a16:creationId xmlns:a16="http://schemas.microsoft.com/office/drawing/2014/main" id="{98ED8AE5-42AC-4A33-AF6F-D4DEAEFB4164}"/>
              </a:ext>
            </a:extLst>
          </p:cNvPr>
          <p:cNvSpPr>
            <a:spLocks xmlns:a="http://schemas.openxmlformats.org/drawingml/2006/main" noGrp="1"/>
          </p:cNvSpPr>
          <p:nvPr/>
        </p:nvSpPr>
        <p:spPr>
          <a:xfrm xmlns:a="http://schemas.openxmlformats.org/drawingml/2006/main">
            <a:off x="12896850" y="3171825"/>
            <a:ext cx="1638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2F6095"/>
                </a:solidFill>
                <a:latin typeface="Helvetica Neue"/>
                <a:ea typeface="Helvetica Neue"/>
                <a:cs typeface="Helvetica Neue"/>
              </a:defRPr>
            </a:pPr>
            <a:r>
              <a:rPr sz="1800" b="0">
                <a:solidFill>
                  <a:srgbClr val="2F6095"/>
                </a:solidFill>
                <a:latin typeface="Helvetica Neue"/>
                <a:ea typeface="Helvetica Neue"/>
                <a:cs typeface="Helvetica Neue"/>
              </a:rPr>
              <a:t>Code</a:t>
            </a:r>
          </a:p>
        </p:txBody>
      </p:sp>
      <p:sp>
        <p:nvSpPr>
          <p:cNvPr id="26" name="flow-detail-5">
            <a:extLst xmlns:a="http://schemas.openxmlformats.org/drawingml/2006/main">
              <a:ext uri="{FF2B5EF4-FFF2-40B4-BE49-F238E27FC236}">
                <a16:creationId xmlns:a16="http://schemas.microsoft.com/office/drawing/2014/main" id="{4BDD3B30-3F92-42DC-BC63-A521B1621995}"/>
              </a:ext>
            </a:extLst>
          </p:cNvPr>
          <p:cNvSpPr>
            <a:spLocks xmlns:a="http://schemas.openxmlformats.org/drawingml/2006/main" noGrp="1"/>
          </p:cNvSpPr>
          <p:nvPr/>
        </p:nvSpPr>
        <p:spPr>
          <a:xfrm xmlns:a="http://schemas.openxmlformats.org/drawingml/2006/main">
            <a:off x="12896850" y="3619500"/>
            <a:ext cx="1638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Case page</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Read API</a:t>
            </a:r>
          </a:p>
        </p:txBody>
      </p:sp>
      <p:cxnSp>
        <p:nvCxnSpPr>
          <p:cNvPr id="75" name=""/>
          <p:cNvCxnSpPr>
            <a:stCxn xmlns:a="http://schemas.openxmlformats.org/drawingml/2006/main" id="3" idx="3"/>
            <a:endCxn xmlns:a="http://schemas.openxmlformats.org/drawingml/2006/main" id="7" idx="1"/>
          </p:cNvCxnSpPr>
          <p:nvPr/>
        </p:nvCxnSpPr>
        <p:spPr>
          <a:xfrm xmlns:a="http://schemas.openxmlformats.org/drawingml/2006/main">
            <a:off x="2514600" y="3429000"/>
            <a:ext cx="4572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6" name=""/>
          <p:cNvCxnSpPr>
            <a:stCxn xmlns:a="http://schemas.openxmlformats.org/drawingml/2006/main" id="7" idx="3"/>
            <a:endCxn xmlns:a="http://schemas.openxmlformats.org/drawingml/2006/main" id="11" idx="1"/>
          </p:cNvCxnSpPr>
          <p:nvPr/>
        </p:nvCxnSpPr>
        <p:spPr>
          <a:xfrm xmlns:a="http://schemas.openxmlformats.org/drawingml/2006/main">
            <a:off x="4953000" y="3429000"/>
            <a:ext cx="4572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7" name=""/>
          <p:cNvCxnSpPr>
            <a:stCxn xmlns:a="http://schemas.openxmlformats.org/drawingml/2006/main" id="11" idx="3"/>
            <a:endCxn xmlns:a="http://schemas.openxmlformats.org/drawingml/2006/main" id="15" idx="1"/>
          </p:cNvCxnSpPr>
          <p:nvPr/>
        </p:nvCxnSpPr>
        <p:spPr>
          <a:xfrm xmlns:a="http://schemas.openxmlformats.org/drawingml/2006/main">
            <a:off x="7391400" y="3429000"/>
            <a:ext cx="4572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8" name=""/>
          <p:cNvCxnSpPr>
            <a:stCxn xmlns:a="http://schemas.openxmlformats.org/drawingml/2006/main" id="15" idx="3"/>
            <a:endCxn xmlns:a="http://schemas.openxmlformats.org/drawingml/2006/main" id="19" idx="1"/>
          </p:cNvCxnSpPr>
          <p:nvPr/>
        </p:nvCxnSpPr>
        <p:spPr>
          <a:xfrm xmlns:a="http://schemas.openxmlformats.org/drawingml/2006/main">
            <a:off x="9829800" y="3429000"/>
            <a:ext cx="4572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9" name=""/>
          <p:cNvCxnSpPr>
            <a:stCxn xmlns:a="http://schemas.openxmlformats.org/drawingml/2006/main" id="19" idx="3"/>
            <a:endCxn xmlns:a="http://schemas.openxmlformats.org/drawingml/2006/main" id="23" idx="1"/>
          </p:cNvCxnSpPr>
          <p:nvPr/>
        </p:nvCxnSpPr>
        <p:spPr>
          <a:xfrm xmlns:a="http://schemas.openxmlformats.org/drawingml/2006/main">
            <a:off x="12268200" y="3429000"/>
            <a:ext cx="457200" cy="0"/>
          </a:xfrm>
          <a:prstGeom xmlns:a="http://schemas.openxmlformats.org/drawingml/2006/main" prst="straightConnector1">
            <a:avLst/>
          </a:prstGeom>
          <a:ln xmlns:a="http://schemas.openxmlformats.org/drawingml/2006/main" w="28575">
            <a:solidFill>
              <a:srgbClr val="8097B1"/>
            </a:solidFill>
            <a:tailEnd type="triangle" w="med" len="med"/>
          </a:ln>
        </p:spPr>
      </p:cxnSp>
      <p:sp>
        <p:nvSpPr>
          <p:cNvPr id="32" name="original-store">
            <a:extLst xmlns:a="http://schemas.openxmlformats.org/drawingml/2006/main">
              <a:ext uri="{FF2B5EF4-FFF2-40B4-BE49-F238E27FC236}">
                <a16:creationId xmlns:a16="http://schemas.microsoft.com/office/drawing/2014/main" id="{6AA785F5-3E46-4F93-93CE-EC08824665BE}"/>
              </a:ext>
            </a:extLst>
          </p:cNvPr>
          <p:cNvSpPr>
            <a:spLocks xmlns:a="http://schemas.openxmlformats.org/drawingml/2006/main" noGrp="1"/>
          </p:cNvSpPr>
          <p:nvPr/>
        </p:nvSpPr>
        <p:spPr>
          <a:xfrm xmlns:a="http://schemas.openxmlformats.org/drawingml/2006/main">
            <a:off x="533400" y="5334000"/>
            <a:ext cx="4343400" cy="1524000"/>
          </a:xfrm>
          <a:prstGeom xmlns:a="http://schemas.openxmlformats.org/drawingml/2006/main" prst="roundRect">
            <a:avLst>
              <a:gd name="adj" fmla="val 7500"/>
            </a:avLst>
          </a:prstGeom>
          <a:solidFill xmlns:a="http://schemas.openxmlformats.org/drawingml/2006/main">
            <a:srgbClr val="E3EEFA"/>
          </a:solidFill>
          <a:ln xmlns:a="http://schemas.openxmlformats.org/drawingml/2006/main" w="0">
            <a:noFill/>
          </a:ln>
        </p:spPr>
      </p:sp>
      <p:sp>
        <p:nvSpPr>
          <p:cNvPr id="33" name="original-heading">
            <a:extLst xmlns:a="http://schemas.openxmlformats.org/drawingml/2006/main">
              <a:ext uri="{FF2B5EF4-FFF2-40B4-BE49-F238E27FC236}">
                <a16:creationId xmlns:a16="http://schemas.microsoft.com/office/drawing/2014/main" id="{7B8AA155-9B1D-4ABD-8FBA-94D2359B6A1F}"/>
              </a:ext>
            </a:extLst>
          </p:cNvPr>
          <p:cNvSpPr>
            <a:spLocks xmlns:a="http://schemas.openxmlformats.org/drawingml/2006/main" noGrp="1"/>
          </p:cNvSpPr>
          <p:nvPr/>
        </p:nvSpPr>
        <p:spPr>
          <a:xfrm xmlns:a="http://schemas.openxmlformats.org/drawingml/2006/main">
            <a:off x="762000" y="5572125"/>
            <a:ext cx="3886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2F6095"/>
                </a:solidFill>
                <a:latin typeface="Helvetica Neue"/>
                <a:ea typeface="Helvetica Neue"/>
                <a:cs typeface="Helvetica Neue"/>
              </a:defRPr>
            </a:pPr>
            <a:r>
              <a:rPr sz="2325" b="1">
                <a:solidFill>
                  <a:srgbClr val="2F6095"/>
                </a:solidFill>
                <a:latin typeface="Helvetica Neue"/>
                <a:ea typeface="Helvetica Neue"/>
                <a:cs typeface="Helvetica Neue"/>
              </a:rPr>
              <a:t>Original AIF log</a:t>
            </a:r>
          </a:p>
        </p:txBody>
      </p:sp>
      <p:sp>
        <p:nvSpPr>
          <p:cNvPr id="34" name="original-detail">
            <a:extLst xmlns:a="http://schemas.openxmlformats.org/drawingml/2006/main">
              <a:ext uri="{FF2B5EF4-FFF2-40B4-BE49-F238E27FC236}">
                <a16:creationId xmlns:a16="http://schemas.microsoft.com/office/drawing/2014/main" id="{6B99DA66-642B-434D-94A5-0BDACDEE8C63}"/>
              </a:ext>
            </a:extLst>
          </p:cNvPr>
          <p:cNvSpPr>
            <a:spLocks xmlns:a="http://schemas.openxmlformats.org/drawingml/2006/main" noGrp="1"/>
          </p:cNvSpPr>
          <p:nvPr/>
        </p:nvSpPr>
        <p:spPr>
          <a:xfrm xmlns:a="http://schemas.openxmlformats.org/drawingml/2006/main">
            <a:off x="762000" y="6096000"/>
            <a:ext cx="3886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Kept unchanged</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Available in every case</a:t>
            </a:r>
          </a:p>
        </p:txBody>
      </p:sp>
      <p:cxnSp>
        <p:nvCxnSpPr>
          <p:cNvPr id="83" name=""/>
          <p:cNvCxnSpPr>
            <a:stCxn xmlns:a="http://schemas.openxmlformats.org/drawingml/2006/main" id="7" idx="2"/>
            <a:endCxn xmlns:a="http://schemas.openxmlformats.org/drawingml/2006/main" id="32" idx="0"/>
          </p:cNvCxnSpPr>
          <p:nvPr/>
        </p:nvCxnSpPr>
        <p:spPr>
          <a:xfrm xmlns:a="http://schemas.openxmlformats.org/drawingml/2006/main" flipH="1">
            <a:off x="2705100" y="4333875"/>
            <a:ext cx="1257300" cy="1000125"/>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sp>
        <p:nvSpPr>
          <p:cNvPr id="36" name="case-history">
            <a:extLst xmlns:a="http://schemas.openxmlformats.org/drawingml/2006/main">
              <a:ext uri="{FF2B5EF4-FFF2-40B4-BE49-F238E27FC236}">
                <a16:creationId xmlns:a16="http://schemas.microsoft.com/office/drawing/2014/main" id="{2A6DCAE5-E87D-4481-ACF5-54159BDDD856}"/>
              </a:ext>
            </a:extLst>
          </p:cNvPr>
          <p:cNvSpPr>
            <a:spLocks xmlns:a="http://schemas.openxmlformats.org/drawingml/2006/main" noGrp="1"/>
          </p:cNvSpPr>
          <p:nvPr/>
        </p:nvSpPr>
        <p:spPr>
          <a:xfrm xmlns:a="http://schemas.openxmlformats.org/drawingml/2006/main">
            <a:off x="5905500" y="5334000"/>
            <a:ext cx="3467100" cy="1524000"/>
          </a:xfrm>
          <a:prstGeom xmlns:a="http://schemas.openxmlformats.org/drawingml/2006/main" prst="roundRect">
            <a:avLst>
              <a:gd name="adj" fmla="val 7500"/>
            </a:avLst>
          </a:prstGeom>
          <a:solidFill xmlns:a="http://schemas.openxmlformats.org/drawingml/2006/main">
            <a:srgbClr val="E0F1ED"/>
          </a:solidFill>
          <a:ln xmlns:a="http://schemas.openxmlformats.org/drawingml/2006/main" w="0">
            <a:noFill/>
          </a:ln>
        </p:spPr>
      </p:sp>
      <p:sp>
        <p:nvSpPr>
          <p:cNvPr id="37" name="case-history-title">
            <a:extLst xmlns:a="http://schemas.openxmlformats.org/drawingml/2006/main">
              <a:ext uri="{FF2B5EF4-FFF2-40B4-BE49-F238E27FC236}">
                <a16:creationId xmlns:a16="http://schemas.microsoft.com/office/drawing/2014/main" id="{C1FA8B47-231B-4BC0-B01D-45B16B7C9023}"/>
              </a:ext>
            </a:extLst>
          </p:cNvPr>
          <p:cNvSpPr>
            <a:spLocks xmlns:a="http://schemas.openxmlformats.org/drawingml/2006/main" noGrp="1"/>
          </p:cNvSpPr>
          <p:nvPr/>
        </p:nvSpPr>
        <p:spPr>
          <a:xfrm xmlns:a="http://schemas.openxmlformats.org/drawingml/2006/main">
            <a:off x="6134100" y="5562600"/>
            <a:ext cx="300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Reviewed case history</a:t>
            </a:r>
          </a:p>
        </p:txBody>
      </p:sp>
      <p:sp>
        <p:nvSpPr>
          <p:cNvPr id="38" name="case-history-detail">
            <a:extLst xmlns:a="http://schemas.openxmlformats.org/drawingml/2006/main">
              <a:ext uri="{FF2B5EF4-FFF2-40B4-BE49-F238E27FC236}">
                <a16:creationId xmlns:a16="http://schemas.microsoft.com/office/drawing/2014/main" id="{099804BE-3913-49AB-BF3A-8014B9696EF3}"/>
              </a:ext>
            </a:extLst>
          </p:cNvPr>
          <p:cNvSpPr>
            <a:spLocks xmlns:a="http://schemas.openxmlformats.org/drawingml/2006/main" noGrp="1"/>
          </p:cNvSpPr>
          <p:nvPr/>
        </p:nvSpPr>
        <p:spPr>
          <a:xfrm xmlns:a="http://schemas.openxmlformats.org/drawingml/2006/main">
            <a:off x="6134100" y="6105525"/>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Approved findings</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and past cases</a:t>
            </a:r>
          </a:p>
        </p:txBody>
      </p:sp>
      <p:sp>
        <p:nvSpPr>
          <p:cNvPr id="39" name="human-led-review">
            <a:extLst xmlns:a="http://schemas.openxmlformats.org/drawingml/2006/main">
              <a:ext uri="{FF2B5EF4-FFF2-40B4-BE49-F238E27FC236}">
                <a16:creationId xmlns:a16="http://schemas.microsoft.com/office/drawing/2014/main" id="{0FD85197-9A0E-4350-9CC9-F61DF94E1522}"/>
              </a:ext>
            </a:extLst>
          </p:cNvPr>
          <p:cNvSpPr>
            <a:spLocks xmlns:a="http://schemas.openxmlformats.org/drawingml/2006/main" noGrp="1"/>
          </p:cNvSpPr>
          <p:nvPr/>
        </p:nvSpPr>
        <p:spPr>
          <a:xfrm xmlns:a="http://schemas.openxmlformats.org/drawingml/2006/main">
            <a:off x="10096500" y="5334000"/>
            <a:ext cx="4610100" cy="1524000"/>
          </a:xfrm>
          <a:prstGeom xmlns:a="http://schemas.openxmlformats.org/drawingml/2006/main" prst="roundRect">
            <a:avLst>
              <a:gd name="adj" fmla="val 7500"/>
            </a:avLst>
          </a:prstGeom>
          <a:solidFill xmlns:a="http://schemas.openxmlformats.org/drawingml/2006/main">
            <a:srgbClr val="FFF0D8"/>
          </a:solidFill>
          <a:ln xmlns:a="http://schemas.openxmlformats.org/drawingml/2006/main" w="0">
            <a:noFill/>
          </a:ln>
        </p:spPr>
      </p:sp>
      <p:sp>
        <p:nvSpPr>
          <p:cNvPr id="40" name="human-led-review-title">
            <a:extLst xmlns:a="http://schemas.openxmlformats.org/drawingml/2006/main">
              <a:ext uri="{FF2B5EF4-FFF2-40B4-BE49-F238E27FC236}">
                <a16:creationId xmlns:a16="http://schemas.microsoft.com/office/drawing/2014/main" id="{64572609-2601-4D80-A9E9-B9E7F407D09F}"/>
              </a:ext>
            </a:extLst>
          </p:cNvPr>
          <p:cNvSpPr>
            <a:spLocks xmlns:a="http://schemas.openxmlformats.org/drawingml/2006/main" noGrp="1"/>
          </p:cNvSpPr>
          <p:nvPr/>
        </p:nvSpPr>
        <p:spPr>
          <a:xfrm xmlns:a="http://schemas.openxmlformats.org/drawingml/2006/main">
            <a:off x="10344150" y="5572125"/>
            <a:ext cx="4114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8A6025"/>
                </a:solidFill>
                <a:latin typeface="Helvetica Neue"/>
                <a:ea typeface="Helvetica Neue"/>
                <a:cs typeface="Helvetica Neue"/>
              </a:defRPr>
            </a:pPr>
            <a:r>
              <a:rPr sz="2325" b="1">
                <a:solidFill>
                  <a:srgbClr val="8A6025"/>
                </a:solidFill>
                <a:latin typeface="Helvetica Neue"/>
                <a:ea typeface="Helvetica Neue"/>
                <a:cs typeface="Helvetica Neue"/>
              </a:rPr>
              <a:t>Human led Review</a:t>
            </a:r>
          </a:p>
        </p:txBody>
      </p:sp>
      <p:sp>
        <p:nvSpPr>
          <p:cNvPr id="41" name="human-led-review-detail">
            <a:extLst xmlns:a="http://schemas.openxmlformats.org/drawingml/2006/main">
              <a:ext uri="{FF2B5EF4-FFF2-40B4-BE49-F238E27FC236}">
                <a16:creationId xmlns:a16="http://schemas.microsoft.com/office/drawing/2014/main" id="{0C73338F-2446-41FB-A756-C7DBB739CEFC}"/>
              </a:ext>
            </a:extLst>
          </p:cNvPr>
          <p:cNvSpPr>
            <a:spLocks xmlns:a="http://schemas.openxmlformats.org/drawingml/2006/main" noGrp="1"/>
          </p:cNvSpPr>
          <p:nvPr/>
        </p:nvSpPr>
        <p:spPr>
          <a:xfrm xmlns:a="http://schemas.openxmlformats.org/drawingml/2006/main">
            <a:off x="10344150" y="6105525"/>
            <a:ext cx="4114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Check the case and log</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Record findings and result</a:t>
            </a:r>
          </a:p>
        </p:txBody>
      </p:sp>
      <p:cxnSp>
        <p:nvCxnSpPr>
          <p:cNvPr id="90" name=""/>
          <p:cNvCxnSpPr>
            <a:stCxn xmlns:a="http://schemas.openxmlformats.org/drawingml/2006/main" id="23" idx="2"/>
            <a:endCxn xmlns:a="http://schemas.openxmlformats.org/drawingml/2006/main" id="39" idx="0"/>
          </p:cNvCxnSpPr>
          <p:nvPr/>
        </p:nvCxnSpPr>
        <p:spPr>
          <a:xfrm xmlns:a="http://schemas.openxmlformats.org/drawingml/2006/main" flipH="1">
            <a:off x="12401550" y="4333875"/>
            <a:ext cx="1314450" cy="1000125"/>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cxnSp>
        <p:nvCxnSpPr>
          <p:cNvPr id="91" name=""/>
          <p:cNvCxnSpPr>
            <a:stCxn xmlns:a="http://schemas.openxmlformats.org/drawingml/2006/main" id="39" idx="1"/>
            <a:endCxn xmlns:a="http://schemas.openxmlformats.org/drawingml/2006/main" id="36" idx="3"/>
          </p:cNvCxnSpPr>
          <p:nvPr/>
        </p:nvCxnSpPr>
        <p:spPr>
          <a:xfrm xmlns:a="http://schemas.openxmlformats.org/drawingml/2006/main" flipH="1">
            <a:off x="9372600" y="6096000"/>
            <a:ext cx="7239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92" name=""/>
          <p:cNvCxnSpPr>
            <a:stCxn xmlns:a="http://schemas.openxmlformats.org/drawingml/2006/main" id="36" idx="0"/>
            <a:endCxn xmlns:a="http://schemas.openxmlformats.org/drawingml/2006/main" id="19" idx="2"/>
          </p:cNvCxnSpPr>
          <p:nvPr/>
        </p:nvCxnSpPr>
        <p:spPr>
          <a:xfrm xmlns:a="http://schemas.openxmlformats.org/drawingml/2006/main" flipV="1">
            <a:off x="7639050" y="4333875"/>
            <a:ext cx="3638550" cy="1000125"/>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sp>
        <p:nvSpPr>
          <p:cNvPr id="45" name="history-input-label">
            <a:extLst xmlns:a="http://schemas.openxmlformats.org/drawingml/2006/main">
              <a:ext uri="{FF2B5EF4-FFF2-40B4-BE49-F238E27FC236}">
                <a16:creationId xmlns:a16="http://schemas.microsoft.com/office/drawing/2014/main" id="{1416F2AC-EA72-48D1-83C8-677C1AFA9D2A}"/>
              </a:ext>
            </a:extLst>
          </p:cNvPr>
          <p:cNvSpPr>
            <a:spLocks xmlns:a="http://schemas.openxmlformats.org/drawingml/2006/main" noGrp="1"/>
          </p:cNvSpPr>
          <p:nvPr/>
        </p:nvSpPr>
        <p:spPr>
          <a:xfrm xmlns:a="http://schemas.openxmlformats.org/drawingml/2006/main">
            <a:off x="6515100" y="47244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1">
                <a:solidFill>
                  <a:srgbClr val="0B7870"/>
                </a:solidFill>
                <a:latin typeface="Helvetica Neue"/>
                <a:ea typeface="Helvetica Neue"/>
                <a:cs typeface="Helvetica Neue"/>
              </a:defRPr>
            </a:pPr>
            <a:r>
              <a:rPr sz="1875" b="1">
                <a:solidFill>
                  <a:srgbClr val="0B7870"/>
                </a:solidFill>
                <a:latin typeface="Helvetica Neue"/>
                <a:ea typeface="Helvetica Neue"/>
                <a:cs typeface="Helvetica Neue"/>
              </a:rPr>
              <a:t>Past cases for Agent 3</a:t>
            </a:r>
          </a:p>
        </p:txBody>
      </p:sp>
      <p:sp>
        <p:nvSpPr>
          <p:cNvPr id="46" name="learning-loop-band">
            <a:extLst xmlns:a="http://schemas.openxmlformats.org/drawingml/2006/main">
              <a:ext uri="{FF2B5EF4-FFF2-40B4-BE49-F238E27FC236}">
                <a16:creationId xmlns:a16="http://schemas.microsoft.com/office/drawing/2014/main" id="{FD877B4F-4AC7-4C00-8B75-82DE22FFBFE0}"/>
              </a:ext>
            </a:extLst>
          </p:cNvPr>
          <p:cNvSpPr>
            <a:spLocks xmlns:a="http://schemas.openxmlformats.org/drawingml/2006/main" noGrp="1"/>
          </p:cNvSpPr>
          <p:nvPr/>
        </p:nvSpPr>
        <p:spPr>
          <a:xfrm xmlns:a="http://schemas.openxmlformats.org/drawingml/2006/main">
            <a:off x="533400" y="7334250"/>
            <a:ext cx="14173200" cy="838200"/>
          </a:xfrm>
          <a:prstGeom xmlns:a="http://schemas.openxmlformats.org/drawingml/2006/main" prst="roundRect">
            <a:avLst>
              <a:gd name="adj" fmla="val 13636"/>
            </a:avLst>
          </a:prstGeom>
          <a:solidFill xmlns:a="http://schemas.openxmlformats.org/drawingml/2006/main">
            <a:srgbClr val="E0F1ED"/>
          </a:solidFill>
          <a:ln xmlns:a="http://schemas.openxmlformats.org/drawingml/2006/main" w="0">
            <a:noFill/>
          </a:ln>
        </p:spPr>
      </p:sp>
      <p:sp>
        <p:nvSpPr>
          <p:cNvPr id="47" name="learning-loop-title">
            <a:extLst xmlns:a="http://schemas.openxmlformats.org/drawingml/2006/main">
              <a:ext uri="{FF2B5EF4-FFF2-40B4-BE49-F238E27FC236}">
                <a16:creationId xmlns:a16="http://schemas.microsoft.com/office/drawing/2014/main" id="{9AAA6BE9-FC4E-43D0-8FEB-FDC2ECE5027A}"/>
              </a:ext>
            </a:extLst>
          </p:cNvPr>
          <p:cNvSpPr>
            <a:spLocks xmlns:a="http://schemas.openxmlformats.org/drawingml/2006/main" noGrp="1"/>
          </p:cNvSpPr>
          <p:nvPr/>
        </p:nvSpPr>
        <p:spPr>
          <a:xfrm xmlns:a="http://schemas.openxmlformats.org/drawingml/2006/main">
            <a:off x="762000" y="7562850"/>
            <a:ext cx="247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75" b="1">
                <a:solidFill>
                  <a:srgbClr val="0B7870"/>
                </a:solidFill>
                <a:latin typeface="Helvetica Neue"/>
                <a:ea typeface="Helvetica Neue"/>
                <a:cs typeface="Helvetica Neue"/>
              </a:defRPr>
            </a:pPr>
            <a:r>
              <a:rPr sz="2175" b="1">
                <a:solidFill>
                  <a:srgbClr val="0B7870"/>
                </a:solidFill>
                <a:latin typeface="Helvetica Neue"/>
                <a:ea typeface="Helvetica Neue"/>
                <a:cs typeface="Helvetica Neue"/>
              </a:rPr>
              <a:t>Learning loop</a:t>
            </a:r>
          </a:p>
        </p:txBody>
      </p:sp>
      <p:sp>
        <p:nvSpPr>
          <p:cNvPr id="48" name="learning-loop-text">
            <a:extLst xmlns:a="http://schemas.openxmlformats.org/drawingml/2006/main">
              <a:ext uri="{FF2B5EF4-FFF2-40B4-BE49-F238E27FC236}">
                <a16:creationId xmlns:a16="http://schemas.microsoft.com/office/drawing/2014/main" id="{FA75B2AC-1E55-4B3C-ABCB-95E918980F7C}"/>
              </a:ext>
            </a:extLst>
          </p:cNvPr>
          <p:cNvSpPr>
            <a:spLocks xmlns:a="http://schemas.openxmlformats.org/drawingml/2006/main" noGrp="1"/>
          </p:cNvSpPr>
          <p:nvPr/>
        </p:nvSpPr>
        <p:spPr>
          <a:xfrm xmlns:a="http://schemas.openxmlformats.org/drawingml/2006/main">
            <a:off x="3524250" y="7515225"/>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Humans in the loop approve findings. Reviewed cases return to Agent 3 for future summaries.</a:t>
            </a:r>
          </a:p>
        </p:txBody>
      </p:sp>
    </p:spTree>
    <p:extLst>
      <p:ext uri="{BB962C8B-B14F-4D97-AF65-F5344CB8AC3E}">
        <p14:creationId xmlns:p14="http://schemas.microsoft.com/office/powerpoint/2010/main" val="1282751164"/>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9F78C7B4-49F3-4CA3-82E6-821C403567F2}"/>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What goes in and what comes out</a:t>
            </a:r>
          </a:p>
        </p:txBody>
      </p:sp>
      <p:sp>
        <p:nvSpPr>
          <p:cNvPr id="2" name="subtitle">
            <a:extLst xmlns:a="http://schemas.openxmlformats.org/drawingml/2006/main">
              <a:ext uri="{FF2B5EF4-FFF2-40B4-BE49-F238E27FC236}">
                <a16:creationId xmlns:a16="http://schemas.microsoft.com/office/drawing/2014/main" id="{23B11F0B-D571-4C23-8DF3-D6A14DAF0E87}"/>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Humans in the loop review the case and record the result.</a:t>
            </a:r>
          </a:p>
        </p:txBody>
      </p:sp>
      <p:graphicFrame>
        <p:nvGraphicFramePr>
          <p:cNvPr id="12" name=""/>
          <p:cNvGraphicFramePr/>
          <p:nvPr/>
        </p:nvGraphicFramePr>
        <p:xfrm>
          <a:off xmlns:a="http://schemas.openxmlformats.org/drawingml/2006/main" x="533400" y="1981200"/>
          <a:ext xmlns:a="http://schemas.openxmlformats.org/drawingml/2006/main" cx="14173200" cy="4191000"/>
        </p:xfrm>
        <a:graphic xmlns:a="http://schemas.openxmlformats.org/drawingml/2006/main">
          <a:graphicData uri="http://schemas.openxmlformats.org/drawingml/2006/table">
            <a:tbl>
              <a:tblPr firstRow="0" bandRow="0"/>
              <a:tblGrid>
                <a:gridCol w="2152650"/>
                <a:gridCol w="3257550"/>
                <a:gridCol w="4514850"/>
                <a:gridCol w="4248150"/>
              </a:tblGrid>
              <a:tr h="476250">
                <a:tc>
                  <a:txBody>
                    <a:bodyPr wrap="square">
                      <a:noAutofit/>
                    </a:bodyPr>
                    <a:lstStyle/>
                    <a:p>
                      <a:r>
                        <a:rPr sz="1875" b="1">
                          <a:solidFill>
                            <a:srgbClr val="FFFFFF"/>
                          </a:solidFill>
                          <a:latin typeface="Helvetica Neue"/>
                          <a:ea typeface="Helvetica Neue"/>
                          <a:cs typeface="Helvetica Neue"/>
                        </a:rPr>
                        <a:t>Step</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1">
                          <a:solidFill>
                            <a:srgbClr val="FFFFFF"/>
                          </a:solidFill>
                          <a:latin typeface="Helvetica Neue"/>
                          <a:ea typeface="Helvetica Neue"/>
                          <a:cs typeface="Helvetica Neue"/>
                        </a:rPr>
                        <a:t>What goes in</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1">
                          <a:solidFill>
                            <a:srgbClr val="FFFFFF"/>
                          </a:solidFill>
                          <a:latin typeface="Helvetica Neue"/>
                          <a:ea typeface="Helvetica Neue"/>
                          <a:cs typeface="Helvetica Neue"/>
                        </a:rPr>
                        <a:t>What happens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1">
                          <a:solidFill>
                            <a:srgbClr val="FFFFFF"/>
                          </a:solidFill>
                          <a:latin typeface="Helvetica Neue"/>
                          <a:ea typeface="Helvetica Neue"/>
                          <a:cs typeface="Helvetica Neue"/>
                        </a:rPr>
                        <a:t>What comes out</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r>
              <a:tr h="742950">
                <a:tc>
                  <a:txBody>
                    <a:bodyPr wrap="square">
                      <a:noAutofit/>
                    </a:bodyPr>
                    <a:lstStyle/>
                    <a:p>
                      <a:r>
                        <a:rPr sz="1875" b="1">
                          <a:solidFill>
                            <a:srgbClr val="FFFFFF"/>
                          </a:solidFill>
                          <a:latin typeface="Helvetica Neue"/>
                          <a:ea typeface="Helvetica Neue"/>
                          <a:cs typeface="Helvetica Neue"/>
                        </a:rPr>
                        <a:t>Intake</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Uploaded AIF log</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Save the original.</a:t>
                      </a:r>
                    </a:p>
                    <a:p>
                      <a:r>
                        <a:rPr sz="1875" b="0">
                          <a:solidFill>
                            <a:srgbClr val="15304C"/>
                          </a:solidFill>
                          <a:latin typeface="Helvetica Neue"/>
                          <a:ea typeface="Helvetica Neue"/>
                          <a:cs typeface="Helvetica Neue"/>
                        </a:rPr>
                        <a:t>Queue analysis.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Saved log and</a:t>
                      </a:r>
                    </a:p>
                    <a:p>
                      <a:r>
                        <a:rPr sz="1875" b="0">
                          <a:solidFill>
                            <a:srgbClr val="15304C"/>
                          </a:solidFill>
                          <a:latin typeface="Helvetica Neue"/>
                          <a:ea typeface="Helvetica Neue"/>
                          <a:cs typeface="Helvetica Neue"/>
                        </a:rPr>
                        <a:t>source references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742950">
                <a:tc>
                  <a:txBody>
                    <a:bodyPr wrap="square">
                      <a:noAutofit/>
                    </a:bodyPr>
                    <a:lstStyle/>
                    <a:p>
                      <a:r>
                        <a:rPr sz="1875" b="1">
                          <a:solidFill>
                            <a:srgbClr val="FFFFFF"/>
                          </a:solidFill>
                          <a:latin typeface="Helvetica Neue"/>
                          <a:ea typeface="Helvetica Neue"/>
                          <a:cs typeface="Helvetica Neue"/>
                        </a:rPr>
                        <a:t>Agent 1</a:t>
                      </a:r>
                    </a:p>
                    <a:p>
                      <a:r>
                        <a:rPr sz="1875" b="1">
                          <a:solidFill>
                            <a:srgbClr val="FFFFFF"/>
                          </a:solidFill>
                          <a:latin typeface="Helvetica Neue"/>
                          <a:ea typeface="Helvetica Neue"/>
                          <a:cs typeface="Helvetica Neue"/>
                        </a:rPr>
                        <a:t>Extract</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Saved AIF log</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875" b="0">
                          <a:solidFill>
                            <a:srgbClr val="15304C"/>
                          </a:solidFill>
                          <a:latin typeface="Helvetica Neue"/>
                          <a:ea typeface="Helvetica Neue"/>
                          <a:cs typeface="Helvetica Neue"/>
                        </a:rPr>
                        <a:t>Read messages, document</a:t>
                      </a:r>
                    </a:p>
                    <a:p>
                      <a:r>
                        <a:rPr sz="1875" b="0">
                          <a:solidFill>
                            <a:srgbClr val="15304C"/>
                          </a:solidFill>
                          <a:latin typeface="Helvetica Neue"/>
                          <a:ea typeface="Helvetica Neue"/>
                          <a:cs typeface="Helvetica Neue"/>
                        </a:rPr>
                        <a:t>details, fields and values.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875" b="0">
                          <a:solidFill>
                            <a:srgbClr val="15304C"/>
                          </a:solidFill>
                          <a:latin typeface="Helvetica Neue"/>
                          <a:ea typeface="Helvetica Neue"/>
                          <a:cs typeface="Helvetica Neue"/>
                        </a:rPr>
                        <a:t>Full extracted log</a:t>
                      </a:r>
                    </a:p>
                    <a:p>
                      <a:r>
                        <a:rPr sz="1875" b="0">
                          <a:solidFill>
                            <a:srgbClr val="15304C"/>
                          </a:solidFill>
                          <a:latin typeface="Helvetica Neue"/>
                          <a:ea typeface="Helvetica Neue"/>
                          <a:cs typeface="Helvetica Neue"/>
                        </a:rPr>
                        <a:t>with source references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742950">
                <a:tc>
                  <a:txBody>
                    <a:bodyPr wrap="square">
                      <a:noAutofit/>
                    </a:bodyPr>
                    <a:lstStyle/>
                    <a:p>
                      <a:r>
                        <a:rPr sz="1875" b="1">
                          <a:solidFill>
                            <a:srgbClr val="FFFFFF"/>
                          </a:solidFill>
                          <a:latin typeface="Helvetica Neue"/>
                          <a:ea typeface="Helvetica Neue"/>
                          <a:cs typeface="Helvetica Neue"/>
                        </a:rPr>
                        <a:t>Agent 2</a:t>
                      </a:r>
                    </a:p>
                    <a:p>
                      <a:r>
                        <a:rPr sz="1875" b="1">
                          <a:solidFill>
                            <a:srgbClr val="FFFFFF"/>
                          </a:solidFill>
                          <a:latin typeface="Helvetica Neue"/>
                          <a:ea typeface="Helvetica Neue"/>
                          <a:cs typeface="Helvetica Neue"/>
                        </a:rPr>
                        <a:t>Select</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Full extracted log</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Select errors, affected items,</a:t>
                      </a:r>
                    </a:p>
                    <a:p>
                      <a:r>
                        <a:rPr sz="1875" b="0">
                          <a:solidFill>
                            <a:srgbClr val="15304C"/>
                          </a:solidFill>
                          <a:latin typeface="Helvetica Neue"/>
                          <a:ea typeface="Helvetica Neue"/>
                          <a:cs typeface="Helvetica Neue"/>
                        </a:rPr>
                        <a:t>outcomes and missing details.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Key evidence</a:t>
                      </a:r>
                    </a:p>
                    <a:p>
                      <a:r>
                        <a:rPr sz="1875" b="0">
                          <a:solidFill>
                            <a:srgbClr val="15304C"/>
                          </a:solidFill>
                          <a:latin typeface="Helvetica Neue"/>
                          <a:ea typeface="Helvetica Neue"/>
                          <a:cs typeface="Helvetica Neue"/>
                        </a:rPr>
                        <a:t>and gaps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742950">
                <a:tc>
                  <a:txBody>
                    <a:bodyPr wrap="square">
                      <a:noAutofit/>
                    </a:bodyPr>
                    <a:lstStyle/>
                    <a:p>
                      <a:r>
                        <a:rPr sz="1875" b="1">
                          <a:solidFill>
                            <a:srgbClr val="FFFFFF"/>
                          </a:solidFill>
                          <a:latin typeface="Helvetica Neue"/>
                          <a:ea typeface="Helvetica Neue"/>
                          <a:cs typeface="Helvetica Neue"/>
                        </a:rPr>
                        <a:t>Agent 3</a:t>
                      </a:r>
                    </a:p>
                    <a:p>
                      <a:r>
                        <a:rPr sz="1875" b="1">
                          <a:solidFill>
                            <a:srgbClr val="FFFFFF"/>
                          </a:solidFill>
                          <a:latin typeface="Helvetica Neue"/>
                          <a:ea typeface="Helvetica Neue"/>
                          <a:cs typeface="Helvetica Neue"/>
                        </a:rPr>
                        <a:t>Summarise</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Key evidence and</a:t>
                      </a:r>
                    </a:p>
                    <a:p>
                      <a:r>
                        <a:rPr sz="1875" b="0">
                          <a:solidFill>
                            <a:srgbClr val="15304C"/>
                          </a:solidFill>
                          <a:latin typeface="Helvetica Neue"/>
                          <a:ea typeface="Helvetica Neue"/>
                          <a:cs typeface="Helvetica Neue"/>
                        </a:rPr>
                        <a:t>reviewed past cases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875" b="0">
                          <a:solidFill>
                            <a:srgbClr val="15304C"/>
                          </a:solidFill>
                          <a:latin typeface="Helvetica Neue"/>
                          <a:ea typeface="Helvetica Neue"/>
                          <a:cs typeface="Helvetica Neue"/>
                        </a:rPr>
                        <a:t>Write a short summary.</a:t>
                      </a:r>
                    </a:p>
                    <a:p>
                      <a:r>
                        <a:rPr sz="1875" b="0">
                          <a:solidFill>
                            <a:srgbClr val="15304C"/>
                          </a:solidFill>
                          <a:latin typeface="Helvetica Neue"/>
                          <a:ea typeface="Helvetica Neue"/>
                          <a:cs typeface="Helvetica Neue"/>
                        </a:rPr>
                        <a:t>Keep past findings separate.</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875" b="0">
                          <a:solidFill>
                            <a:srgbClr val="15304C"/>
                          </a:solidFill>
                          <a:latin typeface="Helvetica Neue"/>
                          <a:ea typeface="Helvetica Neue"/>
                          <a:cs typeface="Helvetica Neue"/>
                        </a:rPr>
                        <a:t>Case summary, gaps</a:t>
                      </a:r>
                    </a:p>
                    <a:p>
                      <a:r>
                        <a:rPr sz="1875" b="0">
                          <a:solidFill>
                            <a:srgbClr val="15304C"/>
                          </a:solidFill>
                          <a:latin typeface="Helvetica Neue"/>
                          <a:ea typeface="Helvetica Neue"/>
                          <a:cs typeface="Helvetica Neue"/>
                        </a:rPr>
                        <a:t>and related cases</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742950">
                <a:tc>
                  <a:txBody>
                    <a:bodyPr wrap="square">
                      <a:noAutofit/>
                    </a:bodyPr>
                    <a:lstStyle/>
                    <a:p>
                      <a:r>
                        <a:rPr sz="1875" b="1">
                          <a:solidFill>
                            <a:srgbClr val="FFFFFF"/>
                          </a:solidFill>
                          <a:latin typeface="Helvetica Neue"/>
                          <a:ea typeface="Helvetica Neue"/>
                          <a:cs typeface="Helvetica Neue"/>
                        </a:rPr>
                        <a:t>Save case</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Summary and</a:t>
                      </a:r>
                    </a:p>
                    <a:p>
                      <a:r>
                        <a:rPr sz="1875" b="0">
                          <a:solidFill>
                            <a:srgbClr val="15304C"/>
                          </a:solidFill>
                          <a:latin typeface="Helvetica Neue"/>
                          <a:ea typeface="Helvetica Neue"/>
                          <a:cs typeface="Helvetica Neue"/>
                        </a:rPr>
                        <a:t>original AIF log</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Save the case, links and owner.</a:t>
                      </a:r>
                    </a:p>
                    <a:p>
                      <a:r>
                        <a:rPr sz="1875" b="0">
                          <a:solidFill>
                            <a:srgbClr val="15304C"/>
                          </a:solidFill>
                          <a:latin typeface="Helvetica Neue"/>
                          <a:ea typeface="Helvetica Neue"/>
                          <a:cs typeface="Helvetica Neue"/>
                        </a:rPr>
                        <a:t>Serve saved data through API.</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875" b="0">
                          <a:solidFill>
                            <a:srgbClr val="15304C"/>
                          </a:solidFill>
                          <a:latin typeface="Helvetica Neue"/>
                          <a:ea typeface="Helvetica Neue"/>
                          <a:cs typeface="Helvetica Neue"/>
                        </a:rPr>
                        <a:t>Case page and</a:t>
                      </a:r>
                    </a:p>
                    <a:p>
                      <a:r>
                        <a:rPr sz="1875" b="0">
                          <a:solidFill>
                            <a:srgbClr val="15304C"/>
                          </a:solidFill>
                          <a:latin typeface="Helvetica Neue"/>
                          <a:ea typeface="Helvetica Neue"/>
                          <a:cs typeface="Helvetica Neue"/>
                        </a:rPr>
                        <a:t>read API</a:t>
                      </a:r>
                    </a:p>
                  </a:txBody>
                  <a:tcPr marL="152400" marR="15240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bl>
          </a:graphicData>
        </a:graphic>
      </p:graphicFrame>
      <p:sp>
        <p:nvSpPr>
          <p:cNvPr id="4" name="human-review-explanation">
            <a:extLst xmlns:a="http://schemas.openxmlformats.org/drawingml/2006/main">
              <a:ext uri="{FF2B5EF4-FFF2-40B4-BE49-F238E27FC236}">
                <a16:creationId xmlns:a16="http://schemas.microsoft.com/office/drawing/2014/main" id="{1F4729DD-431A-4385-8172-78867D7636FC}"/>
              </a:ext>
            </a:extLst>
          </p:cNvPr>
          <p:cNvSpPr>
            <a:spLocks xmlns:a="http://schemas.openxmlformats.org/drawingml/2006/main" noGrp="1"/>
          </p:cNvSpPr>
          <p:nvPr/>
        </p:nvSpPr>
        <p:spPr>
          <a:xfrm xmlns:a="http://schemas.openxmlformats.org/drawingml/2006/main">
            <a:off x="533400" y="6648450"/>
            <a:ext cx="6896100" cy="1524000"/>
          </a:xfrm>
          <a:prstGeom xmlns:a="http://schemas.openxmlformats.org/drawingml/2006/main" prst="roundRect">
            <a:avLst>
              <a:gd name="adj" fmla="val 7500"/>
            </a:avLst>
          </a:prstGeom>
          <a:solidFill xmlns:a="http://schemas.openxmlformats.org/drawingml/2006/main">
            <a:srgbClr val="FFF0D8"/>
          </a:solidFill>
          <a:ln xmlns:a="http://schemas.openxmlformats.org/drawingml/2006/main" w="0">
            <a:noFill/>
          </a:ln>
        </p:spPr>
      </p:sp>
      <p:sp>
        <p:nvSpPr>
          <p:cNvPr id="5" name="human-review-explanation-title">
            <a:extLst xmlns:a="http://schemas.openxmlformats.org/drawingml/2006/main">
              <a:ext uri="{FF2B5EF4-FFF2-40B4-BE49-F238E27FC236}">
                <a16:creationId xmlns:a16="http://schemas.microsoft.com/office/drawing/2014/main" id="{3AAEC899-45B8-4AE8-B092-C7E9786E84E0}"/>
              </a:ext>
            </a:extLst>
          </p:cNvPr>
          <p:cNvSpPr>
            <a:spLocks xmlns:a="http://schemas.openxmlformats.org/drawingml/2006/main" noGrp="1"/>
          </p:cNvSpPr>
          <p:nvPr/>
        </p:nvSpPr>
        <p:spPr>
          <a:xfrm xmlns:a="http://schemas.openxmlformats.org/drawingml/2006/main">
            <a:off x="762000" y="6838950"/>
            <a:ext cx="643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8A6025"/>
                </a:solidFill>
                <a:latin typeface="Helvetica Neue"/>
                <a:ea typeface="Helvetica Neue"/>
                <a:cs typeface="Helvetica Neue"/>
              </a:defRPr>
            </a:pPr>
            <a:r>
              <a:rPr sz="2250" b="1">
                <a:solidFill>
                  <a:srgbClr val="8A6025"/>
                </a:solidFill>
                <a:latin typeface="Helvetica Neue"/>
                <a:ea typeface="Helvetica Neue"/>
                <a:cs typeface="Helvetica Neue"/>
              </a:rPr>
              <a:t>Human led Review</a:t>
            </a:r>
          </a:p>
        </p:txBody>
      </p:sp>
      <p:sp>
        <p:nvSpPr>
          <p:cNvPr id="6" name="human-review-explanation-detail">
            <a:extLst xmlns:a="http://schemas.openxmlformats.org/drawingml/2006/main">
              <a:ext uri="{FF2B5EF4-FFF2-40B4-BE49-F238E27FC236}">
                <a16:creationId xmlns:a16="http://schemas.microsoft.com/office/drawing/2014/main" id="{569F8C46-D7AD-424B-B296-9C33DC7FF2DC}"/>
              </a:ext>
            </a:extLst>
          </p:cNvPr>
          <p:cNvSpPr>
            <a:spLocks xmlns:a="http://schemas.openxmlformats.org/drawingml/2006/main" noGrp="1"/>
          </p:cNvSpPr>
          <p:nvPr/>
        </p:nvSpPr>
        <p:spPr>
          <a:xfrm xmlns:a="http://schemas.openxmlformats.org/drawingml/2006/main">
            <a:off x="762000" y="7381875"/>
            <a:ext cx="643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Humans in the loop check the summary,</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investigate in SAP and record the outcome.</a:t>
            </a:r>
          </a:p>
        </p:txBody>
      </p:sp>
      <p:sp>
        <p:nvSpPr>
          <p:cNvPr id="7" name="learning-explanation">
            <a:extLst xmlns:a="http://schemas.openxmlformats.org/drawingml/2006/main">
              <a:ext uri="{FF2B5EF4-FFF2-40B4-BE49-F238E27FC236}">
                <a16:creationId xmlns:a16="http://schemas.microsoft.com/office/drawing/2014/main" id="{CFA40B97-2605-44BA-B34F-8D23AC52EEE4}"/>
              </a:ext>
            </a:extLst>
          </p:cNvPr>
          <p:cNvSpPr>
            <a:spLocks xmlns:a="http://schemas.openxmlformats.org/drawingml/2006/main" noGrp="1"/>
          </p:cNvSpPr>
          <p:nvPr/>
        </p:nvSpPr>
        <p:spPr>
          <a:xfrm xmlns:a="http://schemas.openxmlformats.org/drawingml/2006/main">
            <a:off x="7810500" y="6648450"/>
            <a:ext cx="6896100" cy="1524000"/>
          </a:xfrm>
          <a:prstGeom xmlns:a="http://schemas.openxmlformats.org/drawingml/2006/main" prst="roundRect">
            <a:avLst>
              <a:gd name="adj" fmla="val 7500"/>
            </a:avLst>
          </a:prstGeom>
          <a:solidFill xmlns:a="http://schemas.openxmlformats.org/drawingml/2006/main">
            <a:srgbClr val="E0F1ED"/>
          </a:solidFill>
          <a:ln xmlns:a="http://schemas.openxmlformats.org/drawingml/2006/main" w="0">
            <a:noFill/>
          </a:ln>
        </p:spPr>
      </p:sp>
      <p:sp>
        <p:nvSpPr>
          <p:cNvPr id="8" name="learning-explanation-title">
            <a:extLst xmlns:a="http://schemas.openxmlformats.org/drawingml/2006/main">
              <a:ext uri="{FF2B5EF4-FFF2-40B4-BE49-F238E27FC236}">
                <a16:creationId xmlns:a16="http://schemas.microsoft.com/office/drawing/2014/main" id="{9E5DA2A7-F6DA-46A9-9EB8-03CDCEDE00F2}"/>
              </a:ext>
            </a:extLst>
          </p:cNvPr>
          <p:cNvSpPr>
            <a:spLocks xmlns:a="http://schemas.openxmlformats.org/drawingml/2006/main" noGrp="1"/>
          </p:cNvSpPr>
          <p:nvPr/>
        </p:nvSpPr>
        <p:spPr>
          <a:xfrm xmlns:a="http://schemas.openxmlformats.org/drawingml/2006/main">
            <a:off x="8039100" y="6838950"/>
            <a:ext cx="6438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0B7870"/>
                </a:solidFill>
                <a:latin typeface="Helvetica Neue"/>
                <a:ea typeface="Helvetica Neue"/>
                <a:cs typeface="Helvetica Neue"/>
              </a:defRPr>
            </a:pPr>
            <a:r>
              <a:rPr sz="2250" b="1">
                <a:solidFill>
                  <a:srgbClr val="0B7870"/>
                </a:solidFill>
                <a:latin typeface="Helvetica Neue"/>
                <a:ea typeface="Helvetica Neue"/>
                <a:cs typeface="Helvetica Neue"/>
              </a:rPr>
              <a:t>Learning loop</a:t>
            </a:r>
          </a:p>
        </p:txBody>
      </p:sp>
      <p:sp>
        <p:nvSpPr>
          <p:cNvPr id="9" name="learning-explanation-detail">
            <a:extLst xmlns:a="http://schemas.openxmlformats.org/drawingml/2006/main">
              <a:ext uri="{FF2B5EF4-FFF2-40B4-BE49-F238E27FC236}">
                <a16:creationId xmlns:a16="http://schemas.microsoft.com/office/drawing/2014/main" id="{F597C50E-EA27-4205-878F-08D3874EAFAC}"/>
              </a:ext>
            </a:extLst>
          </p:cNvPr>
          <p:cNvSpPr>
            <a:spLocks xmlns:a="http://schemas.openxmlformats.org/drawingml/2006/main" noGrp="1"/>
          </p:cNvSpPr>
          <p:nvPr/>
        </p:nvSpPr>
        <p:spPr>
          <a:xfrm xmlns:a="http://schemas.openxmlformats.org/drawingml/2006/main">
            <a:off x="8039100" y="7381875"/>
            <a:ext cx="643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 led Review approves findings.</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Agent 3 can read them in future cases.</a:t>
            </a:r>
          </a:p>
        </p:txBody>
      </p:sp>
    </p:spTree>
    <p:extLst>
      <p:ext uri="{BB962C8B-B14F-4D97-AF65-F5344CB8AC3E}">
        <p14:creationId xmlns:p14="http://schemas.microsoft.com/office/powerpoint/2010/main" val="1281665502"/>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41D78173-4525-436F-86D9-465C938F89D4}"/>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Future: Joule agents use the app in SAP</a:t>
            </a:r>
          </a:p>
        </p:txBody>
      </p:sp>
      <p:sp>
        <p:nvSpPr>
          <p:cNvPr id="2" name="subtitle">
            <a:extLst xmlns:a="http://schemas.openxmlformats.org/drawingml/2006/main">
              <a:ext uri="{FF2B5EF4-FFF2-40B4-BE49-F238E27FC236}">
                <a16:creationId xmlns:a16="http://schemas.microsoft.com/office/drawing/2014/main" id="{2E895C62-3A43-430E-9A31-5C770841BB76}"/>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Reuse the app. Set up Joule agents for each customer’s SAP process.</a:t>
            </a:r>
          </a:p>
        </p:txBody>
      </p:sp>
      <p:sp>
        <p:nvSpPr>
          <p:cNvPr id="3" name="future-app">
            <a:extLst xmlns:a="http://schemas.openxmlformats.org/drawingml/2006/main">
              <a:ext uri="{FF2B5EF4-FFF2-40B4-BE49-F238E27FC236}">
                <a16:creationId xmlns:a16="http://schemas.microsoft.com/office/drawing/2014/main" id="{96F6E1A2-CF16-4AA1-A253-AB8489D74CC8}"/>
              </a:ext>
            </a:extLst>
          </p:cNvPr>
          <p:cNvSpPr>
            <a:spLocks xmlns:a="http://schemas.openxmlformats.org/drawingml/2006/main" noGrp="1"/>
          </p:cNvSpPr>
          <p:nvPr/>
        </p:nvSpPr>
        <p:spPr>
          <a:xfrm xmlns:a="http://schemas.openxmlformats.org/drawingml/2006/main">
            <a:off x="533400" y="2076450"/>
            <a:ext cx="4210050" cy="3429000"/>
          </a:xfrm>
          <a:prstGeom xmlns:a="http://schemas.openxmlformats.org/drawingml/2006/main" prst="roundRect">
            <a:avLst>
              <a:gd name="adj" fmla="val 3333"/>
            </a:avLst>
          </a:prstGeom>
          <a:solidFill xmlns:a="http://schemas.openxmlformats.org/drawingml/2006/main">
            <a:srgbClr val="15304C"/>
          </a:solidFill>
          <a:ln xmlns:a="http://schemas.openxmlformats.org/drawingml/2006/main" w="0">
            <a:noFill/>
          </a:ln>
        </p:spPr>
      </p:sp>
      <p:sp>
        <p:nvSpPr>
          <p:cNvPr id="4" name="future-app-title">
            <a:extLst xmlns:a="http://schemas.openxmlformats.org/drawingml/2006/main">
              <a:ext uri="{FF2B5EF4-FFF2-40B4-BE49-F238E27FC236}">
                <a16:creationId xmlns:a16="http://schemas.microsoft.com/office/drawing/2014/main" id="{DF848ECB-B287-4EB3-84F2-643B658CB592}"/>
              </a:ext>
            </a:extLst>
          </p:cNvPr>
          <p:cNvSpPr>
            <a:spLocks xmlns:a="http://schemas.openxmlformats.org/drawingml/2006/main" noGrp="1"/>
          </p:cNvSpPr>
          <p:nvPr/>
        </p:nvSpPr>
        <p:spPr>
          <a:xfrm xmlns:a="http://schemas.openxmlformats.org/drawingml/2006/main">
            <a:off x="781050" y="236220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CFIN app + API</a:t>
            </a:r>
          </a:p>
        </p:txBody>
      </p:sp>
      <p:sp>
        <p:nvSpPr>
          <p:cNvPr id="5" name="future-app-data-0">
            <a:extLst xmlns:a="http://schemas.openxmlformats.org/drawingml/2006/main">
              <a:ext uri="{FF2B5EF4-FFF2-40B4-BE49-F238E27FC236}">
                <a16:creationId xmlns:a16="http://schemas.microsoft.com/office/drawing/2014/main" id="{4CF07824-F17F-4675-9550-5D7F59BDD63B}"/>
              </a:ext>
            </a:extLst>
          </p:cNvPr>
          <p:cNvSpPr>
            <a:spLocks xmlns:a="http://schemas.openxmlformats.org/drawingml/2006/main" noGrp="1"/>
          </p:cNvSpPr>
          <p:nvPr/>
        </p:nvSpPr>
        <p:spPr>
          <a:xfrm xmlns:a="http://schemas.openxmlformats.org/drawingml/2006/main">
            <a:off x="781050" y="31718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Case summary</a:t>
            </a:r>
          </a:p>
        </p:txBody>
      </p:sp>
      <p:sp>
        <p:nvSpPr>
          <p:cNvPr id="6" name="future-app-data-1">
            <a:extLst xmlns:a="http://schemas.openxmlformats.org/drawingml/2006/main">
              <a:ext uri="{FF2B5EF4-FFF2-40B4-BE49-F238E27FC236}">
                <a16:creationId xmlns:a16="http://schemas.microsoft.com/office/drawing/2014/main" id="{F3D71191-ED82-4FE9-8930-D36D5708A5A9}"/>
              </a:ext>
            </a:extLst>
          </p:cNvPr>
          <p:cNvSpPr>
            <a:spLocks xmlns:a="http://schemas.openxmlformats.org/drawingml/2006/main" noGrp="1"/>
          </p:cNvSpPr>
          <p:nvPr/>
        </p:nvSpPr>
        <p:spPr>
          <a:xfrm xmlns:a="http://schemas.openxmlformats.org/drawingml/2006/main">
            <a:off x="781050" y="36576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Original AIF log</a:t>
            </a:r>
          </a:p>
        </p:txBody>
      </p:sp>
      <p:sp>
        <p:nvSpPr>
          <p:cNvPr id="7" name="future-app-data-2">
            <a:extLst xmlns:a="http://schemas.openxmlformats.org/drawingml/2006/main">
              <a:ext uri="{FF2B5EF4-FFF2-40B4-BE49-F238E27FC236}">
                <a16:creationId xmlns:a16="http://schemas.microsoft.com/office/drawing/2014/main" id="{6BD18280-75B7-4E3B-BB97-B95B91E5B334}"/>
              </a:ext>
            </a:extLst>
          </p:cNvPr>
          <p:cNvSpPr>
            <a:spLocks xmlns:a="http://schemas.openxmlformats.org/drawingml/2006/main" noGrp="1"/>
          </p:cNvSpPr>
          <p:nvPr/>
        </p:nvSpPr>
        <p:spPr>
          <a:xfrm xmlns:a="http://schemas.openxmlformats.org/drawingml/2006/main">
            <a:off x="781050" y="4143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Related cases</a:t>
            </a:r>
          </a:p>
        </p:txBody>
      </p:sp>
      <p:sp>
        <p:nvSpPr>
          <p:cNvPr id="8" name="future-app-data-3">
            <a:extLst xmlns:a="http://schemas.openxmlformats.org/drawingml/2006/main">
              <a:ext uri="{FF2B5EF4-FFF2-40B4-BE49-F238E27FC236}">
                <a16:creationId xmlns:a16="http://schemas.microsoft.com/office/drawing/2014/main" id="{D68D89A6-3F2E-4C90-B023-01D8590B62D3}"/>
              </a:ext>
            </a:extLst>
          </p:cNvPr>
          <p:cNvSpPr>
            <a:spLocks xmlns:a="http://schemas.openxmlformats.org/drawingml/2006/main" noGrp="1"/>
          </p:cNvSpPr>
          <p:nvPr/>
        </p:nvSpPr>
        <p:spPr>
          <a:xfrm xmlns:a="http://schemas.openxmlformats.org/drawingml/2006/main">
            <a:off x="781050" y="4629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Review findings</a:t>
            </a:r>
          </a:p>
        </p:txBody>
      </p:sp>
      <p:sp>
        <p:nvSpPr>
          <p:cNvPr id="9" name="future-joule">
            <a:extLst xmlns:a="http://schemas.openxmlformats.org/drawingml/2006/main">
              <a:ext uri="{FF2B5EF4-FFF2-40B4-BE49-F238E27FC236}">
                <a16:creationId xmlns:a16="http://schemas.microsoft.com/office/drawing/2014/main" id="{FF013915-E7A3-4B5E-A382-95D60B9EB360}"/>
              </a:ext>
            </a:extLst>
          </p:cNvPr>
          <p:cNvSpPr>
            <a:spLocks xmlns:a="http://schemas.openxmlformats.org/drawingml/2006/main" noGrp="1"/>
          </p:cNvSpPr>
          <p:nvPr/>
        </p:nvSpPr>
        <p:spPr>
          <a:xfrm xmlns:a="http://schemas.openxmlformats.org/drawingml/2006/main">
            <a:off x="5467350" y="2076450"/>
            <a:ext cx="4286250" cy="3429000"/>
          </a:xfrm>
          <a:prstGeom xmlns:a="http://schemas.openxmlformats.org/drawingml/2006/main" prst="roundRect">
            <a:avLst>
              <a:gd name="adj" fmla="val 3333"/>
            </a:avLst>
          </a:prstGeom>
          <a:solidFill xmlns:a="http://schemas.openxmlformats.org/drawingml/2006/main">
            <a:srgbClr val="EEE8FA"/>
          </a:solidFill>
          <a:ln xmlns:a="http://schemas.openxmlformats.org/drawingml/2006/main" w="0">
            <a:noFill/>
          </a:ln>
        </p:spPr>
      </p:sp>
      <p:sp>
        <p:nvSpPr>
          <p:cNvPr id="10" name="future-joule-title">
            <a:extLst xmlns:a="http://schemas.openxmlformats.org/drawingml/2006/main">
              <a:ext uri="{FF2B5EF4-FFF2-40B4-BE49-F238E27FC236}">
                <a16:creationId xmlns:a16="http://schemas.microsoft.com/office/drawing/2014/main" id="{E3B52EFB-1C31-42CE-AE37-116CEBEEC962}"/>
              </a:ext>
            </a:extLst>
          </p:cNvPr>
          <p:cNvSpPr>
            <a:spLocks xmlns:a="http://schemas.openxmlformats.org/drawingml/2006/main" noGrp="1"/>
          </p:cNvSpPr>
          <p:nvPr/>
        </p:nvSpPr>
        <p:spPr>
          <a:xfrm xmlns:a="http://schemas.openxmlformats.org/drawingml/2006/main">
            <a:off x="5715000" y="236220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15304C"/>
                </a:solidFill>
                <a:latin typeface="Helvetica Neue"/>
                <a:ea typeface="Helvetica Neue"/>
                <a:cs typeface="Helvetica Neue"/>
              </a:defRPr>
            </a:pPr>
            <a:r>
              <a:rPr sz="2775" b="1">
                <a:solidFill>
                  <a:srgbClr val="15304C"/>
                </a:solidFill>
                <a:latin typeface="Helvetica Neue"/>
                <a:ea typeface="Helvetica Neue"/>
                <a:cs typeface="Helvetica Neue"/>
              </a:rPr>
              <a:t>Joule agents</a:t>
            </a:r>
          </a:p>
        </p:txBody>
      </p:sp>
      <p:sp>
        <p:nvSpPr>
          <p:cNvPr id="11" name="future-joule-detail">
            <a:extLst xmlns:a="http://schemas.openxmlformats.org/drawingml/2006/main">
              <a:ext uri="{FF2B5EF4-FFF2-40B4-BE49-F238E27FC236}">
                <a16:creationId xmlns:a16="http://schemas.microsoft.com/office/drawing/2014/main" id="{5242EB54-64E9-42EF-B68A-695E8897C5F7}"/>
              </a:ext>
            </a:extLst>
          </p:cNvPr>
          <p:cNvSpPr>
            <a:spLocks xmlns:a="http://schemas.openxmlformats.org/drawingml/2006/main" noGrp="1"/>
          </p:cNvSpPr>
          <p:nvPr/>
        </p:nvSpPr>
        <p:spPr>
          <a:xfrm xmlns:a="http://schemas.openxmlformats.org/drawingml/2006/main">
            <a:off x="5715000" y="3171825"/>
            <a:ext cx="37909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Read case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Check live SAP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Apply customer rules</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Choose the next step</a:t>
            </a:r>
          </a:p>
        </p:txBody>
      </p:sp>
      <p:cxnSp>
        <p:nvCxnSpPr>
          <p:cNvPr id="34" name=""/>
          <p:cNvCxnSpPr>
            <a:stCxn xmlns:a="http://schemas.openxmlformats.org/drawingml/2006/main" id="3" idx="3"/>
            <a:endCxn xmlns:a="http://schemas.openxmlformats.org/drawingml/2006/main" id="9" idx="1"/>
          </p:cNvCxnSpPr>
          <p:nvPr/>
        </p:nvCxnSpPr>
        <p:spPr>
          <a:xfrm xmlns:a="http://schemas.openxmlformats.org/drawingml/2006/main">
            <a:off x="4743450" y="3790950"/>
            <a:ext cx="723900" cy="0"/>
          </a:xfrm>
          <a:prstGeom xmlns:a="http://schemas.openxmlformats.org/drawingml/2006/main" prst="straightConnector1">
            <a:avLst/>
          </a:prstGeom>
          <a:ln xmlns:a="http://schemas.openxmlformats.org/drawingml/2006/main" w="28575">
            <a:solidFill>
              <a:srgbClr val="8097B1"/>
            </a:solidFill>
            <a:headEnd type="triangle" w="med" len="med"/>
            <a:tailEnd type="triangle" w="med" len="med"/>
          </a:ln>
        </p:spPr>
      </p:cxnSp>
      <p:sp>
        <p:nvSpPr>
          <p:cNvPr id="13" name="future-sap">
            <a:extLst xmlns:a="http://schemas.openxmlformats.org/drawingml/2006/main">
              <a:ext uri="{FF2B5EF4-FFF2-40B4-BE49-F238E27FC236}">
                <a16:creationId xmlns:a16="http://schemas.microsoft.com/office/drawing/2014/main" id="{6D863913-AB7C-4463-A599-B761406D7CBB}"/>
              </a:ext>
            </a:extLst>
          </p:cNvPr>
          <p:cNvSpPr>
            <a:spLocks xmlns:a="http://schemas.openxmlformats.org/drawingml/2006/main" noGrp="1"/>
          </p:cNvSpPr>
          <p:nvPr/>
        </p:nvSpPr>
        <p:spPr>
          <a:xfrm xmlns:a="http://schemas.openxmlformats.org/drawingml/2006/main">
            <a:off x="10477500" y="2076450"/>
            <a:ext cx="4229100" cy="1552575"/>
          </a:xfrm>
          <a:prstGeom xmlns:a="http://schemas.openxmlformats.org/drawingml/2006/main" prst="roundRect">
            <a:avLst>
              <a:gd name="adj" fmla="val 7362"/>
            </a:avLst>
          </a:prstGeom>
          <a:solidFill xmlns:a="http://schemas.openxmlformats.org/drawingml/2006/main">
            <a:srgbClr val="E3EEFA"/>
          </a:solidFill>
          <a:ln xmlns:a="http://schemas.openxmlformats.org/drawingml/2006/main" w="0">
            <a:noFill/>
          </a:ln>
        </p:spPr>
      </p:sp>
      <p:sp>
        <p:nvSpPr>
          <p:cNvPr id="14" name="future-sap-title">
            <a:extLst xmlns:a="http://schemas.openxmlformats.org/drawingml/2006/main">
              <a:ext uri="{FF2B5EF4-FFF2-40B4-BE49-F238E27FC236}">
                <a16:creationId xmlns:a16="http://schemas.microsoft.com/office/drawing/2014/main" id="{AFC9C2CA-9525-41E5-B793-A871E9261724}"/>
              </a:ext>
            </a:extLst>
          </p:cNvPr>
          <p:cNvSpPr>
            <a:spLocks xmlns:a="http://schemas.openxmlformats.org/drawingml/2006/main" noGrp="1"/>
          </p:cNvSpPr>
          <p:nvPr/>
        </p:nvSpPr>
        <p:spPr>
          <a:xfrm xmlns:a="http://schemas.openxmlformats.org/drawingml/2006/main">
            <a:off x="10706100" y="228600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2F6095"/>
                </a:solidFill>
                <a:latin typeface="Helvetica Neue"/>
                <a:ea typeface="Helvetica Neue"/>
                <a:cs typeface="Helvetica Neue"/>
              </a:defRPr>
            </a:pPr>
            <a:r>
              <a:rPr sz="2325" b="1">
                <a:solidFill>
                  <a:srgbClr val="2F6095"/>
                </a:solidFill>
                <a:latin typeface="Helvetica Neue"/>
                <a:ea typeface="Helvetica Neue"/>
                <a:cs typeface="Helvetica Neue"/>
              </a:rPr>
              <a:t>Actions in SAP</a:t>
            </a:r>
          </a:p>
        </p:txBody>
      </p:sp>
      <p:sp>
        <p:nvSpPr>
          <p:cNvPr id="15" name="future-sap-detail">
            <a:extLst xmlns:a="http://schemas.openxmlformats.org/drawingml/2006/main">
              <a:ext uri="{FF2B5EF4-FFF2-40B4-BE49-F238E27FC236}">
                <a16:creationId xmlns:a16="http://schemas.microsoft.com/office/drawing/2014/main" id="{A7D41240-F41C-4D5C-A35B-A69C9FD1363F}"/>
              </a:ext>
            </a:extLst>
          </p:cNvPr>
          <p:cNvSpPr>
            <a:spLocks xmlns:a="http://schemas.openxmlformats.org/drawingml/2006/main" noGrp="1"/>
          </p:cNvSpPr>
          <p:nvPr/>
        </p:nvSpPr>
        <p:spPr>
          <a:xfrm xmlns:a="http://schemas.openxmlformats.org/drawingml/2006/main">
            <a:off x="10706100" y="2876550"/>
            <a:ext cx="3771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Run permitted SAP steps</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Record the result</a:t>
            </a:r>
          </a:p>
        </p:txBody>
      </p:sp>
      <p:sp>
        <p:nvSpPr>
          <p:cNvPr id="16" name="future-human">
            <a:extLst xmlns:a="http://schemas.openxmlformats.org/drawingml/2006/main">
              <a:ext uri="{FF2B5EF4-FFF2-40B4-BE49-F238E27FC236}">
                <a16:creationId xmlns:a16="http://schemas.microsoft.com/office/drawing/2014/main" id="{C92E03E3-4C37-4FD6-9305-DE2FEA74A7B0}"/>
              </a:ext>
            </a:extLst>
          </p:cNvPr>
          <p:cNvSpPr>
            <a:spLocks xmlns:a="http://schemas.openxmlformats.org/drawingml/2006/main" noGrp="1"/>
          </p:cNvSpPr>
          <p:nvPr/>
        </p:nvSpPr>
        <p:spPr>
          <a:xfrm xmlns:a="http://schemas.openxmlformats.org/drawingml/2006/main">
            <a:off x="10477500" y="3952875"/>
            <a:ext cx="4229100" cy="1552575"/>
          </a:xfrm>
          <a:prstGeom xmlns:a="http://schemas.openxmlformats.org/drawingml/2006/main" prst="roundRect">
            <a:avLst>
              <a:gd name="adj" fmla="val 7362"/>
            </a:avLst>
          </a:prstGeom>
          <a:solidFill xmlns:a="http://schemas.openxmlformats.org/drawingml/2006/main">
            <a:srgbClr val="FFF0D8"/>
          </a:solidFill>
          <a:ln xmlns:a="http://schemas.openxmlformats.org/drawingml/2006/main" w="0">
            <a:noFill/>
          </a:ln>
        </p:spPr>
      </p:sp>
      <p:sp>
        <p:nvSpPr>
          <p:cNvPr id="17" name="future-human-title">
            <a:extLst xmlns:a="http://schemas.openxmlformats.org/drawingml/2006/main">
              <a:ext uri="{FF2B5EF4-FFF2-40B4-BE49-F238E27FC236}">
                <a16:creationId xmlns:a16="http://schemas.microsoft.com/office/drawing/2014/main" id="{14212B6C-C6A3-42EC-9535-5945C60E2330}"/>
              </a:ext>
            </a:extLst>
          </p:cNvPr>
          <p:cNvSpPr>
            <a:spLocks xmlns:a="http://schemas.openxmlformats.org/drawingml/2006/main" noGrp="1"/>
          </p:cNvSpPr>
          <p:nvPr/>
        </p:nvSpPr>
        <p:spPr>
          <a:xfrm xmlns:a="http://schemas.openxmlformats.org/drawingml/2006/main">
            <a:off x="10706100" y="417195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8A6025"/>
                </a:solidFill>
                <a:latin typeface="Helvetica Neue"/>
                <a:ea typeface="Helvetica Neue"/>
                <a:cs typeface="Helvetica Neue"/>
              </a:defRPr>
            </a:pPr>
            <a:r>
              <a:rPr sz="2325" b="1">
                <a:solidFill>
                  <a:srgbClr val="8A6025"/>
                </a:solidFill>
                <a:latin typeface="Helvetica Neue"/>
                <a:ea typeface="Helvetica Neue"/>
                <a:cs typeface="Helvetica Neue"/>
              </a:rPr>
              <a:t>Human led Review</a:t>
            </a:r>
          </a:p>
        </p:txBody>
      </p:sp>
      <p:sp>
        <p:nvSpPr>
          <p:cNvPr id="18" name="future-human-detail">
            <a:extLst xmlns:a="http://schemas.openxmlformats.org/drawingml/2006/main">
              <a:ext uri="{FF2B5EF4-FFF2-40B4-BE49-F238E27FC236}">
                <a16:creationId xmlns:a16="http://schemas.microsoft.com/office/drawing/2014/main" id="{71B6CF14-B27E-42E2-BFE2-1A2B8323C37B}"/>
              </a:ext>
            </a:extLst>
          </p:cNvPr>
          <p:cNvSpPr>
            <a:spLocks xmlns:a="http://schemas.openxmlformats.org/drawingml/2006/main" noGrp="1"/>
          </p:cNvSpPr>
          <p:nvPr/>
        </p:nvSpPr>
        <p:spPr>
          <a:xfrm xmlns:a="http://schemas.openxmlformats.org/drawingml/2006/main">
            <a:off x="10706100" y="4724400"/>
            <a:ext cx="3771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Humans in the loop approve</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or carry out the SAP work.</a:t>
            </a:r>
          </a:p>
        </p:txBody>
      </p:sp>
      <p:cxnSp>
        <p:nvCxnSpPr>
          <p:cNvPr id="41" name=""/>
          <p:cNvCxnSpPr>
            <a:stCxn xmlns:a="http://schemas.openxmlformats.org/drawingml/2006/main" id="9" idx="3"/>
            <a:endCxn xmlns:a="http://schemas.openxmlformats.org/drawingml/2006/main" id="13" idx="1"/>
          </p:cNvCxnSpPr>
          <p:nvPr/>
        </p:nvCxnSpPr>
        <p:spPr>
          <a:xfrm xmlns:a="http://schemas.openxmlformats.org/drawingml/2006/main" flipV="1">
            <a:off x="9753600" y="2852738"/>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cxnSp>
        <p:nvCxnSpPr>
          <p:cNvPr id="42" name=""/>
          <p:cNvCxnSpPr>
            <a:stCxn xmlns:a="http://schemas.openxmlformats.org/drawingml/2006/main" id="9" idx="3"/>
            <a:endCxn xmlns:a="http://schemas.openxmlformats.org/drawingml/2006/main" id="16" idx="1"/>
          </p:cNvCxnSpPr>
          <p:nvPr/>
        </p:nvCxnSpPr>
        <p:spPr>
          <a:xfrm xmlns:a="http://schemas.openxmlformats.org/drawingml/2006/main">
            <a:off x="9753600" y="3790950"/>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graphicFrame>
        <p:nvGraphicFramePr>
          <p:cNvPr id="43" name=""/>
          <p:cNvGraphicFramePr/>
          <p:nvPr/>
        </p:nvGraphicFramePr>
        <p:xfrm>
          <a:off xmlns:a="http://schemas.openxmlformats.org/drawingml/2006/main" x="533400" y="6076950"/>
          <a:ext xmlns:a="http://schemas.openxmlformats.org/drawingml/2006/main" cx="14173200" cy="1676400"/>
        </p:xfrm>
        <a:graphic xmlns:a="http://schemas.openxmlformats.org/drawingml/2006/main">
          <a:graphicData uri="http://schemas.openxmlformats.org/drawingml/2006/table">
            <a:tbl>
              <a:tblPr firstRow="0" bandRow="0"/>
              <a:tblGrid>
                <a:gridCol w="3048000"/>
                <a:gridCol w="11125200"/>
              </a:tblGrid>
              <a:tr h="838200">
                <a:tc>
                  <a:txBody>
                    <a:bodyPr wrap="square">
                      <a:noAutofit/>
                    </a:bodyPr>
                    <a:lstStyle/>
                    <a:p>
                      <a:r>
                        <a:rPr sz="2100" b="1">
                          <a:solidFill>
                            <a:srgbClr val="FFFFFF"/>
                          </a:solidFill>
                          <a:latin typeface="Helvetica Neue"/>
                          <a:ea typeface="Helvetica Neue"/>
                          <a:cs typeface="Helvetica Neue"/>
                        </a:rPr>
                        <a:t>Reuse across clients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The app, API, case format and evaluation checks.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EAF0F8"/>
                    </a:solidFill>
                  </a:tcPr>
                </a:tc>
              </a:tr>
              <a:tr h="838200">
                <a:tc>
                  <a:txBody>
                    <a:bodyPr wrap="square">
                      <a:noAutofit/>
                    </a:bodyPr>
                    <a:lstStyle/>
                    <a:p>
                      <a:r>
                        <a:rPr sz="2100" b="1">
                          <a:solidFill>
                            <a:srgbClr val="FFFFFF"/>
                          </a:solidFill>
                          <a:latin typeface="Helvetica Neue"/>
                          <a:ea typeface="Helvetica Neue"/>
                          <a:cs typeface="Helvetica Neue"/>
                        </a:rPr>
                        <a:t>Set up per customer</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SAP connections, tools, permissions, approval rules and reviewed case history.</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FFFFFF"/>
                    </a:solidFill>
                  </a:tcPr>
                </a:tc>
              </a:tr>
            </a:tbl>
          </a:graphicData>
        </a:graphic>
      </p:graphicFrame>
      <p:sp>
        <p:nvSpPr>
          <p:cNvPr id="22" name="future-boundary">
            <a:extLst xmlns:a="http://schemas.openxmlformats.org/drawingml/2006/main">
              <a:ext uri="{FF2B5EF4-FFF2-40B4-BE49-F238E27FC236}">
                <a16:creationId xmlns:a16="http://schemas.microsoft.com/office/drawing/2014/main" id="{5AA10397-623F-44F7-B3E1-21AF6F629EA1}"/>
              </a:ext>
            </a:extLst>
          </p:cNvPr>
          <p:cNvSpPr>
            <a:spLocks xmlns:a="http://schemas.openxmlformats.org/drawingml/2006/main" noGrp="1"/>
          </p:cNvSpPr>
          <p:nvPr/>
        </p:nvSpPr>
        <p:spPr>
          <a:xfrm xmlns:a="http://schemas.openxmlformats.org/drawingml/2006/main">
            <a:off x="533400" y="8115300"/>
            <a:ext cx="1417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52677F"/>
                </a:solidFill>
                <a:latin typeface="Helvetica Neue"/>
                <a:ea typeface="Helvetica Neue"/>
                <a:cs typeface="Helvetica Neue"/>
              </a:defRPr>
            </a:pPr>
            <a:r>
              <a:rPr sz="1725" b="0">
                <a:solidFill>
                  <a:srgbClr val="52677F"/>
                </a:solidFill>
                <a:latin typeface="Helvetica Neue"/>
                <a:ea typeface="Helvetica Neue"/>
                <a:cs typeface="Helvetica Neue"/>
              </a:rPr>
              <a:t>Joule integration is future work. SAP actions need current checks and customer approval rules.</a:t>
            </a:r>
          </a:p>
        </p:txBody>
      </p:sp>
    </p:spTree>
    <p:extLst>
      <p:ext uri="{BB962C8B-B14F-4D97-AF65-F5344CB8AC3E}">
        <p14:creationId xmlns:p14="http://schemas.microsoft.com/office/powerpoint/2010/main" val="261764382"/>
      </p:ext>
    </p:extLst>
  </p:cSld>
</p:sld>
</file>

<file path=ppt/slides/slide5.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B945834B-78CE-48F0-8B38-11CFF83A86B9}"/>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document, messages and values</a:t>
            </a:r>
          </a:p>
        </p:txBody>
      </p:sp>
      <p:sp>
        <p:nvSpPr>
          <p:cNvPr id="2" name="subtitle">
            <a:extLst xmlns:a="http://schemas.openxmlformats.org/drawingml/2006/main">
              <a:ext uri="{FF2B5EF4-FFF2-40B4-BE49-F238E27FC236}">
                <a16:creationId xmlns:a16="http://schemas.microsoft.com/office/drawing/2014/main" id="{6FFEC61B-C111-4CCC-B43B-F6B19A378FA1}"/>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Document 1900000421. All values, message codes and field paths below are fictional.</a:t>
            </a:r>
          </a:p>
        </p:txBody>
      </p:sp>
      <p:sp>
        <p:nvSpPr>
          <p:cNvPr id="3" name="aif-data-messages">
            <a:extLst xmlns:a="http://schemas.openxmlformats.org/drawingml/2006/main">
              <a:ext uri="{FF2B5EF4-FFF2-40B4-BE49-F238E27FC236}">
                <a16:creationId xmlns:a16="http://schemas.microsoft.com/office/drawing/2014/main" id="{FA53A207-1684-465F-A5FB-E0B78B49B8E8}"/>
              </a:ext>
            </a:extLst>
          </p:cNvPr>
          <p:cNvSpPr>
            <a:spLocks xmlns:a="http://schemas.openxmlformats.org/drawingml/2006/main" noGrp="1"/>
          </p:cNvSpPr>
          <p:nvPr/>
        </p:nvSpPr>
        <p:spPr>
          <a:xfrm xmlns:a="http://schemas.openxmlformats.org/drawingml/2006/main">
            <a:off x="533400" y="1971675"/>
            <a:ext cx="6191250" cy="2838450"/>
          </a:xfrm>
          <a:prstGeom xmlns:a="http://schemas.openxmlformats.org/drawingml/2006/main" prst="roundRect">
            <a:avLst>
              <a:gd name="adj" fmla="val 4027"/>
            </a:avLst>
          </a:prstGeom>
          <a:solidFill xmlns:a="http://schemas.openxmlformats.org/drawingml/2006/main">
            <a:srgbClr val="FFFFFF"/>
          </a:solidFill>
          <a:ln xmlns:a="http://schemas.openxmlformats.org/drawingml/2006/main" w="0">
            <a:noFill/>
          </a:ln>
        </p:spPr>
      </p:sp>
      <p:sp>
        <p:nvSpPr>
          <p:cNvPr id="4" name="aif-data-messages-title">
            <a:extLst xmlns:a="http://schemas.openxmlformats.org/drawingml/2006/main">
              <a:ext uri="{FF2B5EF4-FFF2-40B4-BE49-F238E27FC236}">
                <a16:creationId xmlns:a16="http://schemas.microsoft.com/office/drawing/2014/main" id="{9DD937C2-229E-412A-8C16-A658D14D83EA}"/>
              </a:ext>
            </a:extLst>
          </p:cNvPr>
          <p:cNvSpPr>
            <a:spLocks xmlns:a="http://schemas.openxmlformats.org/drawingml/2006/main" noGrp="1"/>
          </p:cNvSpPr>
          <p:nvPr/>
        </p:nvSpPr>
        <p:spPr>
          <a:xfrm xmlns:a="http://schemas.openxmlformats.org/drawingml/2006/main">
            <a:off x="742950" y="2162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Messages</a:t>
            </a:r>
          </a:p>
        </p:txBody>
      </p:sp>
      <p:graphicFrame>
        <p:nvGraphicFramePr>
          <p:cNvPr id="25" name=""/>
          <p:cNvGraphicFramePr/>
          <p:nvPr/>
        </p:nvGraphicFramePr>
        <p:xfrm>
          <a:off xmlns:a="http://schemas.openxmlformats.org/drawingml/2006/main" x="742950" y="2619375"/>
          <a:ext xmlns:a="http://schemas.openxmlformats.org/drawingml/2006/main" cx="5772150" cy="2057400"/>
        </p:xfrm>
        <a:graphic xmlns:a="http://schemas.openxmlformats.org/drawingml/2006/main">
          <a:graphicData uri="http://schemas.openxmlformats.org/drawingml/2006/table">
            <a:tbl>
              <a:tblPr firstRow="0" bandRow="0"/>
              <a:tblGrid>
                <a:gridCol w="2457450"/>
                <a:gridCol w="3314700"/>
              </a:tblGrid>
              <a:tr h="342900">
                <a:tc>
                  <a:txBody>
                    <a:bodyPr wrap="square">
                      <a:noAutofit/>
                    </a:bodyPr>
                    <a:lstStyle/>
                    <a:p>
                      <a:r>
                        <a:rPr sz="1725" b="1">
                          <a:solidFill>
                            <a:srgbClr val="FFFFFF"/>
                          </a:solidFill>
                          <a:latin typeface="Helvetica Neue"/>
                          <a:ea typeface="Helvetica Neue"/>
                          <a:cs typeface="Helvetica Neue"/>
                        </a:rPr>
                        <a:t>Source document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1900000421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Source company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Fiscal year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2026</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Target system / client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CFIN-DEMO / 100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Attempt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Reported status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6" name="aif-data-content">
            <a:extLst xmlns:a="http://schemas.openxmlformats.org/drawingml/2006/main">
              <a:ext uri="{FF2B5EF4-FFF2-40B4-BE49-F238E27FC236}">
                <a16:creationId xmlns:a16="http://schemas.microsoft.com/office/drawing/2014/main" id="{B3B6A3B5-60A8-4C11-BB26-FCE3DF81C227}"/>
              </a:ext>
            </a:extLst>
          </p:cNvPr>
          <p:cNvSpPr>
            <a:spLocks xmlns:a="http://schemas.openxmlformats.org/drawingml/2006/main" noGrp="1"/>
          </p:cNvSpPr>
          <p:nvPr/>
        </p:nvSpPr>
        <p:spPr>
          <a:xfrm xmlns:a="http://schemas.openxmlformats.org/drawingml/2006/main">
            <a:off x="533400" y="5019675"/>
            <a:ext cx="6191250" cy="3038475"/>
          </a:xfrm>
          <a:prstGeom xmlns:a="http://schemas.openxmlformats.org/drawingml/2006/main" prst="roundRect">
            <a:avLst>
              <a:gd name="adj" fmla="val 3762"/>
            </a:avLst>
          </a:prstGeom>
          <a:solidFill xmlns:a="http://schemas.openxmlformats.org/drawingml/2006/main">
            <a:srgbClr val="FFFFFF"/>
          </a:solidFill>
          <a:ln xmlns:a="http://schemas.openxmlformats.org/drawingml/2006/main" w="0">
            <a:noFill/>
          </a:ln>
        </p:spPr>
      </p:sp>
      <p:sp>
        <p:nvSpPr>
          <p:cNvPr id="7" name="aif-data-content-title">
            <a:extLst xmlns:a="http://schemas.openxmlformats.org/drawingml/2006/main">
              <a:ext uri="{FF2B5EF4-FFF2-40B4-BE49-F238E27FC236}">
                <a16:creationId xmlns:a16="http://schemas.microsoft.com/office/drawing/2014/main" id="{3BAB5A1E-355D-4BB3-99C3-AE164D77978C}"/>
              </a:ext>
            </a:extLst>
          </p:cNvPr>
          <p:cNvSpPr>
            <a:spLocks xmlns:a="http://schemas.openxmlformats.org/drawingml/2006/main" noGrp="1"/>
          </p:cNvSpPr>
          <p:nvPr/>
        </p:nvSpPr>
        <p:spPr>
          <a:xfrm xmlns:a="http://schemas.openxmlformats.org/drawingml/2006/main">
            <a:off x="742950" y="5210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Content</a:t>
            </a:r>
          </a:p>
        </p:txBody>
      </p:sp>
      <p:graphicFrame>
        <p:nvGraphicFramePr>
          <p:cNvPr id="28" name=""/>
          <p:cNvGraphicFramePr/>
          <p:nvPr/>
        </p:nvGraphicFramePr>
        <p:xfrm>
          <a:off xmlns:a="http://schemas.openxmlformats.org/drawingml/2006/main" x="742950" y="5676900"/>
          <a:ext xmlns:a="http://schemas.openxmlformats.org/drawingml/2006/main" cx="5772150" cy="2190750"/>
        </p:xfrm>
        <a:graphic xmlns:a="http://schemas.openxmlformats.org/drawingml/2006/main">
          <a:graphicData uri="http://schemas.openxmlformats.org/drawingml/2006/table">
            <a:tbl>
              <a:tblPr firstRow="0" bandRow="0"/>
              <a:tblGrid>
                <a:gridCol w="2457450"/>
                <a:gridCol w="3314700"/>
              </a:tblGrid>
              <a:tr h="438150">
                <a:tc>
                  <a:txBody>
                    <a:bodyPr wrap="square">
                      <a:noAutofit/>
                    </a:bodyPr>
                    <a:lstStyle/>
                    <a:p>
                      <a:r>
                        <a:rPr sz="1725" b="1">
                          <a:solidFill>
                            <a:srgbClr val="FFFFFF"/>
                          </a:solidFill>
                          <a:latin typeface="Helvetica Neue"/>
                          <a:ea typeface="Helvetica Neue"/>
                          <a:cs typeface="Helvetica Neue"/>
                        </a:rPr>
                        <a:t>Item</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0001</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Source G/L account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0000400000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Attempted target G/L</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0000410000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Target company</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2000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Debit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GBP 1,250.00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bl>
          </a:graphicData>
        </a:graphic>
      </p:graphicFrame>
      <p:sp>
        <p:nvSpPr>
          <p:cNvPr id="9" name="aif-log-messages">
            <a:extLst xmlns:a="http://schemas.openxmlformats.org/drawingml/2006/main">
              <a:ext uri="{FF2B5EF4-FFF2-40B4-BE49-F238E27FC236}">
                <a16:creationId xmlns:a16="http://schemas.microsoft.com/office/drawing/2014/main" id="{9863553C-1CC9-4ADD-BF5C-6F9057B1E08A}"/>
              </a:ext>
            </a:extLst>
          </p:cNvPr>
          <p:cNvSpPr>
            <a:spLocks xmlns:a="http://schemas.openxmlformats.org/drawingml/2006/main" noGrp="1"/>
          </p:cNvSpPr>
          <p:nvPr/>
        </p:nvSpPr>
        <p:spPr>
          <a:xfrm xmlns:a="http://schemas.openxmlformats.org/drawingml/2006/main">
            <a:off x="6953250" y="1971675"/>
            <a:ext cx="775335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0">
            <a:noFill/>
          </a:ln>
        </p:spPr>
      </p:sp>
      <p:sp>
        <p:nvSpPr>
          <p:cNvPr id="10" name="aif-log-messages-title">
            <a:extLst xmlns:a="http://schemas.openxmlformats.org/drawingml/2006/main">
              <a:ext uri="{FF2B5EF4-FFF2-40B4-BE49-F238E27FC236}">
                <a16:creationId xmlns:a16="http://schemas.microsoft.com/office/drawing/2014/main" id="{20324596-4027-4614-99FF-EF2DE8FD047D}"/>
              </a:ext>
            </a:extLst>
          </p:cNvPr>
          <p:cNvSpPr>
            <a:spLocks xmlns:a="http://schemas.openxmlformats.org/drawingml/2006/main" noGrp="1"/>
          </p:cNvSpPr>
          <p:nvPr/>
        </p:nvSpPr>
        <p:spPr>
          <a:xfrm xmlns:a="http://schemas.openxmlformats.org/drawingml/2006/main">
            <a:off x="7181850" y="2162175"/>
            <a:ext cx="7296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Log Messages</a:t>
            </a:r>
          </a:p>
        </p:txBody>
      </p:sp>
      <p:sp>
        <p:nvSpPr>
          <p:cNvPr id="11" name="aif-reported-error">
            <a:extLst xmlns:a="http://schemas.openxmlformats.org/drawingml/2006/main">
              <a:ext uri="{FF2B5EF4-FFF2-40B4-BE49-F238E27FC236}">
                <a16:creationId xmlns:a16="http://schemas.microsoft.com/office/drawing/2014/main" id="{DE232983-21D3-4CED-BE80-55FAB6A8DA1E}"/>
              </a:ext>
            </a:extLst>
          </p:cNvPr>
          <p:cNvSpPr>
            <a:spLocks xmlns:a="http://schemas.openxmlformats.org/drawingml/2006/main" noGrp="1"/>
          </p:cNvSpPr>
          <p:nvPr/>
        </p:nvSpPr>
        <p:spPr>
          <a:xfrm xmlns:a="http://schemas.openxmlformats.org/drawingml/2006/main">
            <a:off x="7181850" y="2705100"/>
            <a:ext cx="7296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“G/L account 0000410000 is not maintained</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in company code 2000.”</a:t>
            </a:r>
          </a:p>
        </p:txBody>
      </p:sp>
      <p:sp>
        <p:nvSpPr>
          <p:cNvPr id="12" name="aif-reported-outcome">
            <a:extLst xmlns:a="http://schemas.openxmlformats.org/drawingml/2006/main">
              <a:ext uri="{FF2B5EF4-FFF2-40B4-BE49-F238E27FC236}">
                <a16:creationId xmlns:a16="http://schemas.microsoft.com/office/drawing/2014/main" id="{93591330-258F-4BBF-86E9-0CE1FE7FC36E}"/>
              </a:ext>
            </a:extLst>
          </p:cNvPr>
          <p:cNvSpPr>
            <a:spLocks xmlns:a="http://schemas.openxmlformats.org/drawingml/2006/main" noGrp="1"/>
          </p:cNvSpPr>
          <p:nvPr/>
        </p:nvSpPr>
        <p:spPr>
          <a:xfrm xmlns:a="http://schemas.openxmlformats.org/drawingml/2006/main">
            <a:off x="7181850" y="3495675"/>
            <a:ext cx="7296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Posting stopped for attempt 1.</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No target document reference was returned.</a:t>
            </a:r>
          </a:p>
        </p:txBody>
      </p:sp>
      <p:sp>
        <p:nvSpPr>
          <p:cNvPr id="13" name="aif-data-structure">
            <a:extLst xmlns:a="http://schemas.openxmlformats.org/drawingml/2006/main">
              <a:ext uri="{FF2B5EF4-FFF2-40B4-BE49-F238E27FC236}">
                <a16:creationId xmlns:a16="http://schemas.microsoft.com/office/drawing/2014/main" id="{07FE0EAA-9D3C-4449-9AAD-ED3C77EB337B}"/>
              </a:ext>
            </a:extLst>
          </p:cNvPr>
          <p:cNvSpPr>
            <a:spLocks xmlns:a="http://schemas.openxmlformats.org/drawingml/2006/main" noGrp="1"/>
          </p:cNvSpPr>
          <p:nvPr/>
        </p:nvSpPr>
        <p:spPr>
          <a:xfrm xmlns:a="http://schemas.openxmlformats.org/drawingml/2006/main">
            <a:off x="6953250" y="4276725"/>
            <a:ext cx="7753350" cy="10858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14" name="aif-data-structure-title">
            <a:extLst xmlns:a="http://schemas.openxmlformats.org/drawingml/2006/main">
              <a:ext uri="{FF2B5EF4-FFF2-40B4-BE49-F238E27FC236}">
                <a16:creationId xmlns:a16="http://schemas.microsoft.com/office/drawing/2014/main" id="{37864FAD-42E5-4F3A-A0C8-43300CC1C15E}"/>
              </a:ext>
            </a:extLst>
          </p:cNvPr>
          <p:cNvSpPr>
            <a:spLocks xmlns:a="http://schemas.openxmlformats.org/drawingml/2006/main" noGrp="1"/>
          </p:cNvSpPr>
          <p:nvPr/>
        </p:nvSpPr>
        <p:spPr>
          <a:xfrm xmlns:a="http://schemas.openxmlformats.org/drawingml/2006/main">
            <a:off x="7181850" y="4448175"/>
            <a:ext cx="7296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Data Structure: error field link</a:t>
            </a:r>
          </a:p>
        </p:txBody>
      </p:sp>
      <p:sp>
        <p:nvSpPr>
          <p:cNvPr id="15" name="aif-field-path">
            <a:extLst xmlns:a="http://schemas.openxmlformats.org/drawingml/2006/main">
              <a:ext uri="{FF2B5EF4-FFF2-40B4-BE49-F238E27FC236}">
                <a16:creationId xmlns:a16="http://schemas.microsoft.com/office/drawing/2014/main" id="{3B41EC67-9079-4AD4-925A-36B9BCE2B3EC}"/>
              </a:ext>
            </a:extLst>
          </p:cNvPr>
          <p:cNvSpPr>
            <a:spLocks xmlns:a="http://schemas.openxmlformats.org/drawingml/2006/main" noGrp="1"/>
          </p:cNvSpPr>
          <p:nvPr/>
        </p:nvSpPr>
        <p:spPr>
          <a:xfrm xmlns:a="http://schemas.openxmlformats.org/drawingml/2006/main">
            <a:off x="7181850" y="4895850"/>
            <a:ext cx="729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Courier New"/>
                <a:ea typeface="Courier New"/>
                <a:cs typeface="Courier New"/>
              </a:defRPr>
            </a:pPr>
            <a:r>
              <a:rPr sz="2025" b="0">
                <a:solidFill>
                  <a:srgbClr val="15304C"/>
                </a:solidFill>
                <a:latin typeface="Courier New"/>
                <a:ea typeface="Courier New"/>
                <a:cs typeface="Courier New"/>
              </a:rPr>
              <a:t>Items[1].target_gl_account</a:t>
            </a:r>
          </a:p>
        </p:txBody>
      </p:sp>
      <p:sp>
        <p:nvSpPr>
          <p:cNvPr id="16" name="aif-error-details">
            <a:extLst xmlns:a="http://schemas.openxmlformats.org/drawingml/2006/main">
              <a:ext uri="{FF2B5EF4-FFF2-40B4-BE49-F238E27FC236}">
                <a16:creationId xmlns:a16="http://schemas.microsoft.com/office/drawing/2014/main" id="{0EA56155-9C70-48C1-A05D-B360308C185E}"/>
              </a:ext>
            </a:extLst>
          </p:cNvPr>
          <p:cNvSpPr>
            <a:spLocks xmlns:a="http://schemas.openxmlformats.org/drawingml/2006/main" noGrp="1"/>
          </p:cNvSpPr>
          <p:nvPr/>
        </p:nvSpPr>
        <p:spPr>
          <a:xfrm xmlns:a="http://schemas.openxmlformats.org/drawingml/2006/main">
            <a:off x="6953250" y="5534025"/>
            <a:ext cx="775335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0">
            <a:noFill/>
          </a:ln>
        </p:spPr>
      </p:sp>
      <p:sp>
        <p:nvSpPr>
          <p:cNvPr id="17" name="aif-error-details-title">
            <a:extLst xmlns:a="http://schemas.openxmlformats.org/drawingml/2006/main">
              <a:ext uri="{FF2B5EF4-FFF2-40B4-BE49-F238E27FC236}">
                <a16:creationId xmlns:a16="http://schemas.microsoft.com/office/drawing/2014/main" id="{3479ED98-1D80-4655-8367-C84845B7539F}"/>
              </a:ext>
            </a:extLst>
          </p:cNvPr>
          <p:cNvSpPr>
            <a:spLocks xmlns:a="http://schemas.openxmlformats.org/drawingml/2006/main" noGrp="1"/>
          </p:cNvSpPr>
          <p:nvPr/>
        </p:nvSpPr>
        <p:spPr>
          <a:xfrm xmlns:a="http://schemas.openxmlformats.org/drawingml/2006/main">
            <a:off x="7181850" y="5715000"/>
            <a:ext cx="729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Error details</a:t>
            </a:r>
          </a:p>
        </p:txBody>
      </p:sp>
      <p:graphicFrame>
        <p:nvGraphicFramePr>
          <p:cNvPr id="38" name=""/>
          <p:cNvGraphicFramePr/>
          <p:nvPr/>
        </p:nvGraphicFramePr>
        <p:xfrm>
          <a:off xmlns:a="http://schemas.openxmlformats.org/drawingml/2006/main" x="7181850" y="6191250"/>
          <a:ext xmlns:a="http://schemas.openxmlformats.org/drawingml/2006/main" cx="7296150" cy="1409700"/>
        </p:xfrm>
        <a:graphic xmlns:a="http://schemas.openxmlformats.org/drawingml/2006/main">
          <a:graphicData uri="http://schemas.openxmlformats.org/drawingml/2006/table">
            <a:tbl>
              <a:tblPr firstRow="0" bandRow="0"/>
              <a:tblGrid>
                <a:gridCol w="2076450"/>
                <a:gridCol w="5219700"/>
              </a:tblGrid>
              <a:tr h="352425">
                <a:tc>
                  <a:txBody>
                    <a:bodyPr wrap="square">
                      <a:noAutofit/>
                    </a:bodyPr>
                    <a:lstStyle/>
                    <a:p>
                      <a:r>
                        <a:rPr sz="1725" b="1">
                          <a:solidFill>
                            <a:srgbClr val="FFFFFF"/>
                          </a:solidFill>
                          <a:latin typeface="Helvetica Neue"/>
                          <a:ea typeface="Helvetica Neue"/>
                          <a:cs typeface="Helvetica Neue"/>
                        </a:rPr>
                        <a:t>MSGTY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 (Error)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MSGID</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Z_DEMO_CFIN</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52425">
                <a:tc>
                  <a:txBody>
                    <a:bodyPr wrap="square">
                      <a:noAutofit/>
                    </a:bodyPr>
                    <a:lstStyle/>
                    <a:p>
                      <a:r>
                        <a:rPr sz="1725" b="1">
                          <a:solidFill>
                            <a:srgbClr val="FFFFFF"/>
                          </a:solidFill>
                          <a:latin typeface="Helvetica Neue"/>
                          <a:ea typeface="Helvetica Neue"/>
                          <a:cs typeface="Helvetica Neue"/>
                        </a:rPr>
                        <a:t>MSGNO</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001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Message values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Account 0000410000, company 2000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19" name="aif-template-note">
            <a:extLst xmlns:a="http://schemas.openxmlformats.org/drawingml/2006/main">
              <a:ext uri="{FF2B5EF4-FFF2-40B4-BE49-F238E27FC236}">
                <a16:creationId xmlns:a16="http://schemas.microsoft.com/office/drawing/2014/main" id="{8C21B398-C4B1-4CFA-9459-0D9BC2CF527A}"/>
              </a:ext>
            </a:extLst>
          </p:cNvPr>
          <p:cNvSpPr>
            <a:spLocks xmlns:a="http://schemas.openxmlformats.org/drawingml/2006/main" noGrp="1"/>
          </p:cNvSpPr>
          <p:nvPr/>
        </p:nvSpPr>
        <p:spPr>
          <a:xfrm xmlns:a="http://schemas.openxmlformats.org/drawingml/2006/main">
            <a:off x="7181850" y="7772400"/>
            <a:ext cx="7296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Exact template and MSGV1–MSGV4 order are not shown here.</a:t>
            </a:r>
          </a:p>
        </p:txBody>
      </p:sp>
      <p:sp>
        <p:nvSpPr>
          <p:cNvPr id="20" name="aif-example-limit">
            <a:extLst xmlns:a="http://schemas.openxmlformats.org/drawingml/2006/main">
              <a:ext uri="{FF2B5EF4-FFF2-40B4-BE49-F238E27FC236}">
                <a16:creationId xmlns:a16="http://schemas.microsoft.com/office/drawing/2014/main" id="{202B660F-046A-4F88-A32B-8947D0E6EA26}"/>
              </a:ext>
            </a:extLst>
          </p:cNvPr>
          <p:cNvSpPr>
            <a:spLocks xmlns:a="http://schemas.openxmlformats.org/drawingml/2006/main" noGrp="1"/>
          </p:cNvSpPr>
          <p:nvPr/>
        </p:nvSpPr>
        <p:spPr>
          <a:xfrm xmlns:a="http://schemas.openxmlformats.org/drawingml/2006/main">
            <a:off x="533400" y="8277225"/>
            <a:ext cx="1417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425" b="0">
                <a:solidFill>
                  <a:srgbClr val="52677F"/>
                </a:solidFill>
                <a:latin typeface="Helvetica Neue"/>
                <a:ea typeface="Helvetica Neue"/>
                <a:cs typeface="Helvetica Neue"/>
              </a:defRPr>
            </a:pPr>
            <a:r>
              <a:rPr sz="1425" b="0">
                <a:solidFill>
                  <a:srgbClr val="52677F"/>
                </a:solidFill>
                <a:latin typeface="Helvetica Neue"/>
                <a:ea typeface="Helvetica Neue"/>
                <a:cs typeface="Helvetica Neue"/>
              </a:rPr>
              <a:t>Synthetic teaching example, not an SAP export. Error details are message metadata, not a universal fifth tab.</a:t>
            </a:r>
          </a:p>
        </p:txBody>
      </p:sp>
    </p:spTree>
    <p:extLst>
      <p:ext uri="{BB962C8B-B14F-4D97-AF65-F5344CB8AC3E}">
        <p14:creationId xmlns:p14="http://schemas.microsoft.com/office/powerpoint/2010/main" val="663063752"/>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CD650CF-7683-4656-B63A-29E23CB8A952}"/>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full log used in development</a:t>
            </a:r>
          </a:p>
        </p:txBody>
      </p:sp>
      <p:sp>
        <p:nvSpPr>
          <p:cNvPr id="2" name="subtitle">
            <a:extLst xmlns:a="http://schemas.openxmlformats.org/drawingml/2006/main">
              <a:ext uri="{FF2B5EF4-FFF2-40B4-BE49-F238E27FC236}">
                <a16:creationId xmlns:a16="http://schemas.microsoft.com/office/drawing/2014/main" id="{DFC48086-D4F0-42C4-9600-4839C15F2B55}"/>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MD-01, document 0000123456. Synthetic application log, not an SAP export.</a:t>
            </a:r>
          </a:p>
        </p:txBody>
      </p:sp>
      <p:sp>
        <p:nvSpPr>
          <p:cNvPr id="3" name="full-original-log">
            <a:extLst xmlns:a="http://schemas.openxmlformats.org/drawingml/2006/main">
              <a:ext uri="{FF2B5EF4-FFF2-40B4-BE49-F238E27FC236}">
                <a16:creationId xmlns:a16="http://schemas.microsoft.com/office/drawing/2014/main" id="{F5DE307D-E48F-40ED-992B-8790A641DCB4}"/>
              </a:ext>
            </a:extLst>
          </p:cNvPr>
          <p:cNvSpPr>
            <a:spLocks xmlns:a="http://schemas.openxmlformats.org/drawingml/2006/main" noGrp="1"/>
          </p:cNvSpPr>
          <p:nvPr/>
        </p:nvSpPr>
        <p:spPr>
          <a:xfrm xmlns:a="http://schemas.openxmlformats.org/drawingml/2006/main">
            <a:off x="533400" y="1952625"/>
            <a:ext cx="14173200" cy="6067425"/>
          </a:xfrm>
          <a:prstGeom xmlns:a="http://schemas.openxmlformats.org/drawingml/2006/main" prst="roundRect">
            <a:avLst>
              <a:gd name="adj" fmla="val 1884"/>
            </a:avLst>
          </a:prstGeom>
          <a:solidFill xmlns:a="http://schemas.openxmlformats.org/drawingml/2006/main">
            <a:srgbClr val="15304C"/>
          </a:solidFill>
          <a:ln xmlns:a="http://schemas.openxmlformats.org/drawingml/2006/main" w="0">
            <a:noFill/>
          </a:ln>
        </p:spPr>
      </p:sp>
      <p:sp>
        <p:nvSpPr>
          <p:cNvPr id="4" name="full-original-log-text">
            <a:extLst xmlns:a="http://schemas.openxmlformats.org/drawingml/2006/main">
              <a:ext uri="{FF2B5EF4-FFF2-40B4-BE49-F238E27FC236}">
                <a16:creationId xmlns:a16="http://schemas.microsoft.com/office/drawing/2014/main" id="{6A6D37DB-6BD3-4B8D-A005-92E5A446D06E}"/>
              </a:ext>
            </a:extLst>
          </p:cNvPr>
          <p:cNvSpPr>
            <a:spLocks xmlns:a="http://schemas.openxmlformats.org/drawingml/2006/main" noGrp="1"/>
          </p:cNvSpPr>
          <p:nvPr/>
        </p:nvSpPr>
        <p:spPr>
          <a:xfrm xmlns:a="http://schemas.openxmlformats.org/drawingml/2006/main">
            <a:off x="762000" y="2133600"/>
            <a:ext cx="13716000" cy="571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SYNTHETIC FIXTURE — MD-01; fictional application log, not an SAP export.</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No SAP release, message class, message number, or product-specific interface semantics are asserted.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attempt_id=MD01-0001 | processing_order=1 | event=replication_started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source_system=ERP-DEMO | source_client=010 | source_company_code=0010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fiscal_year=2026 | document_number=0000123456 | source_status=posted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source_posting_date=2026-09-30 | source_posted_at=2026-09-30T08:45:00Z</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target_system=CFIN-DEMO | target_client=100 | target_company_code=0010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interface=DEMO_CFIN_GL | target_chart_of_accounts=SYN1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source_line=0001 | source_account=0000400000 | debit=1250.00 | credit=0.00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source_line=0002 | source_account=0000200000 | debit=0.00 | credit=1250.00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synthetic_message_id=DEMO_GL_LOOKUP_FAILURE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Observed target lookup: G/L account 0041001000 could not be located for chart SYN1 in CFIN-DEMO/100.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Requested posting company code: 0010. Requested target line: 0001.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synthetic_message_id=DEMO_POSTING_STOPPED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 posting stopped for this attempt; no target document reference was returned.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event=replication_finished | result=failed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Evidence is limited to this attempt. Error wording alone does not establish an approved diagnosis.</a:t>
            </a:r>
          </a:p>
        </p:txBody>
      </p:sp>
      <p:sp>
        <p:nvSpPr>
          <p:cNvPr id="5" name="full-log-note">
            <a:extLst xmlns:a="http://schemas.openxmlformats.org/drawingml/2006/main">
              <a:ext uri="{FF2B5EF4-FFF2-40B4-BE49-F238E27FC236}">
                <a16:creationId xmlns:a16="http://schemas.microsoft.com/office/drawing/2014/main" id="{0EAE6B22-41A8-4F4E-99C4-43A6D317A382}"/>
              </a:ext>
            </a:extLst>
          </p:cNvPr>
          <p:cNvSpPr>
            <a:spLocks xmlns:a="http://schemas.openxmlformats.org/drawingml/2006/main" noGrp="1"/>
          </p:cNvSpPr>
          <p:nvPr/>
        </p:nvSpPr>
        <p:spPr>
          <a:xfrm xmlns:a="http://schemas.openxmlformats.org/drawingml/2006/main">
            <a:off x="533400" y="8201025"/>
            <a:ext cx="14173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0">
                <a:solidFill>
                  <a:srgbClr val="52677F"/>
                </a:solidFill>
                <a:latin typeface="Helvetica Neue"/>
                <a:ea typeface="Helvetica Neue"/>
                <a:cs typeface="Helvetica Neue"/>
              </a:defRPr>
            </a:pPr>
            <a:r>
              <a:rPr sz="1575" b="0">
                <a:solidFill>
                  <a:srgbClr val="52677F"/>
                </a:solidFill>
                <a:latin typeface="Helvetica Neue"/>
                <a:ea typeface="Helvetica Neue"/>
                <a:cs typeface="Helvetica Neue"/>
              </a:rPr>
              <a:t>Complete original shown. This is a different synthetic example from the multi-view case on the previous slide.</a:t>
            </a:r>
          </a:p>
        </p:txBody>
      </p:sp>
    </p:spTree>
    <p:extLst>
      <p:ext uri="{BB962C8B-B14F-4D97-AF65-F5344CB8AC3E}">
        <p14:creationId xmlns:p14="http://schemas.microsoft.com/office/powerpoint/2010/main" val="21320826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2026-10-02T11:51:51.6520000Z</dcterms:created>
  <dcterms:modified xsi:type="dcterms:W3CDTF">2026-10-02T11:51:51.6520000Z</dcterms:modified>
</coreProperties>
</file>