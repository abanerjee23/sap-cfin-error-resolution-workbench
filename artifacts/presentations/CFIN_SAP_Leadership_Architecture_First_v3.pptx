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2170e3526394611" /><Relationship Type="http://schemas.openxmlformats.org/officeDocument/2006/relationships/extended-properties" Target="/docProps/app.xml" Id="R45e2ec8c49c94a0e" /><Relationship Type="http://schemas.openxmlformats.org/officeDocument/2006/relationships/officeDocument" Target="/ppt/presentation.xml" Id="Rcc60882c97c6424f" /></Relationships>
</file>

<file path=ppt/presentation.xml><?xml version="1.0" encoding="utf-8"?>
<p:presentation xmlns:p="http://schemas.openxmlformats.org/presentationml/2006/main">
  <p:sldMasterIdLst>
    <p:sldMasterId xmlns:r="http://schemas.openxmlformats.org/officeDocument/2006/relationships" id="2147483648" r:id="Rce49de8095b14e8a"/>
  </p:sldMasterIdLst>
  <p:notesMasterIdLst>
    <p:notesMasterId xmlns:r="http://schemas.openxmlformats.org/officeDocument/2006/relationships" r:id="Rd9b7f23e74da445a"/>
  </p:notesMasterIdLst>
  <p:sldIdLst>
    <p:sldId xmlns:r="http://schemas.openxmlformats.org/officeDocument/2006/relationships" id="256" r:id="Rfeff2a993ad94fda"/>
    <p:sldId xmlns:r="http://schemas.openxmlformats.org/officeDocument/2006/relationships" id="257" r:id="Rb842f3a4f4034516"/>
    <p:sldId xmlns:r="http://schemas.openxmlformats.org/officeDocument/2006/relationships" id="258" r:id="R6b1e8f4b4f09407c"/>
    <p:sldId xmlns:r="http://schemas.openxmlformats.org/officeDocument/2006/relationships" id="259" r:id="Rab8b6a5596df401c"/>
    <p:sldId xmlns:r="http://schemas.openxmlformats.org/officeDocument/2006/relationships" id="260" r:id="R648b95b2277c4244"/>
    <p:sldId xmlns:r="http://schemas.openxmlformats.org/officeDocument/2006/relationships" id="261" r:id="R50d62e1282714cc8"/>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5f24f0d3f73432f" /><Relationship Type="http://schemas.openxmlformats.org/officeDocument/2006/relationships/slideMaster" Target="/ppt/slideMasters/slideMaster1.xml" Id="Rce49de8095b14e8a" /><Relationship Type="http://schemas.openxmlformats.org/officeDocument/2006/relationships/notesMaster" Target="/ppt/notesMasters/notesMaster1.xml" Id="Rd9b7f23e74da445a" /><Relationship Type="http://schemas.openxmlformats.org/officeDocument/2006/relationships/presProps" Target="/ppt/presProps.xml" Id="R177db5f05be5413b" /><Relationship Type="http://schemas.openxmlformats.org/officeDocument/2006/relationships/tableStyles" Target="/ppt/tableStyles.xml" Id="R87cd1a960f6f4411" /><Relationship Type="http://schemas.openxmlformats.org/officeDocument/2006/relationships/slide" Target="/ppt/slides/slide1.xml" Id="Rfeff2a993ad94fda" /><Relationship Type="http://schemas.openxmlformats.org/officeDocument/2006/relationships/slide" Target="/ppt/slides/slide2.xml" Id="Rb842f3a4f4034516" /><Relationship Type="http://schemas.openxmlformats.org/officeDocument/2006/relationships/slide" Target="/ppt/slides/slide3.xml" Id="R6b1e8f4b4f09407c" /><Relationship Type="http://schemas.openxmlformats.org/officeDocument/2006/relationships/slide" Target="/ppt/slides/slide4.xml" Id="Rab8b6a5596df401c" /><Relationship Type="http://schemas.openxmlformats.org/officeDocument/2006/relationships/slide" Target="/ppt/slides/slide5.xml" Id="R648b95b2277c4244" /><Relationship Type="http://schemas.openxmlformats.org/officeDocument/2006/relationships/slide" Target="/ppt/slides/slide6.xml" Id="R50d62e1282714cc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61e246d164413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6d7b2dced054260" /><Relationship Type="http://schemas.openxmlformats.org/officeDocument/2006/relationships/notesMaster" Target="/ppt/notesMasters/notesMaster1.xml" Id="R237e7e329ca74039" /></Relationships>
</file>

<file path=ppt/notesSlides/_rels/notesSlide2.xml.rels>&#65279;<?xml version="1.0" encoding="utf-8"?><Relationships xmlns="http://schemas.openxmlformats.org/package/2006/relationships"><Relationship Type="http://schemas.openxmlformats.org/officeDocument/2006/relationships/slide" Target="/ppt/slides/slide2.xml" Id="R4b93bb3ff45e4ef4" /><Relationship Type="http://schemas.openxmlformats.org/officeDocument/2006/relationships/notesMaster" Target="/ppt/notesMasters/notesMaster1.xml" Id="R86abaa3f83af40db"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ab7b816f0c4507" /><Relationship Type="http://schemas.openxmlformats.org/officeDocument/2006/relationships/notesMaster" Target="/ppt/notesMasters/notesMaster1.xml" Id="R6c986274dbe249a0" /></Relationships>
</file>

<file path=ppt/notesSlides/_rels/notesSlide4.xml.rels>&#65279;<?xml version="1.0" encoding="utf-8"?><Relationships xmlns="http://schemas.openxmlformats.org/package/2006/relationships"><Relationship Type="http://schemas.openxmlformats.org/officeDocument/2006/relationships/slide" Target="/ppt/slides/slide4.xml" Id="R567a521e5c6c47ce" /><Relationship Type="http://schemas.openxmlformats.org/officeDocument/2006/relationships/notesMaster" Target="/ppt/notesMasters/notesMaster1.xml" Id="R518ad8d5b4ee46f5" /></Relationships>
</file>

<file path=ppt/notesSlides/_rels/notesSlide5.xml.rels>&#65279;<?xml version="1.0" encoding="utf-8"?><Relationships xmlns="http://schemas.openxmlformats.org/package/2006/relationships"><Relationship Type="http://schemas.openxmlformats.org/officeDocument/2006/relationships/slide" Target="/ppt/slides/slide5.xml" Id="Re639776f9a3741b6" /><Relationship Type="http://schemas.openxmlformats.org/officeDocument/2006/relationships/notesMaster" Target="/ppt/notesMasters/notesMaster1.xml" Id="R4d74d905ee6f4ac4"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f1b1599c3643f1" /><Relationship Type="http://schemas.openxmlformats.org/officeDocument/2006/relationships/notesMaster" Target="/ppt/notesMasters/notesMaster1.xml" Id="Rc2cec3387b5541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has two evidence paths. The current uploaded AIF evidence flows through code-managed intake and the three-agent analysis pipeline. Intake keeps each supplied original, source version and evidence location. Agent 1 extracts all supplied content into a structured handoff; Agent 2 selects the evidence needed for the case; Agent 3 writes a factual brief with uncertainties and separately cited related cases. The saved case provides source navigation and versioned, read-only JSON. The second path is the learning loop. Human led Review checks or corrects the brief, investigates and records findings, outcome and proof. The knowledge process then determines eligible history. Only that reviewed history reaches Agent 3. Humans in the loop decide what becomes reusable; the app does not retrain automatically.</a:t>
            </a:r>
          </a:p>
          <a:p xmlns:a="http://schemas.openxmlformats.org/drawingml/2006/main">
            <a:r>
              <a:t/>
            </a:r>
          </a:p>
          <a:p xmlns:a="http://schemas.openxmlformats.org/drawingml/2006/main">
            <a:r>
              <a:t>Sources: README.md, BUILD.md and the AIF example in README.md, reviewed 2 October 2026. Synthetic data does not establish real-client accuracy or time savings. The app has no SAP integration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spells out the handoffs in the diagram. Intake has access only to what is uploaded. Agent 1 extracts complete supplied evidence and preserves ambiguity and limitations. Agent 2 decides which evidence is essential to understand the current case, while keeping the full extraction. Agent 3 uses this selected evidence and, separately, eligible reviewed historical content to write a brief. The case and its source evidence are then available through the portal and scoped read-only API. Human led Review checks the case and records investigation work; only reviewed knowledge becomes eligible historical context for a later Agent 3 summary. The listed models are baselines to evaluate, not a claim of proven quality. The software flow is implemented, but real AIF samples, provider validation and human semantic acceptance remain release evidence.</a:t>
            </a:r>
          </a:p>
          <a:p xmlns:a="http://schemas.openxmlformats.org/drawingml/2006/main">
            <a:r>
              <a:t/>
            </a:r>
          </a:p>
          <a:p xmlns:a="http://schemas.openxmlformats.org/drawingml/2006/main">
            <a:r>
              <a:t>Sources: README.md, BUILD.md and the AIF example in README.md, reviewed 2 October 2026. Synthetic data does not establish real-client accuracy or time savings. The app has no SAP integration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 turns an uploaded AIF evidence package into a factual exception case. The case shows what the supplied evidence reports, source and target context, affected items, reported outcome and gaps, with source references back to the original. Human led Review remains responsible for investigation in SAP, a correction where needed and the resulting record. The saved case can be read through the portal or authorised, versioned JSON API. The product does not connect to SAP, diagnose root cause, recommend a fix or execute SAP work. The current product uses synthetic AIF data, so real samples and human semantic acceptance are still needed before any production-quality or time-saving claim.</a:t>
            </a:r>
          </a:p>
          <a:p xmlns:a="http://schemas.openxmlformats.org/drawingml/2006/main">
            <a:r>
              <a:t/>
            </a:r>
          </a:p>
          <a:p xmlns:a="http://schemas.openxmlformats.org/drawingml/2006/main">
            <a:r>
              <a:t>Sources: README.md, BUILD.md and the AIF example in README.md, reviewed 2 October 2026. Synthetic data does not establish real-client accuracy or time savings. The app has no SAP integration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customer-configured Joule agent could call the app API, read the saved case and original evidence, and check current information in the customer SAP system. It could then run a permitted SAP step or send the work to Human led Review. Humans in the loop approve or carry out actions where the customer workflow requires it. The reusable asset remains the CFIN app, case format, API and evaluation checks; SAP tools, permissions, approval rules and reviewed history are configured per customer. Customer data remains separate. Joule integration and SAP actions are future work, and app API read access grants no SAP write authority. The app has no SAP integration today.</a:t>
            </a:r>
          </a:p>
          <a:p xmlns:a="http://schemas.openxmlformats.org/drawingml/2006/main">
            <a:r>
              <a:t/>
            </a:r>
          </a:p>
          <a:p xmlns:a="http://schemas.openxmlformats.org/drawingml/2006/main">
            <a:r>
              <a:t>Sources: README.md case JSON API and Joule integration sections; BUILD.md. Official SAP example of agents using skills as tools, actions and destinations: https://developers.sap.com/tutorials/joulestudio-agent-create/ (reviewed 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same fictional multi-view AIF teaching example in README.md, now shown with its concrete values rather than only view descriptions. Data Messages identifies source document 1900000421, company 1000, fiscal year 2026, target CFIN-DEMO/100 and error attempt 1. Log Messages reports an account-maintenance error for G/L 0000410000 and company 2000, stopped posting, and no returned target document reference. Data Structure supplies the explicit link Items[1].target_gl_account. Data Content retains item 0001, source account 0000400000, attempted target 0000410000, company 2000 and GBP 1,250.00 debit. Error details preserves fictional MSGID Z_DEMO_CFIN, MSGNO 001 and MSGTY E. The example associates the account and company with message values but does not show the exact template or ordered MSGV1–MSGV4 slots, so these are not invented. AIF can include long text and message details, but none is invented for this example. The log describes what was reported for this attempt; it does not independently establish root cause, mapping correctness, a fix, current SAP state or a later outcome.</a:t>
            </a:r>
          </a:p>
          <a:p xmlns:a="http://schemas.openxmlformats.org/drawingml/2006/main">
            <a:r>
              <a:t/>
            </a:r>
          </a:p>
          <a:p xmlns:a="http://schemas.openxmlformats.org/drawingml/2006/main">
            <a:r>
              <a:t>Local source: README.md, Understanding the AIF log and How the views fit together: one fictional error. Official sources for AIF view concepts: https://help.sap.com/docs/ABAP_PLATFORM_NEW/4db1676c3f114f119b500bd80ccd944d/4ff5e0047b0a4351bd963640c680caec.html?version=latest ; https://help.sap.com/docs/SAP_APPLICATION_INTERFACE_FRAMEWORK/1cefaed5b7a3471cb08564e54d5ba866/2e733c049ad7445584ae7adbc7900c69.html ; https://help.sap.com/docs/ABAP_PLATFORM_NEW/4db1676c3f114f119b500bd80ccd944d/ed18d1cc52c447f78a2e26195f7cb450.html?locale=en-US&amp;state=PRODUCTION&amp;version=202110.002 ; https://help.sap.com/docs/ABAP_PLATFORM_NEW/4db1676c3f114f119b500bd80ccd944d/73ac69e929734790ab6c554c30f14e0f.html?locale=en-US&amp;state=PRODUCTION&amp;version=202310.002 ; https://help.sap.com/docs/SAP_NETWEAVER_750/addb96cd90c945dfb3182865363bbc47/4e2106b735d44180e10000000a15822b.html?locale=en-US&amp;state=PRODUCTION&amp;version=7.5.27 . Sources span releases and were reviewed 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complete 17-line MD-01 synthetic development log from fixtures/MD-01/agent-visible/original-log.txt. No source lines have been omitted. It is a fictional application log, not a verified SAP AIF export. It is separate from the preceding teaching case. It contains the attempt and timestamp, source and target identifiers, source posting state, chart, both accounting lines and amounts, the reported lookup error, requested company and target line, stopped posting, and the explicit limit to this attempt. The original is preserved unchanged in the application. Missing SAP release semantics, real message class/number, template, long text or mapping evidence must not be inferred from this fixture. Human led Review can inspect this original when checking the summary. Humans in the loop record later investigation and outcomes separately.</a:t>
            </a:r>
          </a:p>
          <a:p xmlns:a="http://schemas.openxmlformats.org/drawingml/2006/main">
            <a:r>
              <a:t/>
            </a:r>
          </a:p>
          <a:p xmlns:a="http://schemas.openxmlformats.org/drawingml/2006/main">
            <a:r>
              <a:t>Source: fixtures/MD-01/agent-visible/original-log.txt, complete content, reviewed 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0291dc0afaf4a4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5eef4bd8302402e" /><Relationship Type="http://schemas.openxmlformats.org/officeDocument/2006/relationships/slideLayout" Target="/ppt/slideLayouts/slideLayout1.xml" Id="Rcd425af602da487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d425af602da487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756d07e5ae544cf" /><Relationship Type="http://schemas.openxmlformats.org/officeDocument/2006/relationships/notesSlide" Target="/ppt/notesSlides/notesSlide1.xml" Id="R7c8e06844cd240e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58fcefc76134a5b" /><Relationship Type="http://schemas.openxmlformats.org/officeDocument/2006/relationships/notesSlide" Target="/ppt/notesSlides/notesSlide2.xml" Id="R8a27874587cb43a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9d2cac35ef542fb" /><Relationship Type="http://schemas.openxmlformats.org/officeDocument/2006/relationships/notesSlide" Target="/ppt/notesSlides/notesSlide3.xml" Id="Rc6ab63a781d0477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b39419128cb4175" /><Relationship Type="http://schemas.openxmlformats.org/officeDocument/2006/relationships/notesSlide" Target="/ppt/notesSlides/notesSlide4.xml" Id="Rbafc78d44bb4408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cdfa41f05dc4042" /><Relationship Type="http://schemas.openxmlformats.org/officeDocument/2006/relationships/notesSlide" Target="/ppt/notesSlides/notesSlide5.xml" Id="R78761c29bc134d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801ace3d1fd4bc5" /><Relationship Type="http://schemas.openxmlformats.org/officeDocument/2006/relationships/notesSlide" Target="/ppt/notesSlides/notesSlide6.xml" Id="R8603592046414215" /></Relationships>
</file>

<file path=ppt/slides/slide1.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49" name="title">
            <a:extLst xmlns:a="http://schemas.openxmlformats.org/drawingml/2006/main">
              <a:ext uri="{FF2B5EF4-FFF2-40B4-BE49-F238E27FC236}">
                <a16:creationId xmlns:a16="http://schemas.microsoft.com/office/drawing/2014/main" id="{836574AB-BF19-498A-B6C6-3BAFD40422FB}"/>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CFIN factual analysis architecture</a:t>
            </a:r>
          </a:p>
        </p:txBody>
      </p:sp>
      <p:sp>
        <p:nvSpPr>
          <p:cNvPr id="2" name="subtitle">
            <a:extLst xmlns:a="http://schemas.openxmlformats.org/drawingml/2006/main">
              <a:ext uri="{FF2B5EF4-FFF2-40B4-BE49-F238E27FC236}">
                <a16:creationId xmlns:a16="http://schemas.microsoft.com/office/drawing/2014/main" id="{83829BB2-1DB6-49A1-A439-061E0123C6F7}"/>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Current case facts flow left to right. Reviewed history reaches Agent 3 only after Human led Review approves it.</a:t>
            </a:r>
          </a:p>
        </p:txBody>
      </p:sp>
      <p:sp>
        <p:nvSpPr>
          <p:cNvPr id="3" name="flow-0">
            <a:extLst xmlns:a="http://schemas.openxmlformats.org/drawingml/2006/main">
              <a:ext uri="{FF2B5EF4-FFF2-40B4-BE49-F238E27FC236}">
                <a16:creationId xmlns:a16="http://schemas.microsoft.com/office/drawing/2014/main" id="{93FE7D58-CD7B-4FDA-9FE0-8B2CFE684E3A}"/>
              </a:ext>
            </a:extLst>
          </p:cNvPr>
          <p:cNvSpPr>
            <a:spLocks xmlns:a="http://schemas.openxmlformats.org/drawingml/2006/main" noGrp="1"/>
          </p:cNvSpPr>
          <p:nvPr/>
        </p:nvSpPr>
        <p:spPr>
          <a:xfrm xmlns:a="http://schemas.openxmlformats.org/drawingml/2006/main">
            <a:off x="533400" y="2247900"/>
            <a:ext cx="2019300" cy="2247900"/>
          </a:xfrm>
          <a:prstGeom xmlns:a="http://schemas.openxmlformats.org/drawingml/2006/main" prst="roundRect">
            <a:avLst>
              <a:gd name="adj" fmla="val 5660"/>
            </a:avLst>
          </a:prstGeom>
          <a:solidFill xmlns:a="http://schemas.openxmlformats.org/drawingml/2006/main">
            <a:srgbClr val="E3EEFA"/>
          </a:solidFill>
          <a:ln xmlns:a="http://schemas.openxmlformats.org/drawingml/2006/main" w="0">
            <a:noFill/>
          </a:ln>
        </p:spPr>
      </p:sp>
      <p:sp>
        <p:nvSpPr>
          <p:cNvPr id="4" name="flow-title-0">
            <a:extLst xmlns:a="http://schemas.openxmlformats.org/drawingml/2006/main">
              <a:ext uri="{FF2B5EF4-FFF2-40B4-BE49-F238E27FC236}">
                <a16:creationId xmlns:a16="http://schemas.microsoft.com/office/drawing/2014/main" id="{F9ABDD06-FB99-458D-B1C3-10BC00C925C3}"/>
              </a:ext>
            </a:extLst>
          </p:cNvPr>
          <p:cNvSpPr>
            <a:spLocks xmlns:a="http://schemas.openxmlformats.org/drawingml/2006/main" noGrp="1"/>
          </p:cNvSpPr>
          <p:nvPr/>
        </p:nvSpPr>
        <p:spPr>
          <a:xfrm xmlns:a="http://schemas.openxmlformats.org/drawingml/2006/main">
            <a:off x="685800" y="24098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1">
                <a:solidFill>
                  <a:srgbClr val="2F6095"/>
                </a:solidFill>
                <a:latin typeface="Helvetica Neue"/>
                <a:ea typeface="Helvetica Neue"/>
                <a:cs typeface="Helvetica Neue"/>
              </a:defRPr>
            </a:pPr>
            <a:r>
              <a:rPr sz="2025" b="1">
                <a:solidFill>
                  <a:srgbClr val="2F6095"/>
                </a:solidFill>
                <a:latin typeface="Helvetica Neue"/>
                <a:ea typeface="Helvetica Neue"/>
                <a:cs typeface="Helvetica Neue"/>
              </a:rPr>
              <a:t>AIF evidence</a:t>
            </a:r>
          </a:p>
        </p:txBody>
      </p:sp>
      <p:sp>
        <p:nvSpPr>
          <p:cNvPr id="5" name="flow-owner-0">
            <a:extLst xmlns:a="http://schemas.openxmlformats.org/drawingml/2006/main">
              <a:ext uri="{FF2B5EF4-FFF2-40B4-BE49-F238E27FC236}">
                <a16:creationId xmlns:a16="http://schemas.microsoft.com/office/drawing/2014/main" id="{73EF6F06-207A-424F-9A2E-DFC769E809EB}"/>
              </a:ext>
            </a:extLst>
          </p:cNvPr>
          <p:cNvSpPr>
            <a:spLocks xmlns:a="http://schemas.openxmlformats.org/drawingml/2006/main" noGrp="1"/>
          </p:cNvSpPr>
          <p:nvPr/>
        </p:nvSpPr>
        <p:spPr>
          <a:xfrm xmlns:a="http://schemas.openxmlformats.org/drawingml/2006/main">
            <a:off x="685800" y="28670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75" b="1">
                <a:solidFill>
                  <a:srgbClr val="2F6095"/>
                </a:solidFill>
                <a:latin typeface="Helvetica Neue"/>
                <a:ea typeface="Helvetica Neue"/>
                <a:cs typeface="Helvetica Neue"/>
              </a:defRPr>
            </a:pPr>
            <a:r>
              <a:rPr sz="1575" b="1">
                <a:solidFill>
                  <a:srgbClr val="2F6095"/>
                </a:solidFill>
                <a:latin typeface="Helvetica Neue"/>
                <a:ea typeface="Helvetica Neue"/>
                <a:cs typeface="Helvetica Neue"/>
              </a:rPr>
              <a:t>Input</a:t>
            </a:r>
          </a:p>
        </p:txBody>
      </p:sp>
      <p:sp>
        <p:nvSpPr>
          <p:cNvPr id="6" name="flow-detail-0">
            <a:extLst xmlns:a="http://schemas.openxmlformats.org/drawingml/2006/main">
              <a:ext uri="{FF2B5EF4-FFF2-40B4-BE49-F238E27FC236}">
                <a16:creationId xmlns:a16="http://schemas.microsoft.com/office/drawing/2014/main" id="{4BA6B40D-9048-417B-B2B9-3E6DE0CBD068}"/>
              </a:ext>
            </a:extLst>
          </p:cNvPr>
          <p:cNvSpPr>
            <a:spLocks xmlns:a="http://schemas.openxmlformats.org/drawingml/2006/main" noGrp="1"/>
          </p:cNvSpPr>
          <p:nvPr/>
        </p:nvSpPr>
        <p:spPr>
          <a:xfrm xmlns:a="http://schemas.openxmlformats.org/drawingml/2006/main">
            <a:off x="685800" y="3305175"/>
            <a:ext cx="1714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Messages, fields,</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structures and</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supplied details</a:t>
            </a:r>
          </a:p>
        </p:txBody>
      </p:sp>
      <p:sp>
        <p:nvSpPr>
          <p:cNvPr id="7" name="flow-1">
            <a:extLst xmlns:a="http://schemas.openxmlformats.org/drawingml/2006/main">
              <a:ext uri="{FF2B5EF4-FFF2-40B4-BE49-F238E27FC236}">
                <a16:creationId xmlns:a16="http://schemas.microsoft.com/office/drawing/2014/main" id="{F290087F-C96F-46D4-A74C-6D42ED1B2C1D}"/>
              </a:ext>
            </a:extLst>
          </p:cNvPr>
          <p:cNvSpPr>
            <a:spLocks xmlns:a="http://schemas.openxmlformats.org/drawingml/2006/main" noGrp="1"/>
          </p:cNvSpPr>
          <p:nvPr/>
        </p:nvSpPr>
        <p:spPr>
          <a:xfrm xmlns:a="http://schemas.openxmlformats.org/drawingml/2006/main">
            <a:off x="2857500" y="2247900"/>
            <a:ext cx="2019300" cy="2247900"/>
          </a:xfrm>
          <a:prstGeom xmlns:a="http://schemas.openxmlformats.org/drawingml/2006/main" prst="roundRect">
            <a:avLst>
              <a:gd name="adj" fmla="val 5660"/>
            </a:avLst>
          </a:prstGeom>
          <a:solidFill xmlns:a="http://schemas.openxmlformats.org/drawingml/2006/main">
            <a:srgbClr val="E3EEFA"/>
          </a:solidFill>
          <a:ln xmlns:a="http://schemas.openxmlformats.org/drawingml/2006/main" w="0">
            <a:noFill/>
          </a:ln>
        </p:spPr>
      </p:sp>
      <p:sp>
        <p:nvSpPr>
          <p:cNvPr id="8" name="flow-title-1">
            <a:extLst xmlns:a="http://schemas.openxmlformats.org/drawingml/2006/main">
              <a:ext uri="{FF2B5EF4-FFF2-40B4-BE49-F238E27FC236}">
                <a16:creationId xmlns:a16="http://schemas.microsoft.com/office/drawing/2014/main" id="{B4E99B1D-2AC3-4773-852A-9ED19B0ADECB}"/>
              </a:ext>
            </a:extLst>
          </p:cNvPr>
          <p:cNvSpPr>
            <a:spLocks xmlns:a="http://schemas.openxmlformats.org/drawingml/2006/main" noGrp="1"/>
          </p:cNvSpPr>
          <p:nvPr/>
        </p:nvSpPr>
        <p:spPr>
          <a:xfrm xmlns:a="http://schemas.openxmlformats.org/drawingml/2006/main">
            <a:off x="3009900" y="24098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1">
                <a:solidFill>
                  <a:srgbClr val="2F6095"/>
                </a:solidFill>
                <a:latin typeface="Helvetica Neue"/>
                <a:ea typeface="Helvetica Neue"/>
                <a:cs typeface="Helvetica Neue"/>
              </a:defRPr>
            </a:pPr>
            <a:r>
              <a:rPr sz="2025" b="1">
                <a:solidFill>
                  <a:srgbClr val="2F6095"/>
                </a:solidFill>
                <a:latin typeface="Helvetica Neue"/>
                <a:ea typeface="Helvetica Neue"/>
                <a:cs typeface="Helvetica Neue"/>
              </a:rPr>
              <a:t>Intake</a:t>
            </a:r>
          </a:p>
        </p:txBody>
      </p:sp>
      <p:sp>
        <p:nvSpPr>
          <p:cNvPr id="9" name="flow-owner-1">
            <a:extLst xmlns:a="http://schemas.openxmlformats.org/drawingml/2006/main">
              <a:ext uri="{FF2B5EF4-FFF2-40B4-BE49-F238E27FC236}">
                <a16:creationId xmlns:a16="http://schemas.microsoft.com/office/drawing/2014/main" id="{71C25804-12C1-4842-B859-AFBD01935C58}"/>
              </a:ext>
            </a:extLst>
          </p:cNvPr>
          <p:cNvSpPr>
            <a:spLocks xmlns:a="http://schemas.openxmlformats.org/drawingml/2006/main" noGrp="1"/>
          </p:cNvSpPr>
          <p:nvPr/>
        </p:nvSpPr>
        <p:spPr>
          <a:xfrm xmlns:a="http://schemas.openxmlformats.org/drawingml/2006/main">
            <a:off x="3009900" y="28670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75" b="1">
                <a:solidFill>
                  <a:srgbClr val="2F6095"/>
                </a:solidFill>
                <a:latin typeface="Helvetica Neue"/>
                <a:ea typeface="Helvetica Neue"/>
                <a:cs typeface="Helvetica Neue"/>
              </a:defRPr>
            </a:pPr>
            <a:r>
              <a:rPr sz="1575" b="1">
                <a:solidFill>
                  <a:srgbClr val="2F6095"/>
                </a:solidFill>
                <a:latin typeface="Helvetica Neue"/>
                <a:ea typeface="Helvetica Neue"/>
                <a:cs typeface="Helvetica Neue"/>
              </a:rPr>
              <a:t>Code</a:t>
            </a:r>
          </a:p>
        </p:txBody>
      </p:sp>
      <p:sp>
        <p:nvSpPr>
          <p:cNvPr id="10" name="flow-detail-1">
            <a:extLst xmlns:a="http://schemas.openxmlformats.org/drawingml/2006/main">
              <a:ext uri="{FF2B5EF4-FFF2-40B4-BE49-F238E27FC236}">
                <a16:creationId xmlns:a16="http://schemas.microsoft.com/office/drawing/2014/main" id="{FED404E2-D94A-40A8-A390-CC65BBBBFEB9}"/>
              </a:ext>
            </a:extLst>
          </p:cNvPr>
          <p:cNvSpPr>
            <a:spLocks xmlns:a="http://schemas.openxmlformats.org/drawingml/2006/main" noGrp="1"/>
          </p:cNvSpPr>
          <p:nvPr/>
        </p:nvSpPr>
        <p:spPr>
          <a:xfrm xmlns:a="http://schemas.openxmlformats.org/drawingml/2006/main">
            <a:off x="3009900" y="3305175"/>
            <a:ext cx="1714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Preserve originals</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and source version</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Queue analysis</a:t>
            </a:r>
          </a:p>
        </p:txBody>
      </p:sp>
      <p:sp>
        <p:nvSpPr>
          <p:cNvPr id="11" name="flow-2">
            <a:extLst xmlns:a="http://schemas.openxmlformats.org/drawingml/2006/main">
              <a:ext uri="{FF2B5EF4-FFF2-40B4-BE49-F238E27FC236}">
                <a16:creationId xmlns:a16="http://schemas.microsoft.com/office/drawing/2014/main" id="{17CD6B6C-4EC1-4CBC-93A8-A0AE7D193DAF}"/>
              </a:ext>
            </a:extLst>
          </p:cNvPr>
          <p:cNvSpPr>
            <a:spLocks xmlns:a="http://schemas.openxmlformats.org/drawingml/2006/main" noGrp="1"/>
          </p:cNvSpPr>
          <p:nvPr/>
        </p:nvSpPr>
        <p:spPr>
          <a:xfrm xmlns:a="http://schemas.openxmlformats.org/drawingml/2006/main">
            <a:off x="5181600" y="2247900"/>
            <a:ext cx="2019300" cy="2247900"/>
          </a:xfrm>
          <a:prstGeom xmlns:a="http://schemas.openxmlformats.org/drawingml/2006/main" prst="roundRect">
            <a:avLst>
              <a:gd name="adj" fmla="val 5660"/>
            </a:avLst>
          </a:prstGeom>
          <a:solidFill xmlns:a="http://schemas.openxmlformats.org/drawingml/2006/main">
            <a:srgbClr val="EEE8FA"/>
          </a:solidFill>
          <a:ln xmlns:a="http://schemas.openxmlformats.org/drawingml/2006/main" w="0">
            <a:noFill/>
          </a:ln>
        </p:spPr>
      </p:sp>
      <p:sp>
        <p:nvSpPr>
          <p:cNvPr id="12" name="flow-title-2">
            <a:extLst xmlns:a="http://schemas.openxmlformats.org/drawingml/2006/main">
              <a:ext uri="{FF2B5EF4-FFF2-40B4-BE49-F238E27FC236}">
                <a16:creationId xmlns:a16="http://schemas.microsoft.com/office/drawing/2014/main" id="{7C5F788C-D0D8-436E-9FD2-BAE5A372C0FD}"/>
              </a:ext>
            </a:extLst>
          </p:cNvPr>
          <p:cNvSpPr>
            <a:spLocks xmlns:a="http://schemas.openxmlformats.org/drawingml/2006/main" noGrp="1"/>
          </p:cNvSpPr>
          <p:nvPr/>
        </p:nvSpPr>
        <p:spPr>
          <a:xfrm xmlns:a="http://schemas.openxmlformats.org/drawingml/2006/main">
            <a:off x="5334000" y="24098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1">
                <a:solidFill>
                  <a:srgbClr val="654D94"/>
                </a:solidFill>
                <a:latin typeface="Helvetica Neue"/>
                <a:ea typeface="Helvetica Neue"/>
                <a:cs typeface="Helvetica Neue"/>
              </a:defRPr>
            </a:pPr>
            <a:r>
              <a:rPr sz="2025" b="1">
                <a:solidFill>
                  <a:srgbClr val="654D94"/>
                </a:solidFill>
                <a:latin typeface="Helvetica Neue"/>
                <a:ea typeface="Helvetica Neue"/>
                <a:cs typeface="Helvetica Neue"/>
              </a:rPr>
              <a:t>Agent 1</a:t>
            </a:r>
          </a:p>
        </p:txBody>
      </p:sp>
      <p:sp>
        <p:nvSpPr>
          <p:cNvPr id="13" name="flow-owner-2">
            <a:extLst xmlns:a="http://schemas.openxmlformats.org/drawingml/2006/main">
              <a:ext uri="{FF2B5EF4-FFF2-40B4-BE49-F238E27FC236}">
                <a16:creationId xmlns:a16="http://schemas.microsoft.com/office/drawing/2014/main" id="{42BD5958-01CC-4A44-AFD8-B5B039F337E5}"/>
              </a:ext>
            </a:extLst>
          </p:cNvPr>
          <p:cNvSpPr>
            <a:spLocks xmlns:a="http://schemas.openxmlformats.org/drawingml/2006/main" noGrp="1"/>
          </p:cNvSpPr>
          <p:nvPr/>
        </p:nvSpPr>
        <p:spPr>
          <a:xfrm xmlns:a="http://schemas.openxmlformats.org/drawingml/2006/main">
            <a:off x="5334000" y="28670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75" b="1">
                <a:solidFill>
                  <a:srgbClr val="654D94"/>
                </a:solidFill>
                <a:latin typeface="Helvetica Neue"/>
                <a:ea typeface="Helvetica Neue"/>
                <a:cs typeface="Helvetica Neue"/>
              </a:defRPr>
            </a:pPr>
            <a:r>
              <a:rPr sz="1575" b="1">
                <a:solidFill>
                  <a:srgbClr val="654D94"/>
                </a:solidFill>
                <a:latin typeface="Helvetica Neue"/>
                <a:ea typeface="Helvetica Neue"/>
                <a:cs typeface="Helvetica Neue"/>
              </a:rPr>
              <a:t>Extraction</a:t>
            </a:r>
          </a:p>
        </p:txBody>
      </p:sp>
      <p:sp>
        <p:nvSpPr>
          <p:cNvPr id="14" name="flow-detail-2">
            <a:extLst xmlns:a="http://schemas.openxmlformats.org/drawingml/2006/main">
              <a:ext uri="{FF2B5EF4-FFF2-40B4-BE49-F238E27FC236}">
                <a16:creationId xmlns:a16="http://schemas.microsoft.com/office/drawing/2014/main" id="{4423E346-9A9C-4268-9C58-8720590E3546}"/>
              </a:ext>
            </a:extLst>
          </p:cNvPr>
          <p:cNvSpPr>
            <a:spLocks xmlns:a="http://schemas.openxmlformats.org/drawingml/2006/main" noGrp="1"/>
          </p:cNvSpPr>
          <p:nvPr/>
        </p:nvSpPr>
        <p:spPr>
          <a:xfrm xmlns:a="http://schemas.openxmlformats.org/drawingml/2006/main">
            <a:off x="5334000" y="3305175"/>
            <a:ext cx="1714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All entries, values,</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references and</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limitations</a:t>
            </a:r>
          </a:p>
        </p:txBody>
      </p:sp>
      <p:sp>
        <p:nvSpPr>
          <p:cNvPr id="15" name="flow-3">
            <a:extLst xmlns:a="http://schemas.openxmlformats.org/drawingml/2006/main">
              <a:ext uri="{FF2B5EF4-FFF2-40B4-BE49-F238E27FC236}">
                <a16:creationId xmlns:a16="http://schemas.microsoft.com/office/drawing/2014/main" id="{F29028F3-DD20-4FC1-B290-10939996D774}"/>
              </a:ext>
            </a:extLst>
          </p:cNvPr>
          <p:cNvSpPr>
            <a:spLocks xmlns:a="http://schemas.openxmlformats.org/drawingml/2006/main" noGrp="1"/>
          </p:cNvSpPr>
          <p:nvPr/>
        </p:nvSpPr>
        <p:spPr>
          <a:xfrm xmlns:a="http://schemas.openxmlformats.org/drawingml/2006/main">
            <a:off x="7505700" y="2247900"/>
            <a:ext cx="2019300" cy="2247900"/>
          </a:xfrm>
          <a:prstGeom xmlns:a="http://schemas.openxmlformats.org/drawingml/2006/main" prst="roundRect">
            <a:avLst>
              <a:gd name="adj" fmla="val 5660"/>
            </a:avLst>
          </a:prstGeom>
          <a:solidFill xmlns:a="http://schemas.openxmlformats.org/drawingml/2006/main">
            <a:srgbClr val="EEE8FA"/>
          </a:solidFill>
          <a:ln xmlns:a="http://schemas.openxmlformats.org/drawingml/2006/main" w="0">
            <a:noFill/>
          </a:ln>
        </p:spPr>
      </p:sp>
      <p:sp>
        <p:nvSpPr>
          <p:cNvPr id="16" name="flow-title-3">
            <a:extLst xmlns:a="http://schemas.openxmlformats.org/drawingml/2006/main">
              <a:ext uri="{FF2B5EF4-FFF2-40B4-BE49-F238E27FC236}">
                <a16:creationId xmlns:a16="http://schemas.microsoft.com/office/drawing/2014/main" id="{4C83B1C1-A1BB-4604-950C-3BD8E129FB07}"/>
              </a:ext>
            </a:extLst>
          </p:cNvPr>
          <p:cNvSpPr>
            <a:spLocks xmlns:a="http://schemas.openxmlformats.org/drawingml/2006/main" noGrp="1"/>
          </p:cNvSpPr>
          <p:nvPr/>
        </p:nvSpPr>
        <p:spPr>
          <a:xfrm xmlns:a="http://schemas.openxmlformats.org/drawingml/2006/main">
            <a:off x="7658100" y="24098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1">
                <a:solidFill>
                  <a:srgbClr val="654D94"/>
                </a:solidFill>
                <a:latin typeface="Helvetica Neue"/>
                <a:ea typeface="Helvetica Neue"/>
                <a:cs typeface="Helvetica Neue"/>
              </a:defRPr>
            </a:pPr>
            <a:r>
              <a:rPr sz="2025" b="1">
                <a:solidFill>
                  <a:srgbClr val="654D94"/>
                </a:solidFill>
                <a:latin typeface="Helvetica Neue"/>
                <a:ea typeface="Helvetica Neue"/>
                <a:cs typeface="Helvetica Neue"/>
              </a:rPr>
              <a:t>Agent 2</a:t>
            </a:r>
          </a:p>
        </p:txBody>
      </p:sp>
      <p:sp>
        <p:nvSpPr>
          <p:cNvPr id="17" name="flow-owner-3">
            <a:extLst xmlns:a="http://schemas.openxmlformats.org/drawingml/2006/main">
              <a:ext uri="{FF2B5EF4-FFF2-40B4-BE49-F238E27FC236}">
                <a16:creationId xmlns:a16="http://schemas.microsoft.com/office/drawing/2014/main" id="{7D5A700F-46E3-4B42-AA77-0FFD801B6020}"/>
              </a:ext>
            </a:extLst>
          </p:cNvPr>
          <p:cNvSpPr>
            <a:spLocks xmlns:a="http://schemas.openxmlformats.org/drawingml/2006/main" noGrp="1"/>
          </p:cNvSpPr>
          <p:nvPr/>
        </p:nvSpPr>
        <p:spPr>
          <a:xfrm xmlns:a="http://schemas.openxmlformats.org/drawingml/2006/main">
            <a:off x="7658100" y="28670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75" b="1">
                <a:solidFill>
                  <a:srgbClr val="654D94"/>
                </a:solidFill>
                <a:latin typeface="Helvetica Neue"/>
                <a:ea typeface="Helvetica Neue"/>
                <a:cs typeface="Helvetica Neue"/>
              </a:defRPr>
            </a:pPr>
            <a:r>
              <a:rPr sz="1575" b="1">
                <a:solidFill>
                  <a:srgbClr val="654D94"/>
                </a:solidFill>
                <a:latin typeface="Helvetica Neue"/>
                <a:ea typeface="Helvetica Neue"/>
                <a:cs typeface="Helvetica Neue"/>
              </a:rPr>
              <a:t>Selection</a:t>
            </a:r>
          </a:p>
        </p:txBody>
      </p:sp>
      <p:sp>
        <p:nvSpPr>
          <p:cNvPr id="18" name="flow-detail-3">
            <a:extLst xmlns:a="http://schemas.openxmlformats.org/drawingml/2006/main">
              <a:ext uri="{FF2B5EF4-FFF2-40B4-BE49-F238E27FC236}">
                <a16:creationId xmlns:a16="http://schemas.microsoft.com/office/drawing/2014/main" id="{D034C1AA-9F5C-4557-A378-B6160BA15959}"/>
              </a:ext>
            </a:extLst>
          </p:cNvPr>
          <p:cNvSpPr>
            <a:spLocks xmlns:a="http://schemas.openxmlformats.org/drawingml/2006/main" noGrp="1"/>
          </p:cNvSpPr>
          <p:nvPr/>
        </p:nvSpPr>
        <p:spPr>
          <a:xfrm xmlns:a="http://schemas.openxmlformats.org/drawingml/2006/main">
            <a:off x="7658100" y="3305175"/>
            <a:ext cx="1714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Errors, items,</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outcomes, conflicts</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and gaps</a:t>
            </a:r>
          </a:p>
        </p:txBody>
      </p:sp>
      <p:sp>
        <p:nvSpPr>
          <p:cNvPr id="19" name="flow-4">
            <a:extLst xmlns:a="http://schemas.openxmlformats.org/drawingml/2006/main">
              <a:ext uri="{FF2B5EF4-FFF2-40B4-BE49-F238E27FC236}">
                <a16:creationId xmlns:a16="http://schemas.microsoft.com/office/drawing/2014/main" id="{8C40CAE5-7BBB-4B83-90DE-A6C4F766B43F}"/>
              </a:ext>
            </a:extLst>
          </p:cNvPr>
          <p:cNvSpPr>
            <a:spLocks xmlns:a="http://schemas.openxmlformats.org/drawingml/2006/main" noGrp="1"/>
          </p:cNvSpPr>
          <p:nvPr/>
        </p:nvSpPr>
        <p:spPr>
          <a:xfrm xmlns:a="http://schemas.openxmlformats.org/drawingml/2006/main">
            <a:off x="9829800" y="2247900"/>
            <a:ext cx="2019300" cy="2247900"/>
          </a:xfrm>
          <a:prstGeom xmlns:a="http://schemas.openxmlformats.org/drawingml/2006/main" prst="roundRect">
            <a:avLst>
              <a:gd name="adj" fmla="val 5660"/>
            </a:avLst>
          </a:prstGeom>
          <a:solidFill xmlns:a="http://schemas.openxmlformats.org/drawingml/2006/main">
            <a:srgbClr val="EEE8FA"/>
          </a:solidFill>
          <a:ln xmlns:a="http://schemas.openxmlformats.org/drawingml/2006/main" w="0">
            <a:noFill/>
          </a:ln>
        </p:spPr>
      </p:sp>
      <p:sp>
        <p:nvSpPr>
          <p:cNvPr id="20" name="flow-title-4">
            <a:extLst xmlns:a="http://schemas.openxmlformats.org/drawingml/2006/main">
              <a:ext uri="{FF2B5EF4-FFF2-40B4-BE49-F238E27FC236}">
                <a16:creationId xmlns:a16="http://schemas.microsoft.com/office/drawing/2014/main" id="{06FDDB63-1BA7-4CF7-977B-F3CEB8B9F226}"/>
              </a:ext>
            </a:extLst>
          </p:cNvPr>
          <p:cNvSpPr>
            <a:spLocks xmlns:a="http://schemas.openxmlformats.org/drawingml/2006/main" noGrp="1"/>
          </p:cNvSpPr>
          <p:nvPr/>
        </p:nvSpPr>
        <p:spPr>
          <a:xfrm xmlns:a="http://schemas.openxmlformats.org/drawingml/2006/main">
            <a:off x="9982200" y="24098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1">
                <a:solidFill>
                  <a:srgbClr val="654D94"/>
                </a:solidFill>
                <a:latin typeface="Helvetica Neue"/>
                <a:ea typeface="Helvetica Neue"/>
                <a:cs typeface="Helvetica Neue"/>
              </a:defRPr>
            </a:pPr>
            <a:r>
              <a:rPr sz="2025" b="1">
                <a:solidFill>
                  <a:srgbClr val="654D94"/>
                </a:solidFill>
                <a:latin typeface="Helvetica Neue"/>
                <a:ea typeface="Helvetica Neue"/>
                <a:cs typeface="Helvetica Neue"/>
              </a:rPr>
              <a:t>Agent 3</a:t>
            </a:r>
          </a:p>
        </p:txBody>
      </p:sp>
      <p:sp>
        <p:nvSpPr>
          <p:cNvPr id="21" name="flow-owner-4">
            <a:extLst xmlns:a="http://schemas.openxmlformats.org/drawingml/2006/main">
              <a:ext uri="{FF2B5EF4-FFF2-40B4-BE49-F238E27FC236}">
                <a16:creationId xmlns:a16="http://schemas.microsoft.com/office/drawing/2014/main" id="{8DC5F8C7-2F2A-4BE0-9208-4E0343520113}"/>
              </a:ext>
            </a:extLst>
          </p:cNvPr>
          <p:cNvSpPr>
            <a:spLocks xmlns:a="http://schemas.openxmlformats.org/drawingml/2006/main" noGrp="1"/>
          </p:cNvSpPr>
          <p:nvPr/>
        </p:nvSpPr>
        <p:spPr>
          <a:xfrm xmlns:a="http://schemas.openxmlformats.org/drawingml/2006/main">
            <a:off x="9982200" y="28670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75" b="1">
                <a:solidFill>
                  <a:srgbClr val="654D94"/>
                </a:solidFill>
                <a:latin typeface="Helvetica Neue"/>
                <a:ea typeface="Helvetica Neue"/>
                <a:cs typeface="Helvetica Neue"/>
              </a:defRPr>
            </a:pPr>
            <a:r>
              <a:rPr sz="1575" b="1">
                <a:solidFill>
                  <a:srgbClr val="654D94"/>
                </a:solidFill>
                <a:latin typeface="Helvetica Neue"/>
                <a:ea typeface="Helvetica Neue"/>
                <a:cs typeface="Helvetica Neue"/>
              </a:rPr>
              <a:t>Summary</a:t>
            </a:r>
          </a:p>
        </p:txBody>
      </p:sp>
      <p:sp>
        <p:nvSpPr>
          <p:cNvPr id="22" name="flow-detail-4">
            <a:extLst xmlns:a="http://schemas.openxmlformats.org/drawingml/2006/main">
              <a:ext uri="{FF2B5EF4-FFF2-40B4-BE49-F238E27FC236}">
                <a16:creationId xmlns:a16="http://schemas.microsoft.com/office/drawing/2014/main" id="{0CE8B8A1-CF5F-4461-A37A-524EACA912A4}"/>
              </a:ext>
            </a:extLst>
          </p:cNvPr>
          <p:cNvSpPr>
            <a:spLocks xmlns:a="http://schemas.openxmlformats.org/drawingml/2006/main" noGrp="1"/>
          </p:cNvSpPr>
          <p:nvPr/>
        </p:nvSpPr>
        <p:spPr>
          <a:xfrm xmlns:a="http://schemas.openxmlformats.org/drawingml/2006/main">
            <a:off x="9982200" y="3305175"/>
            <a:ext cx="1714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Factual brief,</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uncertainties and</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related cases</a:t>
            </a:r>
          </a:p>
        </p:txBody>
      </p:sp>
      <p:sp>
        <p:nvSpPr>
          <p:cNvPr id="23" name="flow-5">
            <a:extLst xmlns:a="http://schemas.openxmlformats.org/drawingml/2006/main">
              <a:ext uri="{FF2B5EF4-FFF2-40B4-BE49-F238E27FC236}">
                <a16:creationId xmlns:a16="http://schemas.microsoft.com/office/drawing/2014/main" id="{EC2089AF-40FC-48F5-BCAC-F6E50F32760C}"/>
              </a:ext>
            </a:extLst>
          </p:cNvPr>
          <p:cNvSpPr>
            <a:spLocks xmlns:a="http://schemas.openxmlformats.org/drawingml/2006/main" noGrp="1"/>
          </p:cNvSpPr>
          <p:nvPr/>
        </p:nvSpPr>
        <p:spPr>
          <a:xfrm xmlns:a="http://schemas.openxmlformats.org/drawingml/2006/main">
            <a:off x="12153900" y="2247900"/>
            <a:ext cx="2019300" cy="2247900"/>
          </a:xfrm>
          <a:prstGeom xmlns:a="http://schemas.openxmlformats.org/drawingml/2006/main" prst="roundRect">
            <a:avLst>
              <a:gd name="adj" fmla="val 5660"/>
            </a:avLst>
          </a:prstGeom>
          <a:solidFill xmlns:a="http://schemas.openxmlformats.org/drawingml/2006/main">
            <a:srgbClr val="E3EEFA"/>
          </a:solidFill>
          <a:ln xmlns:a="http://schemas.openxmlformats.org/drawingml/2006/main" w="0">
            <a:noFill/>
          </a:ln>
        </p:spPr>
      </p:sp>
      <p:sp>
        <p:nvSpPr>
          <p:cNvPr id="24" name="flow-title-5">
            <a:extLst xmlns:a="http://schemas.openxmlformats.org/drawingml/2006/main">
              <a:ext uri="{FF2B5EF4-FFF2-40B4-BE49-F238E27FC236}">
                <a16:creationId xmlns:a16="http://schemas.microsoft.com/office/drawing/2014/main" id="{CFC7E69A-C033-4B65-928E-3DCB9796C760}"/>
              </a:ext>
            </a:extLst>
          </p:cNvPr>
          <p:cNvSpPr>
            <a:spLocks xmlns:a="http://schemas.openxmlformats.org/drawingml/2006/main" noGrp="1"/>
          </p:cNvSpPr>
          <p:nvPr/>
        </p:nvSpPr>
        <p:spPr>
          <a:xfrm xmlns:a="http://schemas.openxmlformats.org/drawingml/2006/main">
            <a:off x="12306300" y="24098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1">
                <a:solidFill>
                  <a:srgbClr val="2F6095"/>
                </a:solidFill>
                <a:latin typeface="Helvetica Neue"/>
                <a:ea typeface="Helvetica Neue"/>
                <a:cs typeface="Helvetica Neue"/>
              </a:defRPr>
            </a:pPr>
            <a:r>
              <a:rPr sz="2025" b="1">
                <a:solidFill>
                  <a:srgbClr val="2F6095"/>
                </a:solidFill>
                <a:latin typeface="Helvetica Neue"/>
                <a:ea typeface="Helvetica Neue"/>
                <a:cs typeface="Helvetica Neue"/>
              </a:rPr>
              <a:t>Case + API</a:t>
            </a:r>
          </a:p>
        </p:txBody>
      </p:sp>
      <p:sp>
        <p:nvSpPr>
          <p:cNvPr id="25" name="flow-owner-5">
            <a:extLst xmlns:a="http://schemas.openxmlformats.org/drawingml/2006/main">
              <a:ext uri="{FF2B5EF4-FFF2-40B4-BE49-F238E27FC236}">
                <a16:creationId xmlns:a16="http://schemas.microsoft.com/office/drawing/2014/main" id="{385342B8-6AC4-4944-8BEF-D6E83038D433}"/>
              </a:ext>
            </a:extLst>
          </p:cNvPr>
          <p:cNvSpPr>
            <a:spLocks xmlns:a="http://schemas.openxmlformats.org/drawingml/2006/main" noGrp="1"/>
          </p:cNvSpPr>
          <p:nvPr/>
        </p:nvSpPr>
        <p:spPr>
          <a:xfrm xmlns:a="http://schemas.openxmlformats.org/drawingml/2006/main">
            <a:off x="12306300" y="28670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75" b="1">
                <a:solidFill>
                  <a:srgbClr val="2F6095"/>
                </a:solidFill>
                <a:latin typeface="Helvetica Neue"/>
                <a:ea typeface="Helvetica Neue"/>
                <a:cs typeface="Helvetica Neue"/>
              </a:defRPr>
            </a:pPr>
            <a:r>
              <a:rPr sz="1575" b="1">
                <a:solidFill>
                  <a:srgbClr val="2F6095"/>
                </a:solidFill>
                <a:latin typeface="Helvetica Neue"/>
                <a:ea typeface="Helvetica Neue"/>
                <a:cs typeface="Helvetica Neue"/>
              </a:rPr>
              <a:t>Code</a:t>
            </a:r>
          </a:p>
        </p:txBody>
      </p:sp>
      <p:sp>
        <p:nvSpPr>
          <p:cNvPr id="26" name="flow-detail-5">
            <a:extLst xmlns:a="http://schemas.openxmlformats.org/drawingml/2006/main">
              <a:ext uri="{FF2B5EF4-FFF2-40B4-BE49-F238E27FC236}">
                <a16:creationId xmlns:a16="http://schemas.microsoft.com/office/drawing/2014/main" id="{1691EC55-0A75-4DE6-A8CB-A605CA8A12D5}"/>
              </a:ext>
            </a:extLst>
          </p:cNvPr>
          <p:cNvSpPr>
            <a:spLocks xmlns:a="http://schemas.openxmlformats.org/drawingml/2006/main" noGrp="1"/>
          </p:cNvSpPr>
          <p:nvPr/>
        </p:nvSpPr>
        <p:spPr>
          <a:xfrm xmlns:a="http://schemas.openxmlformats.org/drawingml/2006/main">
            <a:off x="12306300" y="3305175"/>
            <a:ext cx="1714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Case page and</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source links</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Versioned read API</a:t>
            </a:r>
          </a:p>
        </p:txBody>
      </p:sp>
      <p:cxnSp>
        <p:nvCxnSpPr>
          <p:cNvPr id="75" name=""/>
          <p:cNvCxnSpPr>
            <a:stCxn xmlns:a="http://schemas.openxmlformats.org/drawingml/2006/main" id="3" idx="3"/>
            <a:endCxn xmlns:a="http://schemas.openxmlformats.org/drawingml/2006/main" id="7" idx="1"/>
          </p:cNvCxnSpPr>
          <p:nvPr/>
        </p:nvCxnSpPr>
        <p:spPr>
          <a:xfrm xmlns:a="http://schemas.openxmlformats.org/drawingml/2006/main">
            <a:off x="2552700" y="3371850"/>
            <a:ext cx="304800" cy="0"/>
          </a:xfrm>
          <a:prstGeom xmlns:a="http://schemas.openxmlformats.org/drawingml/2006/main" prst="straightConnector1">
            <a:avLst/>
          </a:prstGeom>
          <a:ln xmlns:a="http://schemas.openxmlformats.org/drawingml/2006/main" w="28575">
            <a:solidFill>
              <a:srgbClr val="8097B1"/>
            </a:solidFill>
            <a:tailEnd type="triangle" w="med" len="med"/>
          </a:ln>
        </p:spPr>
      </p:cxnSp>
      <p:cxnSp>
        <p:nvCxnSpPr>
          <p:cNvPr id="76" name=""/>
          <p:cNvCxnSpPr>
            <a:stCxn xmlns:a="http://schemas.openxmlformats.org/drawingml/2006/main" id="7" idx="3"/>
            <a:endCxn xmlns:a="http://schemas.openxmlformats.org/drawingml/2006/main" id="11" idx="1"/>
          </p:cNvCxnSpPr>
          <p:nvPr/>
        </p:nvCxnSpPr>
        <p:spPr>
          <a:xfrm xmlns:a="http://schemas.openxmlformats.org/drawingml/2006/main">
            <a:off x="4876800" y="3371850"/>
            <a:ext cx="304800" cy="0"/>
          </a:xfrm>
          <a:prstGeom xmlns:a="http://schemas.openxmlformats.org/drawingml/2006/main" prst="straightConnector1">
            <a:avLst/>
          </a:prstGeom>
          <a:ln xmlns:a="http://schemas.openxmlformats.org/drawingml/2006/main" w="28575">
            <a:solidFill>
              <a:srgbClr val="8097B1"/>
            </a:solidFill>
            <a:tailEnd type="triangle" w="med" len="med"/>
          </a:ln>
        </p:spPr>
      </p:cxnSp>
      <p:cxnSp>
        <p:nvCxnSpPr>
          <p:cNvPr id="77" name=""/>
          <p:cNvCxnSpPr>
            <a:stCxn xmlns:a="http://schemas.openxmlformats.org/drawingml/2006/main" id="11" idx="3"/>
            <a:endCxn xmlns:a="http://schemas.openxmlformats.org/drawingml/2006/main" id="15" idx="1"/>
          </p:cNvCxnSpPr>
          <p:nvPr/>
        </p:nvCxnSpPr>
        <p:spPr>
          <a:xfrm xmlns:a="http://schemas.openxmlformats.org/drawingml/2006/main">
            <a:off x="7200900" y="3371850"/>
            <a:ext cx="304800" cy="0"/>
          </a:xfrm>
          <a:prstGeom xmlns:a="http://schemas.openxmlformats.org/drawingml/2006/main" prst="straightConnector1">
            <a:avLst/>
          </a:prstGeom>
          <a:ln xmlns:a="http://schemas.openxmlformats.org/drawingml/2006/main" w="28575">
            <a:solidFill>
              <a:srgbClr val="8097B1"/>
            </a:solidFill>
            <a:tailEnd type="triangle" w="med" len="med"/>
          </a:ln>
        </p:spPr>
      </p:cxnSp>
      <p:cxnSp>
        <p:nvCxnSpPr>
          <p:cNvPr id="78" name=""/>
          <p:cNvCxnSpPr>
            <a:stCxn xmlns:a="http://schemas.openxmlformats.org/drawingml/2006/main" id="15" idx="3"/>
            <a:endCxn xmlns:a="http://schemas.openxmlformats.org/drawingml/2006/main" id="19" idx="1"/>
          </p:cNvCxnSpPr>
          <p:nvPr/>
        </p:nvCxnSpPr>
        <p:spPr>
          <a:xfrm xmlns:a="http://schemas.openxmlformats.org/drawingml/2006/main">
            <a:off x="9525000" y="3371850"/>
            <a:ext cx="304800" cy="0"/>
          </a:xfrm>
          <a:prstGeom xmlns:a="http://schemas.openxmlformats.org/drawingml/2006/main" prst="straightConnector1">
            <a:avLst/>
          </a:prstGeom>
          <a:ln xmlns:a="http://schemas.openxmlformats.org/drawingml/2006/main" w="28575">
            <a:solidFill>
              <a:srgbClr val="8097B1"/>
            </a:solidFill>
            <a:tailEnd type="triangle" w="med" len="med"/>
          </a:ln>
        </p:spPr>
      </p:cxnSp>
      <p:cxnSp>
        <p:nvCxnSpPr>
          <p:cNvPr id="79" name=""/>
          <p:cNvCxnSpPr>
            <a:stCxn xmlns:a="http://schemas.openxmlformats.org/drawingml/2006/main" id="19" idx="3"/>
            <a:endCxn xmlns:a="http://schemas.openxmlformats.org/drawingml/2006/main" id="23" idx="1"/>
          </p:cNvCxnSpPr>
          <p:nvPr/>
        </p:nvCxnSpPr>
        <p:spPr>
          <a:xfrm xmlns:a="http://schemas.openxmlformats.org/drawingml/2006/main">
            <a:off x="11849100" y="3371850"/>
            <a:ext cx="304800" cy="0"/>
          </a:xfrm>
          <a:prstGeom xmlns:a="http://schemas.openxmlformats.org/drawingml/2006/main" prst="straightConnector1">
            <a:avLst/>
          </a:prstGeom>
          <a:ln xmlns:a="http://schemas.openxmlformats.org/drawingml/2006/main" w="28575">
            <a:solidFill>
              <a:srgbClr val="8097B1"/>
            </a:solidFill>
            <a:tailEnd type="triangle" w="med" len="med"/>
          </a:ln>
        </p:spPr>
      </p:cxnSp>
      <p:sp>
        <p:nvSpPr>
          <p:cNvPr id="32" name="original-store">
            <a:extLst xmlns:a="http://schemas.openxmlformats.org/drawingml/2006/main">
              <a:ext uri="{FF2B5EF4-FFF2-40B4-BE49-F238E27FC236}">
                <a16:creationId xmlns:a16="http://schemas.microsoft.com/office/drawing/2014/main" id="{FC2892E8-FAB3-4605-8706-4F6CF16B18FF}"/>
              </a:ext>
            </a:extLst>
          </p:cNvPr>
          <p:cNvSpPr>
            <a:spLocks xmlns:a="http://schemas.openxmlformats.org/drawingml/2006/main" noGrp="1"/>
          </p:cNvSpPr>
          <p:nvPr/>
        </p:nvSpPr>
        <p:spPr>
          <a:xfrm xmlns:a="http://schemas.openxmlformats.org/drawingml/2006/main">
            <a:off x="533400" y="5295900"/>
            <a:ext cx="4419600" cy="1504950"/>
          </a:xfrm>
          <a:prstGeom xmlns:a="http://schemas.openxmlformats.org/drawingml/2006/main" prst="roundRect">
            <a:avLst>
              <a:gd name="adj" fmla="val 7595"/>
            </a:avLst>
          </a:prstGeom>
          <a:solidFill xmlns:a="http://schemas.openxmlformats.org/drawingml/2006/main">
            <a:srgbClr val="E3EEFA"/>
          </a:solidFill>
          <a:ln xmlns:a="http://schemas.openxmlformats.org/drawingml/2006/main" w="0">
            <a:noFill/>
          </a:ln>
        </p:spPr>
      </p:sp>
      <p:sp>
        <p:nvSpPr>
          <p:cNvPr id="33" name="original-heading">
            <a:extLst xmlns:a="http://schemas.openxmlformats.org/drawingml/2006/main">
              <a:ext uri="{FF2B5EF4-FFF2-40B4-BE49-F238E27FC236}">
                <a16:creationId xmlns:a16="http://schemas.microsoft.com/office/drawing/2014/main" id="{A3F92FD5-34A9-47B9-A591-02C647F4C6FD}"/>
              </a:ext>
            </a:extLst>
          </p:cNvPr>
          <p:cNvSpPr>
            <a:spLocks xmlns:a="http://schemas.openxmlformats.org/drawingml/2006/main" noGrp="1"/>
          </p:cNvSpPr>
          <p:nvPr/>
        </p:nvSpPr>
        <p:spPr>
          <a:xfrm xmlns:a="http://schemas.openxmlformats.org/drawingml/2006/main">
            <a:off x="762000" y="5514975"/>
            <a:ext cx="396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2F6095"/>
                </a:solidFill>
                <a:latin typeface="Helvetica Neue"/>
                <a:ea typeface="Helvetica Neue"/>
                <a:cs typeface="Helvetica Neue"/>
              </a:defRPr>
            </a:pPr>
            <a:r>
              <a:rPr sz="2100" b="1">
                <a:solidFill>
                  <a:srgbClr val="2F6095"/>
                </a:solidFill>
                <a:latin typeface="Helvetica Neue"/>
                <a:ea typeface="Helvetica Neue"/>
                <a:cs typeface="Helvetica Neue"/>
              </a:rPr>
              <a:t>Immutable original evidence</a:t>
            </a:r>
          </a:p>
        </p:txBody>
      </p:sp>
      <p:sp>
        <p:nvSpPr>
          <p:cNvPr id="34" name="original-detail">
            <a:extLst xmlns:a="http://schemas.openxmlformats.org/drawingml/2006/main">
              <a:ext uri="{FF2B5EF4-FFF2-40B4-BE49-F238E27FC236}">
                <a16:creationId xmlns:a16="http://schemas.microsoft.com/office/drawing/2014/main" id="{5654C0B6-1D60-423B-A569-BFBD9CDB16CB}"/>
              </a:ext>
            </a:extLst>
          </p:cNvPr>
          <p:cNvSpPr>
            <a:spLocks xmlns:a="http://schemas.openxmlformats.org/drawingml/2006/main" noGrp="1"/>
          </p:cNvSpPr>
          <p:nvPr/>
        </p:nvSpPr>
        <p:spPr>
          <a:xfrm xmlns:a="http://schemas.openxmlformats.org/drawingml/2006/main">
            <a:off x="762000" y="6000750"/>
            <a:ext cx="3962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Complete supplied content</a:t>
            </a:r>
          </a:p>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Exact lines and source version</a:t>
            </a:r>
          </a:p>
        </p:txBody>
      </p:sp>
      <p:cxnSp>
        <p:nvCxnSpPr>
          <p:cNvPr id="83" name=""/>
          <p:cNvCxnSpPr>
            <a:stCxn xmlns:a="http://schemas.openxmlformats.org/drawingml/2006/main" id="7" idx="2"/>
            <a:endCxn xmlns:a="http://schemas.openxmlformats.org/drawingml/2006/main" id="32" idx="0"/>
          </p:cNvCxnSpPr>
          <p:nvPr/>
        </p:nvCxnSpPr>
        <p:spPr>
          <a:xfrm xmlns:a="http://schemas.openxmlformats.org/drawingml/2006/main" flipH="1">
            <a:off x="2743200" y="4495800"/>
            <a:ext cx="1123950" cy="800100"/>
          </a:xfrm>
          <a:prstGeom xmlns:a="http://schemas.openxmlformats.org/drawingml/2006/main" prst="bentConnector4">
            <a:avLst>
              <a:gd name="adj1" fmla="val 0"/>
              <a:gd name="adj2" fmla="val 50000"/>
            </a:avLst>
          </a:prstGeom>
          <a:ln xmlns:a="http://schemas.openxmlformats.org/drawingml/2006/main" w="28575">
            <a:solidFill>
              <a:srgbClr val="8097B1"/>
            </a:solidFill>
            <a:tailEnd type="triangle" w="med" len="med"/>
          </a:ln>
        </p:spPr>
      </p:cxnSp>
      <p:sp>
        <p:nvSpPr>
          <p:cNvPr id="36" name="case-history">
            <a:extLst xmlns:a="http://schemas.openxmlformats.org/drawingml/2006/main">
              <a:ext uri="{FF2B5EF4-FFF2-40B4-BE49-F238E27FC236}">
                <a16:creationId xmlns:a16="http://schemas.microsoft.com/office/drawing/2014/main" id="{39A33431-C146-4EB6-B82D-F5ABD02D709A}"/>
              </a:ext>
            </a:extLst>
          </p:cNvPr>
          <p:cNvSpPr>
            <a:spLocks xmlns:a="http://schemas.openxmlformats.org/drawingml/2006/main" noGrp="1"/>
          </p:cNvSpPr>
          <p:nvPr/>
        </p:nvSpPr>
        <p:spPr>
          <a:xfrm xmlns:a="http://schemas.openxmlformats.org/drawingml/2006/main">
            <a:off x="5829300" y="5295900"/>
            <a:ext cx="3905250" cy="1504950"/>
          </a:xfrm>
          <a:prstGeom xmlns:a="http://schemas.openxmlformats.org/drawingml/2006/main" prst="roundRect">
            <a:avLst>
              <a:gd name="adj" fmla="val 7595"/>
            </a:avLst>
          </a:prstGeom>
          <a:solidFill xmlns:a="http://schemas.openxmlformats.org/drawingml/2006/main">
            <a:srgbClr val="E0F1ED"/>
          </a:solidFill>
          <a:ln xmlns:a="http://schemas.openxmlformats.org/drawingml/2006/main" w="0">
            <a:noFill/>
          </a:ln>
        </p:spPr>
      </p:sp>
      <p:sp>
        <p:nvSpPr>
          <p:cNvPr id="37" name="case-history-title">
            <a:extLst xmlns:a="http://schemas.openxmlformats.org/drawingml/2006/main">
              <a:ext uri="{FF2B5EF4-FFF2-40B4-BE49-F238E27FC236}">
                <a16:creationId xmlns:a16="http://schemas.microsoft.com/office/drawing/2014/main" id="{8A68FBE5-0A2F-411F-94B3-C92CD584D509}"/>
              </a:ext>
            </a:extLst>
          </p:cNvPr>
          <p:cNvSpPr>
            <a:spLocks xmlns:a="http://schemas.openxmlformats.org/drawingml/2006/main" noGrp="1"/>
          </p:cNvSpPr>
          <p:nvPr/>
        </p:nvSpPr>
        <p:spPr>
          <a:xfrm xmlns:a="http://schemas.openxmlformats.org/drawingml/2006/main">
            <a:off x="6057900" y="5514975"/>
            <a:ext cx="3448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0B7870"/>
                </a:solidFill>
                <a:latin typeface="Helvetica Neue"/>
                <a:ea typeface="Helvetica Neue"/>
                <a:cs typeface="Helvetica Neue"/>
              </a:defRPr>
            </a:pPr>
            <a:r>
              <a:rPr sz="2100" b="1">
                <a:solidFill>
                  <a:srgbClr val="0B7870"/>
                </a:solidFill>
                <a:latin typeface="Helvetica Neue"/>
                <a:ea typeface="Helvetica Neue"/>
                <a:cs typeface="Helvetica Neue"/>
              </a:rPr>
              <a:t>Reviewed case history</a:t>
            </a:r>
          </a:p>
        </p:txBody>
      </p:sp>
      <p:sp>
        <p:nvSpPr>
          <p:cNvPr id="38" name="case-history-detail">
            <a:extLst xmlns:a="http://schemas.openxmlformats.org/drawingml/2006/main">
              <a:ext uri="{FF2B5EF4-FFF2-40B4-BE49-F238E27FC236}">
                <a16:creationId xmlns:a16="http://schemas.microsoft.com/office/drawing/2014/main" id="{3E259B5E-08EE-452F-8E32-BD82FC37A677}"/>
              </a:ext>
            </a:extLst>
          </p:cNvPr>
          <p:cNvSpPr>
            <a:spLocks xmlns:a="http://schemas.openxmlformats.org/drawingml/2006/main" noGrp="1"/>
          </p:cNvSpPr>
          <p:nvPr/>
        </p:nvSpPr>
        <p:spPr>
          <a:xfrm xmlns:a="http://schemas.openxmlformats.org/drawingml/2006/main">
            <a:off x="6057900" y="6000750"/>
            <a:ext cx="3448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00" b="0">
                <a:solidFill>
                  <a:srgbClr val="15304C"/>
                </a:solidFill>
                <a:latin typeface="Helvetica Neue"/>
                <a:ea typeface="Helvetica Neue"/>
                <a:cs typeface="Helvetica Neue"/>
              </a:defRPr>
            </a:pPr>
            <a:r>
              <a:rPr sz="1800" b="0">
                <a:solidFill>
                  <a:srgbClr val="15304C"/>
                </a:solidFill>
                <a:latin typeface="Helvetica Neue"/>
                <a:ea typeface="Helvetica Neue"/>
                <a:cs typeface="Helvetica Neue"/>
              </a:rPr>
              <a:t>Eligible findings and outcomes</a:t>
            </a:r>
          </a:p>
          <a:p xmlns:a="http://schemas.openxmlformats.org/drawingml/2006/main">
            <a:pPr algn="l">
              <a:defRPr sz="1800" b="0">
                <a:solidFill>
                  <a:srgbClr val="15304C"/>
                </a:solidFill>
                <a:latin typeface="Helvetica Neue"/>
                <a:ea typeface="Helvetica Neue"/>
                <a:cs typeface="Helvetica Neue"/>
              </a:defRPr>
            </a:pPr>
            <a:r>
              <a:rPr sz="1800" b="0">
                <a:solidFill>
                  <a:srgbClr val="15304C"/>
                </a:solidFill>
                <a:latin typeface="Helvetica Neue"/>
                <a:ea typeface="Helvetica Neue"/>
                <a:cs typeface="Helvetica Neue"/>
              </a:rPr>
              <a:t>Agent 3 can read this history only</a:t>
            </a:r>
          </a:p>
        </p:txBody>
      </p:sp>
      <p:sp>
        <p:nvSpPr>
          <p:cNvPr id="39" name="human-led-review">
            <a:extLst xmlns:a="http://schemas.openxmlformats.org/drawingml/2006/main">
              <a:ext uri="{FF2B5EF4-FFF2-40B4-BE49-F238E27FC236}">
                <a16:creationId xmlns:a16="http://schemas.microsoft.com/office/drawing/2014/main" id="{741856EF-1BEE-4B67-876E-44B9F1A29632}"/>
              </a:ext>
            </a:extLst>
          </p:cNvPr>
          <p:cNvSpPr>
            <a:spLocks xmlns:a="http://schemas.openxmlformats.org/drawingml/2006/main" noGrp="1"/>
          </p:cNvSpPr>
          <p:nvPr/>
        </p:nvSpPr>
        <p:spPr>
          <a:xfrm xmlns:a="http://schemas.openxmlformats.org/drawingml/2006/main">
            <a:off x="10591800" y="5295900"/>
            <a:ext cx="4114800" cy="1504950"/>
          </a:xfrm>
          <a:prstGeom xmlns:a="http://schemas.openxmlformats.org/drawingml/2006/main" prst="roundRect">
            <a:avLst>
              <a:gd name="adj" fmla="val 7595"/>
            </a:avLst>
          </a:prstGeom>
          <a:solidFill xmlns:a="http://schemas.openxmlformats.org/drawingml/2006/main">
            <a:srgbClr val="FFF0D8"/>
          </a:solidFill>
          <a:ln xmlns:a="http://schemas.openxmlformats.org/drawingml/2006/main" w="0">
            <a:noFill/>
          </a:ln>
        </p:spPr>
      </p:sp>
      <p:sp>
        <p:nvSpPr>
          <p:cNvPr id="40" name="human-led-review-title">
            <a:extLst xmlns:a="http://schemas.openxmlformats.org/drawingml/2006/main">
              <a:ext uri="{FF2B5EF4-FFF2-40B4-BE49-F238E27FC236}">
                <a16:creationId xmlns:a16="http://schemas.microsoft.com/office/drawing/2014/main" id="{9EB3E015-F61F-4EA3-9F81-6117C88740B0}"/>
              </a:ext>
            </a:extLst>
          </p:cNvPr>
          <p:cNvSpPr>
            <a:spLocks xmlns:a="http://schemas.openxmlformats.org/drawingml/2006/main" noGrp="1"/>
          </p:cNvSpPr>
          <p:nvPr/>
        </p:nvSpPr>
        <p:spPr>
          <a:xfrm xmlns:a="http://schemas.openxmlformats.org/drawingml/2006/main">
            <a:off x="10820400" y="5514975"/>
            <a:ext cx="365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8A6025"/>
                </a:solidFill>
                <a:latin typeface="Helvetica Neue"/>
                <a:ea typeface="Helvetica Neue"/>
                <a:cs typeface="Helvetica Neue"/>
              </a:defRPr>
            </a:pPr>
            <a:r>
              <a:rPr sz="2100" b="1">
                <a:solidFill>
                  <a:srgbClr val="8A6025"/>
                </a:solidFill>
                <a:latin typeface="Helvetica Neue"/>
                <a:ea typeface="Helvetica Neue"/>
                <a:cs typeface="Helvetica Neue"/>
              </a:rPr>
              <a:t>Human led Review</a:t>
            </a:r>
          </a:p>
        </p:txBody>
      </p:sp>
      <p:sp>
        <p:nvSpPr>
          <p:cNvPr id="41" name="human-led-review-detail">
            <a:extLst xmlns:a="http://schemas.openxmlformats.org/drawingml/2006/main">
              <a:ext uri="{FF2B5EF4-FFF2-40B4-BE49-F238E27FC236}">
                <a16:creationId xmlns:a16="http://schemas.microsoft.com/office/drawing/2014/main" id="{945F480D-218F-450D-876F-15E156461D86}"/>
              </a:ext>
            </a:extLst>
          </p:cNvPr>
          <p:cNvSpPr>
            <a:spLocks xmlns:a="http://schemas.openxmlformats.org/drawingml/2006/main" noGrp="1"/>
          </p:cNvSpPr>
          <p:nvPr/>
        </p:nvSpPr>
        <p:spPr>
          <a:xfrm xmlns:a="http://schemas.openxmlformats.org/drawingml/2006/main">
            <a:off x="10820400" y="6000750"/>
            <a:ext cx="3657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00" b="0">
                <a:solidFill>
                  <a:srgbClr val="15304C"/>
                </a:solidFill>
                <a:latin typeface="Helvetica Neue"/>
                <a:ea typeface="Helvetica Neue"/>
                <a:cs typeface="Helvetica Neue"/>
              </a:defRPr>
            </a:pPr>
            <a:r>
              <a:rPr sz="1800" b="0">
                <a:solidFill>
                  <a:srgbClr val="15304C"/>
                </a:solidFill>
                <a:latin typeface="Helvetica Neue"/>
                <a:ea typeface="Helvetica Neue"/>
                <a:cs typeface="Helvetica Neue"/>
              </a:rPr>
              <a:t>Check or correct the brief</a:t>
            </a:r>
          </a:p>
          <a:p xmlns:a="http://schemas.openxmlformats.org/drawingml/2006/main">
            <a:pPr algn="l">
              <a:defRPr sz="1800" b="0">
                <a:solidFill>
                  <a:srgbClr val="15304C"/>
                </a:solidFill>
                <a:latin typeface="Helvetica Neue"/>
                <a:ea typeface="Helvetica Neue"/>
                <a:cs typeface="Helvetica Neue"/>
              </a:defRPr>
            </a:pPr>
            <a:r>
              <a:rPr sz="1800" b="0">
                <a:solidFill>
                  <a:srgbClr val="15304C"/>
                </a:solidFill>
                <a:latin typeface="Helvetica Neue"/>
                <a:ea typeface="Helvetica Neue"/>
                <a:cs typeface="Helvetica Neue"/>
              </a:rPr>
              <a:t>Record finding, outcome and proof</a:t>
            </a:r>
          </a:p>
        </p:txBody>
      </p:sp>
      <p:cxnSp>
        <p:nvCxnSpPr>
          <p:cNvPr id="90" name=""/>
          <p:cNvCxnSpPr>
            <a:stCxn xmlns:a="http://schemas.openxmlformats.org/drawingml/2006/main" id="23" idx="2"/>
            <a:endCxn xmlns:a="http://schemas.openxmlformats.org/drawingml/2006/main" id="39" idx="0"/>
          </p:cNvCxnSpPr>
          <p:nvPr/>
        </p:nvCxnSpPr>
        <p:spPr>
          <a:xfrm xmlns:a="http://schemas.openxmlformats.org/drawingml/2006/main" flipH="1">
            <a:off x="12649200" y="4495800"/>
            <a:ext cx="514350" cy="800100"/>
          </a:xfrm>
          <a:prstGeom xmlns:a="http://schemas.openxmlformats.org/drawingml/2006/main" prst="bentConnector4">
            <a:avLst>
              <a:gd name="adj1" fmla="val 0"/>
              <a:gd name="adj2" fmla="val 50000"/>
            </a:avLst>
          </a:prstGeom>
          <a:ln xmlns:a="http://schemas.openxmlformats.org/drawingml/2006/main" w="28575">
            <a:solidFill>
              <a:srgbClr val="8097B1"/>
            </a:solidFill>
            <a:tailEnd type="triangle" w="med" len="med"/>
          </a:ln>
        </p:spPr>
      </p:cxnSp>
      <p:cxnSp>
        <p:nvCxnSpPr>
          <p:cNvPr id="91" name=""/>
          <p:cNvCxnSpPr>
            <a:stCxn xmlns:a="http://schemas.openxmlformats.org/drawingml/2006/main" id="39" idx="1"/>
            <a:endCxn xmlns:a="http://schemas.openxmlformats.org/drawingml/2006/main" id="36" idx="3"/>
          </p:cNvCxnSpPr>
          <p:nvPr/>
        </p:nvCxnSpPr>
        <p:spPr>
          <a:xfrm xmlns:a="http://schemas.openxmlformats.org/drawingml/2006/main" flipH="1">
            <a:off x="9734550" y="6048375"/>
            <a:ext cx="857250" cy="0"/>
          </a:xfrm>
          <a:prstGeom xmlns:a="http://schemas.openxmlformats.org/drawingml/2006/main" prst="straightConnector1">
            <a:avLst/>
          </a:prstGeom>
          <a:ln xmlns:a="http://schemas.openxmlformats.org/drawingml/2006/main" w="28575">
            <a:solidFill>
              <a:srgbClr val="8097B1"/>
            </a:solidFill>
            <a:tailEnd type="triangle" w="med" len="med"/>
          </a:ln>
        </p:spPr>
      </p:cxnSp>
      <p:cxnSp>
        <p:nvCxnSpPr>
          <p:cNvPr id="92" name=""/>
          <p:cNvCxnSpPr>
            <a:stCxn xmlns:a="http://schemas.openxmlformats.org/drawingml/2006/main" id="36" idx="0"/>
            <a:endCxn xmlns:a="http://schemas.openxmlformats.org/drawingml/2006/main" id="19" idx="2"/>
          </p:cNvCxnSpPr>
          <p:nvPr/>
        </p:nvCxnSpPr>
        <p:spPr>
          <a:xfrm xmlns:a="http://schemas.openxmlformats.org/drawingml/2006/main" flipV="1">
            <a:off x="7781925" y="4495800"/>
            <a:ext cx="3057525" cy="800100"/>
          </a:xfrm>
          <a:prstGeom xmlns:a="http://schemas.openxmlformats.org/drawingml/2006/main" prst="bentConnector4">
            <a:avLst>
              <a:gd name="adj1" fmla="val 0"/>
              <a:gd name="adj2" fmla="val 50000"/>
            </a:avLst>
          </a:prstGeom>
          <a:ln xmlns:a="http://schemas.openxmlformats.org/drawingml/2006/main" w="28575">
            <a:solidFill>
              <a:srgbClr val="8097B1"/>
            </a:solidFill>
            <a:tailEnd type="triangle" w="med" len="med"/>
          </a:ln>
        </p:spPr>
      </p:cxnSp>
      <p:sp>
        <p:nvSpPr>
          <p:cNvPr id="45" name="history-input-label">
            <a:extLst xmlns:a="http://schemas.openxmlformats.org/drawingml/2006/main">
              <a:ext uri="{FF2B5EF4-FFF2-40B4-BE49-F238E27FC236}">
                <a16:creationId xmlns:a16="http://schemas.microsoft.com/office/drawing/2014/main" id="{4B1E2A8D-5307-473D-999A-5820A8B96DBF}"/>
              </a:ext>
            </a:extLst>
          </p:cNvPr>
          <p:cNvSpPr>
            <a:spLocks xmlns:a="http://schemas.openxmlformats.org/drawingml/2006/main" noGrp="1"/>
          </p:cNvSpPr>
          <p:nvPr/>
        </p:nvSpPr>
        <p:spPr>
          <a:xfrm xmlns:a="http://schemas.openxmlformats.org/drawingml/2006/main">
            <a:off x="7772400" y="4676775"/>
            <a:ext cx="3429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1">
                <a:solidFill>
                  <a:srgbClr val="0B7870"/>
                </a:solidFill>
                <a:latin typeface="Helvetica Neue"/>
                <a:ea typeface="Helvetica Neue"/>
                <a:cs typeface="Helvetica Neue"/>
              </a:defRPr>
            </a:pPr>
            <a:r>
              <a:rPr sz="1650" b="1">
                <a:solidFill>
                  <a:srgbClr val="0B7870"/>
                </a:solidFill>
                <a:latin typeface="Helvetica Neue"/>
                <a:ea typeface="Helvetica Neue"/>
                <a:cs typeface="Helvetica Neue"/>
              </a:rPr>
              <a:t>Reviewed history feeds Agent 3</a:t>
            </a:r>
          </a:p>
        </p:txBody>
      </p:sp>
      <p:sp>
        <p:nvSpPr>
          <p:cNvPr id="46" name="learning-loop-band">
            <a:extLst xmlns:a="http://schemas.openxmlformats.org/drawingml/2006/main">
              <a:ext uri="{FF2B5EF4-FFF2-40B4-BE49-F238E27FC236}">
                <a16:creationId xmlns:a16="http://schemas.microsoft.com/office/drawing/2014/main" id="{EF1BCDCF-53F1-414B-8C39-2CD726D83F73}"/>
              </a:ext>
            </a:extLst>
          </p:cNvPr>
          <p:cNvSpPr>
            <a:spLocks xmlns:a="http://schemas.openxmlformats.org/drawingml/2006/main" noGrp="1"/>
          </p:cNvSpPr>
          <p:nvPr/>
        </p:nvSpPr>
        <p:spPr>
          <a:xfrm xmlns:a="http://schemas.openxmlformats.org/drawingml/2006/main">
            <a:off x="533400" y="7277100"/>
            <a:ext cx="14173200" cy="876300"/>
          </a:xfrm>
          <a:prstGeom xmlns:a="http://schemas.openxmlformats.org/drawingml/2006/main" prst="roundRect">
            <a:avLst>
              <a:gd name="adj" fmla="val 13043"/>
            </a:avLst>
          </a:prstGeom>
          <a:solidFill xmlns:a="http://schemas.openxmlformats.org/drawingml/2006/main">
            <a:srgbClr val="E0F1ED"/>
          </a:solidFill>
          <a:ln xmlns:a="http://schemas.openxmlformats.org/drawingml/2006/main" w="0">
            <a:noFill/>
          </a:ln>
        </p:spPr>
      </p:sp>
      <p:sp>
        <p:nvSpPr>
          <p:cNvPr id="47" name="learning-loop-title">
            <a:extLst xmlns:a="http://schemas.openxmlformats.org/drawingml/2006/main">
              <a:ext uri="{FF2B5EF4-FFF2-40B4-BE49-F238E27FC236}">
                <a16:creationId xmlns:a16="http://schemas.microsoft.com/office/drawing/2014/main" id="{2AA839CE-8F82-4C4F-98B4-E9AC4D7ED931}"/>
              </a:ext>
            </a:extLst>
          </p:cNvPr>
          <p:cNvSpPr>
            <a:spLocks xmlns:a="http://schemas.openxmlformats.org/drawingml/2006/main" noGrp="1"/>
          </p:cNvSpPr>
          <p:nvPr/>
        </p:nvSpPr>
        <p:spPr>
          <a:xfrm xmlns:a="http://schemas.openxmlformats.org/drawingml/2006/main">
            <a:off x="762000" y="7524750"/>
            <a:ext cx="2238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0B7870"/>
                </a:solidFill>
                <a:latin typeface="Helvetica Neue"/>
                <a:ea typeface="Helvetica Neue"/>
                <a:cs typeface="Helvetica Neue"/>
              </a:defRPr>
            </a:pPr>
            <a:r>
              <a:rPr sz="2100" b="1">
                <a:solidFill>
                  <a:srgbClr val="0B7870"/>
                </a:solidFill>
                <a:latin typeface="Helvetica Neue"/>
                <a:ea typeface="Helvetica Neue"/>
                <a:cs typeface="Helvetica Neue"/>
              </a:rPr>
              <a:t>Learning loop</a:t>
            </a:r>
          </a:p>
        </p:txBody>
      </p:sp>
      <p:sp>
        <p:nvSpPr>
          <p:cNvPr id="48" name="learning-loop-text">
            <a:extLst xmlns:a="http://schemas.openxmlformats.org/drawingml/2006/main">
              <a:ext uri="{FF2B5EF4-FFF2-40B4-BE49-F238E27FC236}">
                <a16:creationId xmlns:a16="http://schemas.microsoft.com/office/drawing/2014/main" id="{924D74BA-24AA-4FE8-BF9B-365112DA3578}"/>
              </a:ext>
            </a:extLst>
          </p:cNvPr>
          <p:cNvSpPr>
            <a:spLocks xmlns:a="http://schemas.openxmlformats.org/drawingml/2006/main" noGrp="1"/>
          </p:cNvSpPr>
          <p:nvPr/>
        </p:nvSpPr>
        <p:spPr>
          <a:xfrm xmlns:a="http://schemas.openxmlformats.org/drawingml/2006/main">
            <a:off x="3219450" y="74866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Humans in the loop decide which findings become reusable history. The system does not retrain automatically.</a:t>
            </a:r>
          </a:p>
        </p:txBody>
      </p:sp>
    </p:spTree>
    <p:extLst>
      <p:ext uri="{BB962C8B-B14F-4D97-AF65-F5344CB8AC3E}">
        <p14:creationId xmlns:p14="http://schemas.microsoft.com/office/powerpoint/2010/main" val="427957276"/>
      </p:ext>
    </p:extLst>
  </p:cSld>
</p:sld>
</file>

<file path=ppt/slides/slide2.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CC18DCC-E60F-47F1-A41B-00B5720D38B3}"/>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Architecture explained</a:t>
            </a:r>
          </a:p>
        </p:txBody>
      </p:sp>
      <p:sp>
        <p:nvSpPr>
          <p:cNvPr id="2" name="subtitle">
            <a:extLst xmlns:a="http://schemas.openxmlformats.org/drawingml/2006/main">
              <a:ext uri="{FF2B5EF4-FFF2-40B4-BE49-F238E27FC236}">
                <a16:creationId xmlns:a16="http://schemas.microsoft.com/office/drawing/2014/main" id="{E7ADAD90-DB50-4C72-8CC0-2B0F5240C0EB}"/>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Each handoff keeps the case traceable and separates current AIF facts from historical findings.</a:t>
            </a:r>
          </a:p>
        </p:txBody>
      </p:sp>
      <p:graphicFrame>
        <p:nvGraphicFramePr>
          <p:cNvPr id="7" name=""/>
          <p:cNvGraphicFramePr/>
          <p:nvPr/>
        </p:nvGraphicFramePr>
        <p:xfrm>
          <a:off xmlns:a="http://schemas.openxmlformats.org/drawingml/2006/main" x="533400" y="1952625"/>
          <a:ext xmlns:a="http://schemas.openxmlformats.org/drawingml/2006/main" cx="14173200" cy="5486400"/>
        </p:xfrm>
        <a:graphic xmlns:a="http://schemas.openxmlformats.org/drawingml/2006/main">
          <a:graphicData uri="http://schemas.openxmlformats.org/drawingml/2006/table">
            <a:tbl>
              <a:tblPr firstRow="0" bandRow="0"/>
              <a:tblGrid>
                <a:gridCol w="2133600"/>
                <a:gridCol w="3790950"/>
                <a:gridCol w="3905250"/>
                <a:gridCol w="4343400"/>
              </a:tblGrid>
              <a:tr h="457200">
                <a:tc>
                  <a:txBody>
                    <a:bodyPr wrap="square">
                      <a:noAutofit/>
                    </a:bodyPr>
                    <a:lstStyle/>
                    <a:p>
                      <a:r>
                        <a:rPr sz="1650" b="1">
                          <a:solidFill>
                            <a:srgbClr val="FFFFFF"/>
                          </a:solidFill>
                          <a:latin typeface="Helvetica Neue"/>
                          <a:ea typeface="Helvetica Neue"/>
                          <a:cs typeface="Helvetica Neue"/>
                        </a:rPr>
                        <a:t>Stage</a:t>
                      </a:r>
                    </a:p>
                  </a:txBody>
                  <a:tcPr marL="133350" marR="133350"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650" b="1">
                          <a:solidFill>
                            <a:srgbClr val="FFFFFF"/>
                          </a:solidFill>
                          <a:latin typeface="Helvetica Neue"/>
                          <a:ea typeface="Helvetica Neue"/>
                          <a:cs typeface="Helvetica Neue"/>
                        </a:rPr>
                        <a:t>Input and scope</a:t>
                      </a:r>
                    </a:p>
                  </a:txBody>
                  <a:tcPr marL="133350" marR="133350"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650" b="1">
                          <a:solidFill>
                            <a:srgbClr val="FFFFFF"/>
                          </a:solidFill>
                          <a:latin typeface="Helvetica Neue"/>
                          <a:ea typeface="Helvetica Neue"/>
                          <a:cs typeface="Helvetica Neue"/>
                        </a:rPr>
                        <a:t>Output</a:t>
                      </a:r>
                    </a:p>
                  </a:txBody>
                  <a:tcPr marL="133350" marR="133350"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650" b="1">
                          <a:solidFill>
                            <a:srgbClr val="FFFFFF"/>
                          </a:solidFill>
                          <a:latin typeface="Helvetica Neue"/>
                          <a:ea typeface="Helvetica Neue"/>
                          <a:cs typeface="Helvetica Neue"/>
                        </a:rPr>
                        <a:t>Control or boundary</a:t>
                      </a:r>
                    </a:p>
                  </a:txBody>
                  <a:tcPr marL="133350" marR="133350"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r>
              <a:tr h="838200">
                <a:tc>
                  <a:txBody>
                    <a:bodyPr wrap="square">
                      <a:noAutofit/>
                    </a:bodyPr>
                    <a:lstStyle/>
                    <a:p>
                      <a:r>
                        <a:rPr sz="1500" b="1">
                          <a:solidFill>
                            <a:srgbClr val="FFFFFF"/>
                          </a:solidFill>
                          <a:latin typeface="Helvetica Neue"/>
                          <a:ea typeface="Helvetica Neue"/>
                          <a:cs typeface="Helvetica Neue"/>
                        </a:rPr>
                        <a:t>1. Intake</a:t>
                      </a:r>
                    </a:p>
                    <a:p>
                      <a:r>
                        <a:rPr sz="1500" b="1">
                          <a:solidFill>
                            <a:srgbClr val="FFFFFF"/>
                          </a:solidFill>
                          <a:latin typeface="Helvetica Neue"/>
                          <a:ea typeface="Helvetica Neue"/>
                          <a:cs typeface="Helvetica Neue"/>
                        </a:rPr>
                        <a:t>Code</a:t>
                      </a:r>
                    </a:p>
                  </a:txBody>
                  <a:tcPr marL="133350" marR="133350"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500" b="0">
                          <a:solidFill>
                            <a:srgbClr val="15304C"/>
                          </a:solidFill>
                          <a:latin typeface="Helvetica Neue"/>
                          <a:ea typeface="Helvetica Neue"/>
                          <a:cs typeface="Helvetica Neue"/>
                        </a:rPr>
                        <a:t>Uploaded AIF evidence package.</a:t>
                      </a:r>
                    </a:p>
                    <a:p>
                      <a:r>
                        <a:rPr sz="1500" b="0">
                          <a:solidFill>
                            <a:srgbClr val="15304C"/>
                          </a:solidFill>
                          <a:latin typeface="Helvetica Neue"/>
                          <a:ea typeface="Helvetica Neue"/>
                          <a:cs typeface="Helvetica Neue"/>
                        </a:rPr>
                        <a:t>No live SAP retrieval.</a:t>
                      </a:r>
                    </a:p>
                  </a:txBody>
                  <a:tcPr marL="133350" marR="133350"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500" b="0">
                          <a:solidFill>
                            <a:srgbClr val="15304C"/>
                          </a:solidFill>
                          <a:latin typeface="Helvetica Neue"/>
                          <a:ea typeface="Helvetica Neue"/>
                          <a:cs typeface="Helvetica Neue"/>
                        </a:rPr>
                        <a:t>Immutable originals, source version</a:t>
                      </a:r>
                    </a:p>
                    <a:p>
                      <a:r>
                        <a:rPr sz="1500" b="0">
                          <a:solidFill>
                            <a:srgbClr val="15304C"/>
                          </a:solidFill>
                          <a:latin typeface="Helvetica Neue"/>
                          <a:ea typeface="Helvetica Neue"/>
                          <a:cs typeface="Helvetica Neue"/>
                        </a:rPr>
                        <a:t>and analysis job.</a:t>
                      </a:r>
                    </a:p>
                  </a:txBody>
                  <a:tcPr marL="133350" marR="133350"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500" b="0">
                          <a:solidFill>
                            <a:srgbClr val="15304C"/>
                          </a:solidFill>
                          <a:latin typeface="Helvetica Neue"/>
                          <a:ea typeface="Helvetica Neue"/>
                          <a:cs typeface="Helvetica Neue"/>
                        </a:rPr>
                        <a:t>Originals remain available in the case.</a:t>
                      </a:r>
                    </a:p>
                    <a:p>
                      <a:r>
                        <a:rPr sz="1500" b="0">
                          <a:solidFill>
                            <a:srgbClr val="15304C"/>
                          </a:solidFill>
                          <a:latin typeface="Helvetica Neue"/>
                          <a:ea typeface="Helvetica Neue"/>
                          <a:cs typeface="Helvetica Neue"/>
                        </a:rPr>
                        <a:t>Missing content stays visible as a limitation.</a:t>
                      </a:r>
                    </a:p>
                  </a:txBody>
                  <a:tcPr marL="133350" marR="133350"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r>
              <a:tr h="838200">
                <a:tc>
                  <a:txBody>
                    <a:bodyPr wrap="square">
                      <a:noAutofit/>
                    </a:bodyPr>
                    <a:lstStyle/>
                    <a:p>
                      <a:r>
                        <a:rPr sz="1500" b="1">
                          <a:solidFill>
                            <a:srgbClr val="FFFFFF"/>
                          </a:solidFill>
                          <a:latin typeface="Helvetica Neue"/>
                          <a:ea typeface="Helvetica Neue"/>
                          <a:cs typeface="Helvetica Neue"/>
                        </a:rPr>
                        <a:t>2. Agent 1</a:t>
                      </a:r>
                    </a:p>
                    <a:p>
                      <a:r>
                        <a:rPr sz="1500" b="1">
                          <a:solidFill>
                            <a:srgbClr val="FFFFFF"/>
                          </a:solidFill>
                          <a:latin typeface="Helvetica Neue"/>
                          <a:ea typeface="Helvetica Neue"/>
                          <a:cs typeface="Helvetica Neue"/>
                        </a:rPr>
                        <a:t>Extraction</a:t>
                      </a:r>
                    </a:p>
                  </a:txBody>
                  <a:tcPr marL="133350" marR="133350"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500" b="0">
                          <a:solidFill>
                            <a:srgbClr val="15304C"/>
                          </a:solidFill>
                          <a:latin typeface="Helvetica Neue"/>
                          <a:ea typeface="Helvetica Neue"/>
                          <a:cs typeface="Helvetica Neue"/>
                        </a:rPr>
                        <a:t>Originals and source locations.</a:t>
                      </a:r>
                    </a:p>
                    <a:p>
                      <a:r>
                        <a:rPr sz="1500" b="0">
                          <a:solidFill>
                            <a:srgbClr val="15304C"/>
                          </a:solidFill>
                          <a:latin typeface="Helvetica Neue"/>
                          <a:ea typeface="Helvetica Neue"/>
                          <a:cs typeface="Helvetica Neue"/>
                        </a:rPr>
                        <a:t>GPT-6 Luna baseline.</a:t>
                      </a:r>
                    </a:p>
                  </a:txBody>
                  <a:tcPr marL="133350" marR="133350"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500" b="0">
                          <a:solidFill>
                            <a:srgbClr val="15304C"/>
                          </a:solidFill>
                          <a:latin typeface="Helvetica Neue"/>
                          <a:ea typeface="Helvetica Neue"/>
                          <a:cs typeface="Helvetica Neue"/>
                        </a:rPr>
                        <a:t>Complete structured extraction of</a:t>
                      </a:r>
                    </a:p>
                    <a:p>
                      <a:r>
                        <a:rPr sz="1500" b="0">
                          <a:solidFill>
                            <a:srgbClr val="15304C"/>
                          </a:solidFill>
                          <a:latin typeface="Helvetica Neue"/>
                          <a:ea typeface="Helvetica Neue"/>
                          <a:cs typeface="Helvetica Neue"/>
                        </a:rPr>
                        <a:t>entries, fields, values and limits.</a:t>
                      </a:r>
                    </a:p>
                  </a:txBody>
                  <a:tcPr marL="133350" marR="133350"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500" b="0">
                          <a:solidFill>
                            <a:srgbClr val="15304C"/>
                          </a:solidFill>
                          <a:latin typeface="Helvetica Neue"/>
                          <a:ea typeface="Helvetica Neue"/>
                          <a:cs typeface="Helvetica Neue"/>
                        </a:rPr>
                        <a:t>Keep unfamiliar or ambiguous content.</a:t>
                      </a:r>
                    </a:p>
                    <a:p>
                      <a:r>
                        <a:rPr sz="1500" b="0">
                          <a:solidFill>
                            <a:srgbClr val="15304C"/>
                          </a:solidFill>
                          <a:latin typeface="Helvetica Neue"/>
                          <a:ea typeface="Helvetica Neue"/>
                          <a:cs typeface="Helvetica Neue"/>
                        </a:rPr>
                        <a:t>Validate references before handoff.</a:t>
                      </a:r>
                    </a:p>
                  </a:txBody>
                  <a:tcPr marL="133350" marR="133350"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r>
              <a:tr h="838200">
                <a:tc>
                  <a:txBody>
                    <a:bodyPr wrap="square">
                      <a:noAutofit/>
                    </a:bodyPr>
                    <a:lstStyle/>
                    <a:p>
                      <a:r>
                        <a:rPr sz="1500" b="1">
                          <a:solidFill>
                            <a:srgbClr val="FFFFFF"/>
                          </a:solidFill>
                          <a:latin typeface="Helvetica Neue"/>
                          <a:ea typeface="Helvetica Neue"/>
                          <a:cs typeface="Helvetica Neue"/>
                        </a:rPr>
                        <a:t>3. Agent 2</a:t>
                      </a:r>
                    </a:p>
                    <a:p>
                      <a:r>
                        <a:rPr sz="1500" b="1">
                          <a:solidFill>
                            <a:srgbClr val="FFFFFF"/>
                          </a:solidFill>
                          <a:latin typeface="Helvetica Neue"/>
                          <a:ea typeface="Helvetica Neue"/>
                          <a:cs typeface="Helvetica Neue"/>
                        </a:rPr>
                        <a:t>Evidence selection</a:t>
                      </a:r>
                    </a:p>
                  </a:txBody>
                  <a:tcPr marL="133350" marR="133350"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500" b="0">
                          <a:solidFill>
                            <a:srgbClr val="15304C"/>
                          </a:solidFill>
                          <a:latin typeface="Helvetica Neue"/>
                          <a:ea typeface="Helvetica Neue"/>
                          <a:cs typeface="Helvetica Neue"/>
                        </a:rPr>
                        <a:t>Agent 1 extraction.</a:t>
                      </a:r>
                    </a:p>
                    <a:p>
                      <a:r>
                        <a:rPr sz="1500" b="0">
                          <a:solidFill>
                            <a:srgbClr val="15304C"/>
                          </a:solidFill>
                          <a:latin typeface="Helvetica Neue"/>
                          <a:ea typeface="Helvetica Neue"/>
                          <a:cs typeface="Helvetica Neue"/>
                        </a:rPr>
                        <a:t>GPT-6.1 Sol baseline.</a:t>
                      </a:r>
                    </a:p>
                  </a:txBody>
                  <a:tcPr marL="133350" marR="133350"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500" b="0">
                          <a:solidFill>
                            <a:srgbClr val="15304C"/>
                          </a:solidFill>
                          <a:latin typeface="Helvetica Neue"/>
                          <a:ea typeface="Helvetica Neue"/>
                          <a:cs typeface="Helvetica Neue"/>
                        </a:rPr>
                        <a:t>Reported errors, affected items,</a:t>
                      </a:r>
                    </a:p>
                    <a:p>
                      <a:r>
                        <a:rPr sz="1500" b="0">
                          <a:solidFill>
                            <a:srgbClr val="15304C"/>
                          </a:solidFill>
                          <a:latin typeface="Helvetica Neue"/>
                          <a:ea typeface="Helvetica Neue"/>
                          <a:cs typeface="Helvetica Neue"/>
                        </a:rPr>
                        <a:t>outcomes, contradictions and gaps.</a:t>
                      </a:r>
                    </a:p>
                  </a:txBody>
                  <a:tcPr marL="133350" marR="133350"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500" b="0">
                          <a:solidFill>
                            <a:srgbClr val="15304C"/>
                          </a:solidFill>
                          <a:latin typeface="Helvetica Neue"/>
                          <a:ea typeface="Helvetica Neue"/>
                          <a:cs typeface="Helvetica Neue"/>
                        </a:rPr>
                        <a:t>Select relevance without deleting the</a:t>
                      </a:r>
                    </a:p>
                    <a:p>
                      <a:r>
                        <a:rPr sz="1500" b="0">
                          <a:solidFill>
                            <a:srgbClr val="15304C"/>
                          </a:solidFill>
                          <a:latin typeface="Helvetica Neue"/>
                          <a:ea typeface="Helvetica Neue"/>
                          <a:cs typeface="Helvetica Neue"/>
                        </a:rPr>
                        <a:t>full extraction or investigating SAP.</a:t>
                      </a:r>
                    </a:p>
                  </a:txBody>
                  <a:tcPr marL="133350" marR="133350"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r>
              <a:tr h="838200">
                <a:tc>
                  <a:txBody>
                    <a:bodyPr wrap="square">
                      <a:noAutofit/>
                    </a:bodyPr>
                    <a:lstStyle/>
                    <a:p>
                      <a:r>
                        <a:rPr sz="1500" b="1">
                          <a:solidFill>
                            <a:srgbClr val="FFFFFF"/>
                          </a:solidFill>
                          <a:latin typeface="Helvetica Neue"/>
                          <a:ea typeface="Helvetica Neue"/>
                          <a:cs typeface="Helvetica Neue"/>
                        </a:rPr>
                        <a:t>4. Agent 3</a:t>
                      </a:r>
                    </a:p>
                    <a:p>
                      <a:r>
                        <a:rPr sz="1500" b="1">
                          <a:solidFill>
                            <a:srgbClr val="FFFFFF"/>
                          </a:solidFill>
                          <a:latin typeface="Helvetica Neue"/>
                          <a:ea typeface="Helvetica Neue"/>
                          <a:cs typeface="Helvetica Neue"/>
                        </a:rPr>
                        <a:t>Case summary</a:t>
                      </a:r>
                    </a:p>
                  </a:txBody>
                  <a:tcPr marL="133350" marR="133350"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500" b="0">
                          <a:solidFill>
                            <a:srgbClr val="15304C"/>
                          </a:solidFill>
                          <a:latin typeface="Helvetica Neue"/>
                          <a:ea typeface="Helvetica Neue"/>
                          <a:cs typeface="Helvetica Neue"/>
                        </a:rPr>
                        <a:t>Selected evidence plus eligible</a:t>
                      </a:r>
                    </a:p>
                    <a:p>
                      <a:r>
                        <a:rPr sz="1500" b="0">
                          <a:solidFill>
                            <a:srgbClr val="15304C"/>
                          </a:solidFill>
                          <a:latin typeface="Helvetica Neue"/>
                          <a:ea typeface="Helvetica Neue"/>
                          <a:cs typeface="Helvetica Neue"/>
                        </a:rPr>
                        <a:t>reviewed history only. GPT-6.1 Sol.</a:t>
                      </a:r>
                    </a:p>
                  </a:txBody>
                  <a:tcPr marL="133350" marR="133350"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500" b="0">
                          <a:solidFill>
                            <a:srgbClr val="15304C"/>
                          </a:solidFill>
                          <a:latin typeface="Helvetica Neue"/>
                          <a:ea typeface="Helvetica Neue"/>
                          <a:cs typeface="Helvetica Neue"/>
                        </a:rPr>
                        <a:t>Factual brief, uncertainties and</a:t>
                      </a:r>
                    </a:p>
                    <a:p>
                      <a:r>
                        <a:rPr sz="1500" b="0">
                          <a:solidFill>
                            <a:srgbClr val="15304C"/>
                          </a:solidFill>
                          <a:latin typeface="Helvetica Neue"/>
                          <a:ea typeface="Helvetica Neue"/>
                          <a:cs typeface="Helvetica Neue"/>
                        </a:rPr>
                        <a:t>separate related-case references.</a:t>
                      </a:r>
                    </a:p>
                  </a:txBody>
                  <a:tcPr marL="133350" marR="133350"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500" b="0">
                          <a:solidFill>
                            <a:srgbClr val="15304C"/>
                          </a:solidFill>
                          <a:latin typeface="Helvetica Neue"/>
                          <a:ea typeface="Helvetica Neue"/>
                          <a:cs typeface="Helvetica Neue"/>
                        </a:rPr>
                        <a:t>History must be cited and kept separate</a:t>
                      </a:r>
                    </a:p>
                    <a:p>
                      <a:r>
                        <a:rPr sz="1500" b="0">
                          <a:solidFill>
                            <a:srgbClr val="15304C"/>
                          </a:solidFill>
                          <a:latin typeface="Helvetica Neue"/>
                          <a:ea typeface="Helvetica Neue"/>
                          <a:cs typeface="Helvetica Neue"/>
                        </a:rPr>
                        <a:t>from current-case facts.</a:t>
                      </a:r>
                    </a:p>
                  </a:txBody>
                  <a:tcPr marL="133350" marR="133350"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r>
              <a:tr h="838200">
                <a:tc>
                  <a:txBody>
                    <a:bodyPr wrap="square">
                      <a:noAutofit/>
                    </a:bodyPr>
                    <a:lstStyle/>
                    <a:p>
                      <a:r>
                        <a:rPr sz="1500" b="1">
                          <a:solidFill>
                            <a:srgbClr val="FFFFFF"/>
                          </a:solidFill>
                          <a:latin typeface="Helvetica Neue"/>
                          <a:ea typeface="Helvetica Neue"/>
                          <a:cs typeface="Helvetica Neue"/>
                        </a:rPr>
                        <a:t>5. Case and API</a:t>
                      </a:r>
                    </a:p>
                    <a:p>
                      <a:r>
                        <a:rPr sz="1500" b="1">
                          <a:solidFill>
                            <a:srgbClr val="FFFFFF"/>
                          </a:solidFill>
                          <a:latin typeface="Helvetica Neue"/>
                          <a:ea typeface="Helvetica Neue"/>
                          <a:cs typeface="Helvetica Neue"/>
                        </a:rPr>
                        <a:t>Code</a:t>
                      </a:r>
                    </a:p>
                  </a:txBody>
                  <a:tcPr marL="133350" marR="133350"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500" b="0">
                          <a:solidFill>
                            <a:srgbClr val="15304C"/>
                          </a:solidFill>
                          <a:latin typeface="Helvetica Neue"/>
                          <a:ea typeface="Helvetica Neue"/>
                          <a:cs typeface="Helvetica Neue"/>
                        </a:rPr>
                        <a:t>Saved case, original evidence and</a:t>
                      </a:r>
                    </a:p>
                    <a:p>
                      <a:r>
                        <a:rPr sz="1500" b="0">
                          <a:solidFill>
                            <a:srgbClr val="15304C"/>
                          </a:solidFill>
                          <a:latin typeface="Helvetica Neue"/>
                          <a:ea typeface="Helvetica Neue"/>
                          <a:cs typeface="Helvetica Neue"/>
                        </a:rPr>
                        <a:t>source references.</a:t>
                      </a:r>
                    </a:p>
                  </a:txBody>
                  <a:tcPr marL="133350" marR="133350"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500" b="0">
                          <a:solidFill>
                            <a:srgbClr val="15304C"/>
                          </a:solidFill>
                          <a:latin typeface="Helvetica Neue"/>
                          <a:ea typeface="Helvetica Neue"/>
                          <a:cs typeface="Helvetica Neue"/>
                        </a:rPr>
                        <a:t>Portal case plus versioned,</a:t>
                      </a:r>
                    </a:p>
                    <a:p>
                      <a:r>
                        <a:rPr sz="1500" b="0">
                          <a:solidFill>
                            <a:srgbClr val="15304C"/>
                          </a:solidFill>
                          <a:latin typeface="Helvetica Neue"/>
                          <a:ea typeface="Helvetica Neue"/>
                          <a:cs typeface="Helvetica Neue"/>
                        </a:rPr>
                        <a:t>authenticated, read-only JSON.</a:t>
                      </a:r>
                    </a:p>
                  </a:txBody>
                  <a:tcPr marL="133350" marR="133350"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500" b="0">
                          <a:solidFill>
                            <a:srgbClr val="15304C"/>
                          </a:solidFill>
                          <a:latin typeface="Helvetica Neue"/>
                          <a:ea typeface="Helvetica Neue"/>
                          <a:cs typeface="Helvetica Neue"/>
                        </a:rPr>
                        <a:t>Reads use access controls. GET does not</a:t>
                      </a:r>
                    </a:p>
                    <a:p>
                      <a:r>
                        <a:rPr sz="1500" b="0">
                          <a:solidFill>
                            <a:srgbClr val="15304C"/>
                          </a:solidFill>
                          <a:latin typeface="Helvetica Neue"/>
                          <a:ea typeface="Helvetica Neue"/>
                          <a:cs typeface="Helvetica Neue"/>
                        </a:rPr>
                        <a:t>run models or change case state.</a:t>
                      </a:r>
                    </a:p>
                  </a:txBody>
                  <a:tcPr marL="133350" marR="133350"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r>
              <a:tr h="838200">
                <a:tc>
                  <a:txBody>
                    <a:bodyPr wrap="square">
                      <a:noAutofit/>
                    </a:bodyPr>
                    <a:lstStyle/>
                    <a:p>
                      <a:r>
                        <a:rPr sz="1500" b="1">
                          <a:solidFill>
                            <a:srgbClr val="FFFFFF"/>
                          </a:solidFill>
                          <a:latin typeface="Helvetica Neue"/>
                          <a:ea typeface="Helvetica Neue"/>
                          <a:cs typeface="Helvetica Neue"/>
                        </a:rPr>
                        <a:t>6. Human led Review</a:t>
                      </a:r>
                    </a:p>
                    <a:p>
                      <a:r>
                        <a:rPr sz="1500" b="1">
                          <a:solidFill>
                            <a:srgbClr val="FFFFFF"/>
                          </a:solidFill>
                          <a:latin typeface="Helvetica Neue"/>
                          <a:ea typeface="Helvetica Neue"/>
                          <a:cs typeface="Helvetica Neue"/>
                        </a:rPr>
                        <a:t>and learning</a:t>
                      </a:r>
                    </a:p>
                  </a:txBody>
                  <a:tcPr marL="133350" marR="133350"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500" b="0">
                          <a:solidFill>
                            <a:srgbClr val="15304C"/>
                          </a:solidFill>
                          <a:latin typeface="Helvetica Neue"/>
                          <a:ea typeface="Helvetica Neue"/>
                          <a:cs typeface="Helvetica Neue"/>
                        </a:rPr>
                        <a:t>Case brief and embedded original</a:t>
                      </a:r>
                    </a:p>
                    <a:p>
                      <a:r>
                        <a:rPr sz="1500" b="0">
                          <a:solidFill>
                            <a:srgbClr val="15304C"/>
                          </a:solidFill>
                          <a:latin typeface="Helvetica Neue"/>
                          <a:ea typeface="Helvetica Neue"/>
                          <a:cs typeface="Helvetica Neue"/>
                        </a:rPr>
                        <a:t>evidence.</a:t>
                      </a:r>
                    </a:p>
                  </a:txBody>
                  <a:tcPr marL="133350" marR="133350"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500" b="0">
                          <a:solidFill>
                            <a:srgbClr val="15304C"/>
                          </a:solidFill>
                          <a:latin typeface="Helvetica Neue"/>
                          <a:ea typeface="Helvetica Neue"/>
                          <a:cs typeface="Helvetica Neue"/>
                        </a:rPr>
                        <a:t>Corrected brief, investigation finding,</a:t>
                      </a:r>
                    </a:p>
                    <a:p>
                      <a:r>
                        <a:rPr sz="1500" b="0">
                          <a:solidFill>
                            <a:srgbClr val="15304C"/>
                          </a:solidFill>
                          <a:latin typeface="Helvetica Neue"/>
                          <a:ea typeface="Helvetica Neue"/>
                          <a:cs typeface="Helvetica Neue"/>
                        </a:rPr>
                        <a:t>outcome and proof.</a:t>
                      </a:r>
                    </a:p>
                  </a:txBody>
                  <a:tcPr marL="133350" marR="133350"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500" b="0">
                          <a:solidFill>
                            <a:srgbClr val="15304C"/>
                          </a:solidFill>
                          <a:latin typeface="Helvetica Neue"/>
                          <a:ea typeface="Helvetica Neue"/>
                          <a:cs typeface="Helvetica Neue"/>
                        </a:rPr>
                        <a:t>Humans in the loop approve reusable</a:t>
                      </a:r>
                    </a:p>
                    <a:p>
                      <a:r>
                        <a:rPr sz="1500" b="0">
                          <a:solidFill>
                            <a:srgbClr val="15304C"/>
                          </a:solidFill>
                          <a:latin typeface="Helvetica Neue"/>
                          <a:ea typeface="Helvetica Neue"/>
                          <a:cs typeface="Helvetica Neue"/>
                        </a:rPr>
                        <a:t>history. No automatic model retraining.</a:t>
                      </a:r>
                    </a:p>
                  </a:txBody>
                  <a:tcPr marL="133350" marR="133350" marT="28575" marB="2857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r>
            </a:tbl>
          </a:graphicData>
        </a:graphic>
      </p:graphicFrame>
      <p:sp>
        <p:nvSpPr>
          <p:cNvPr id="4" name="architecture-note">
            <a:extLst xmlns:a="http://schemas.openxmlformats.org/drawingml/2006/main">
              <a:ext uri="{FF2B5EF4-FFF2-40B4-BE49-F238E27FC236}">
                <a16:creationId xmlns:a16="http://schemas.microsoft.com/office/drawing/2014/main" id="{18A17B23-E2D6-4455-8227-F48E3D578B57}"/>
              </a:ext>
            </a:extLst>
          </p:cNvPr>
          <p:cNvSpPr>
            <a:spLocks xmlns:a="http://schemas.openxmlformats.org/drawingml/2006/main" noGrp="1"/>
          </p:cNvSpPr>
          <p:nvPr/>
        </p:nvSpPr>
        <p:spPr>
          <a:xfrm xmlns:a="http://schemas.openxmlformats.org/drawingml/2006/main">
            <a:off x="533400" y="7753350"/>
            <a:ext cx="14173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00" b="0">
                <a:solidFill>
                  <a:srgbClr val="52677F"/>
                </a:solidFill>
                <a:latin typeface="Helvetica Neue"/>
                <a:ea typeface="Helvetica Neue"/>
                <a:cs typeface="Helvetica Neue"/>
              </a:defRPr>
            </a:pPr>
            <a:r>
              <a:rPr sz="1500" b="0">
                <a:solidFill>
                  <a:srgbClr val="52677F"/>
                </a:solidFill>
                <a:latin typeface="Helvetica Neue"/>
                <a:ea typeface="Helvetica Neue"/>
                <a:cs typeface="Helvetica Neue"/>
              </a:rPr>
              <a:t>Current build: factual intake, three-stage execution, case rendering, reviewed history and the versioned read API are implemented. Real samples, provider checks and human semantic acceptance remain release evidence.</a:t>
            </a:r>
          </a:p>
        </p:txBody>
      </p:sp>
    </p:spTree>
    <p:extLst>
      <p:ext uri="{BB962C8B-B14F-4D97-AF65-F5344CB8AC3E}">
        <p14:creationId xmlns:p14="http://schemas.microsoft.com/office/powerpoint/2010/main" val="1818230112"/>
      </p:ext>
    </p:extLst>
  </p:cSld>
</p:sld>
</file>

<file path=ppt/slides/slide3.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1F9A2B94-05A3-4C89-8A16-2D56BA625E8E}"/>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CFIN exception case from AIF evidence</a:t>
            </a:r>
          </a:p>
        </p:txBody>
      </p:sp>
      <p:sp>
        <p:nvSpPr>
          <p:cNvPr id="2" name="subtitle">
            <a:extLst xmlns:a="http://schemas.openxmlformats.org/drawingml/2006/main">
              <a:ext uri="{FF2B5EF4-FFF2-40B4-BE49-F238E27FC236}">
                <a16:creationId xmlns:a16="http://schemas.microsoft.com/office/drawing/2014/main" id="{74835348-0473-4A9F-975B-43A344E55D76}"/>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The product removes routine log reconstruction while preserving the evidence an analyst needs to validate the case.</a:t>
            </a:r>
          </a:p>
        </p:txBody>
      </p:sp>
      <p:graphicFrame>
        <p:nvGraphicFramePr>
          <p:cNvPr id="11" name=""/>
          <p:cNvGraphicFramePr/>
          <p:nvPr/>
        </p:nvGraphicFramePr>
        <p:xfrm>
          <a:off xmlns:a="http://schemas.openxmlformats.org/drawingml/2006/main" x="533400" y="2009775"/>
          <a:ext xmlns:a="http://schemas.openxmlformats.org/drawingml/2006/main" cx="14173200" cy="4562475"/>
        </p:xfrm>
        <a:graphic xmlns:a="http://schemas.openxmlformats.org/drawingml/2006/main">
          <a:graphicData uri="http://schemas.openxmlformats.org/drawingml/2006/table">
            <a:tbl>
              <a:tblPr firstRow="0" bandRow="0"/>
              <a:tblGrid>
                <a:gridCol w="3543300"/>
                <a:gridCol w="10629900"/>
              </a:tblGrid>
              <a:tr h="914400">
                <a:tc>
                  <a:txBody>
                    <a:bodyPr wrap="square">
                      <a:noAutofit/>
                    </a:bodyPr>
                    <a:lstStyle/>
                    <a:p>
                      <a:r>
                        <a:rPr sz="1950" b="1">
                          <a:solidFill>
                            <a:srgbClr val="FFFFFF"/>
                          </a:solidFill>
                          <a:latin typeface="Helvetica Neue"/>
                          <a:ea typeface="Helvetica Neue"/>
                          <a:cs typeface="Helvetica Neue"/>
                        </a:rPr>
                        <a:t>Uploaded AIF evidence</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15304C"/>
                    </a:solidFill>
                  </a:tcPr>
                </a:tc>
                <a:tc>
                  <a:txBody>
                    <a:bodyPr wrap="square">
                      <a:noAutofit/>
                    </a:bodyPr>
                    <a:lstStyle/>
                    <a:p>
                      <a:r>
                        <a:rPr sz="1950" b="0">
                          <a:solidFill>
                            <a:srgbClr val="15304C"/>
                          </a:solidFill>
                          <a:latin typeface="Helvetica Neue"/>
                          <a:ea typeface="Helvetica Neue"/>
                          <a:cs typeface="Helvetica Neue"/>
                        </a:rPr>
                        <a:t>Data Messages, Log Messages, Data Structure, Data Content and any supplied message details. The app keeps the supplied original as the record of evidence.</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EAF0F8"/>
                    </a:solidFill>
                  </a:tcPr>
                </a:tc>
              </a:tr>
              <a:tr h="914400">
                <a:tc>
                  <a:txBody>
                    <a:bodyPr wrap="square">
                      <a:noAutofit/>
                    </a:bodyPr>
                    <a:lstStyle/>
                    <a:p>
                      <a:r>
                        <a:rPr sz="1950" b="1">
                          <a:solidFill>
                            <a:srgbClr val="FFFFFF"/>
                          </a:solidFill>
                          <a:latin typeface="Helvetica Neue"/>
                          <a:ea typeface="Helvetica Neue"/>
                          <a:cs typeface="Helvetica Neue"/>
                        </a:rPr>
                        <a:t>Factual case brief</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15304C"/>
                    </a:solidFill>
                  </a:tcPr>
                </a:tc>
                <a:tc>
                  <a:txBody>
                    <a:bodyPr wrap="square">
                      <a:noAutofit/>
                    </a:bodyPr>
                    <a:lstStyle/>
                    <a:p>
                      <a:r>
                        <a:rPr sz="1950" b="0">
                          <a:solidFill>
                            <a:srgbClr val="15304C"/>
                          </a:solidFill>
                          <a:latin typeface="Helvetica Neue"/>
                          <a:ea typeface="Helvetica Neue"/>
                          <a:cs typeface="Helvetica Neue"/>
                        </a:rPr>
                        <a:t>Reported error, document and source or target context, affected items, reported outcome, explicit gaps and links back to the source.</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FFFFFF"/>
                    </a:solidFill>
                  </a:tcPr>
                </a:tc>
              </a:tr>
              <a:tr h="914400">
                <a:tc>
                  <a:txBody>
                    <a:bodyPr wrap="square">
                      <a:noAutofit/>
                    </a:bodyPr>
                    <a:lstStyle/>
                    <a:p>
                      <a:r>
                        <a:rPr sz="1950" b="1">
                          <a:solidFill>
                            <a:srgbClr val="FFFFFF"/>
                          </a:solidFill>
                          <a:latin typeface="Helvetica Neue"/>
                          <a:ea typeface="Helvetica Neue"/>
                          <a:cs typeface="Helvetica Neue"/>
                        </a:rPr>
                        <a:t>Human led Review</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15304C"/>
                    </a:solidFill>
                  </a:tcPr>
                </a:tc>
                <a:tc>
                  <a:txBody>
                    <a:bodyPr wrap="square">
                      <a:noAutofit/>
                    </a:bodyPr>
                    <a:lstStyle/>
                    <a:p>
                      <a:r>
                        <a:rPr sz="1950" b="0">
                          <a:solidFill>
                            <a:srgbClr val="15304C"/>
                          </a:solidFill>
                          <a:latin typeface="Helvetica Neue"/>
                          <a:ea typeface="Helvetica Neue"/>
                          <a:cs typeface="Helvetica Neue"/>
                        </a:rPr>
                        <a:t>Checks or corrects the brief, investigates in SAP, then records the finding, action, outcome and proof.</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EAF0F8"/>
                    </a:solidFill>
                  </a:tcPr>
                </a:tc>
              </a:tr>
              <a:tr h="914400">
                <a:tc>
                  <a:txBody>
                    <a:bodyPr wrap="square">
                      <a:noAutofit/>
                    </a:bodyPr>
                    <a:lstStyle/>
                    <a:p>
                      <a:r>
                        <a:rPr sz="1950" b="1">
                          <a:solidFill>
                            <a:srgbClr val="FFFFFF"/>
                          </a:solidFill>
                          <a:latin typeface="Helvetica Neue"/>
                          <a:ea typeface="Helvetica Neue"/>
                          <a:cs typeface="Helvetica Neue"/>
                        </a:rPr>
                        <a:t>Reusable case data</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15304C"/>
                    </a:solidFill>
                  </a:tcPr>
                </a:tc>
                <a:tc>
                  <a:txBody>
                    <a:bodyPr wrap="square">
                      <a:noAutofit/>
                    </a:bodyPr>
                    <a:lstStyle/>
                    <a:p>
                      <a:r>
                        <a:rPr sz="1950" b="0">
                          <a:solidFill>
                            <a:srgbClr val="15304C"/>
                          </a:solidFill>
                          <a:latin typeface="Helvetica Neue"/>
                          <a:ea typeface="Helvetica Neue"/>
                          <a:cs typeface="Helvetica Neue"/>
                        </a:rPr>
                        <a:t>The saved case appears in the portal and through a versioned, authenticated, read-only JSON API for authorised consumers.</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FFFFFF"/>
                    </a:solidFill>
                  </a:tcPr>
                </a:tc>
              </a:tr>
              <a:tr h="904875">
                <a:tc>
                  <a:txBody>
                    <a:bodyPr wrap="square">
                      <a:noAutofit/>
                    </a:bodyPr>
                    <a:lstStyle/>
                    <a:p>
                      <a:r>
                        <a:rPr sz="1950" b="1">
                          <a:solidFill>
                            <a:srgbClr val="FFFFFF"/>
                          </a:solidFill>
                          <a:latin typeface="Helvetica Neue"/>
                          <a:ea typeface="Helvetica Neue"/>
                          <a:cs typeface="Helvetica Neue"/>
                        </a:rPr>
                        <a:t>Product boundary</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15304C"/>
                    </a:solidFill>
                  </a:tcPr>
                </a:tc>
                <a:tc>
                  <a:txBody>
                    <a:bodyPr wrap="square">
                      <a:noAutofit/>
                    </a:bodyPr>
                    <a:lstStyle/>
                    <a:p>
                      <a:r>
                        <a:rPr sz="1950" b="0">
                          <a:solidFill>
                            <a:srgbClr val="15304C"/>
                          </a:solidFill>
                          <a:latin typeface="Helvetica Neue"/>
                          <a:ea typeface="Helvetica Neue"/>
                          <a:cs typeface="Helvetica Neue"/>
                        </a:rPr>
                        <a:t>The app does not retrieve live SAP data, diagnose a root cause, recommend a fix or run SAP transactions.</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EAF0F8"/>
                    </a:solidFill>
                  </a:tcPr>
                </a:tc>
              </a:tr>
            </a:tbl>
          </a:graphicData>
        </a:graphic>
      </p:graphicFrame>
      <p:sp>
        <p:nvSpPr>
          <p:cNvPr id="4" name="key-things">
            <a:extLst xmlns:a="http://schemas.openxmlformats.org/drawingml/2006/main">
              <a:ext uri="{FF2B5EF4-FFF2-40B4-BE49-F238E27FC236}">
                <a16:creationId xmlns:a16="http://schemas.microsoft.com/office/drawing/2014/main" id="{19DB0F14-1C19-4185-B5B0-429B58E40BC6}"/>
              </a:ext>
            </a:extLst>
          </p:cNvPr>
          <p:cNvSpPr>
            <a:spLocks xmlns:a="http://schemas.openxmlformats.org/drawingml/2006/main" noGrp="1"/>
          </p:cNvSpPr>
          <p:nvPr/>
        </p:nvSpPr>
        <p:spPr>
          <a:xfrm xmlns:a="http://schemas.openxmlformats.org/drawingml/2006/main">
            <a:off x="533400" y="6934200"/>
            <a:ext cx="14173200" cy="1219200"/>
          </a:xfrm>
          <a:prstGeom xmlns:a="http://schemas.openxmlformats.org/drawingml/2006/main" prst="roundRect">
            <a:avLst>
              <a:gd name="adj" fmla="val 9375"/>
            </a:avLst>
          </a:prstGeom>
          <a:solidFill xmlns:a="http://schemas.openxmlformats.org/drawingml/2006/main">
            <a:srgbClr val="E0F1ED"/>
          </a:solidFill>
          <a:ln xmlns:a="http://schemas.openxmlformats.org/drawingml/2006/main" w="0">
            <a:noFill/>
          </a:ln>
        </p:spPr>
      </p:sp>
      <p:sp>
        <p:nvSpPr>
          <p:cNvPr id="5" name="key-things-heading">
            <a:extLst xmlns:a="http://schemas.openxmlformats.org/drawingml/2006/main">
              <a:ext uri="{FF2B5EF4-FFF2-40B4-BE49-F238E27FC236}">
                <a16:creationId xmlns:a16="http://schemas.microsoft.com/office/drawing/2014/main" id="{99B6F30D-EA4F-4588-966D-7B1F750FE98F}"/>
              </a:ext>
            </a:extLst>
          </p:cNvPr>
          <p:cNvSpPr>
            <a:spLocks xmlns:a="http://schemas.openxmlformats.org/drawingml/2006/main" noGrp="1"/>
          </p:cNvSpPr>
          <p:nvPr/>
        </p:nvSpPr>
        <p:spPr>
          <a:xfrm xmlns:a="http://schemas.openxmlformats.org/drawingml/2006/main">
            <a:off x="800100" y="7124700"/>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0B7870"/>
                </a:solidFill>
                <a:latin typeface="Helvetica Neue"/>
                <a:ea typeface="Helvetica Neue"/>
                <a:cs typeface="Helvetica Neue"/>
              </a:defRPr>
            </a:pPr>
            <a:r>
              <a:rPr sz="2100" b="1">
                <a:solidFill>
                  <a:srgbClr val="0B7870"/>
                </a:solidFill>
                <a:latin typeface="Helvetica Neue"/>
                <a:ea typeface="Helvetica Neue"/>
                <a:cs typeface="Helvetica Neue"/>
              </a:rPr>
              <a:t>Key things to note</a:t>
            </a:r>
          </a:p>
        </p:txBody>
      </p:sp>
      <p:sp>
        <p:nvSpPr>
          <p:cNvPr id="6" name="synthetic-note">
            <a:extLst xmlns:a="http://schemas.openxmlformats.org/drawingml/2006/main">
              <a:ext uri="{FF2B5EF4-FFF2-40B4-BE49-F238E27FC236}">
                <a16:creationId xmlns:a16="http://schemas.microsoft.com/office/drawing/2014/main" id="{22B540E4-104A-4BB8-B7C1-738AC52FB1DB}"/>
              </a:ext>
            </a:extLst>
          </p:cNvPr>
          <p:cNvSpPr>
            <a:spLocks xmlns:a="http://schemas.openxmlformats.org/drawingml/2006/main" noGrp="1"/>
          </p:cNvSpPr>
          <p:nvPr/>
        </p:nvSpPr>
        <p:spPr>
          <a:xfrm xmlns:a="http://schemas.openxmlformats.org/drawingml/2006/main">
            <a:off x="4152900" y="7124700"/>
            <a:ext cx="4610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950" b="1">
                <a:solidFill>
                  <a:srgbClr val="15304C"/>
                </a:solidFill>
                <a:latin typeface="Helvetica Neue"/>
                <a:ea typeface="Helvetica Neue"/>
                <a:cs typeface="Helvetica Neue"/>
              </a:defRPr>
            </a:pPr>
            <a:r>
              <a:rPr sz="1950" b="1">
                <a:solidFill>
                  <a:srgbClr val="15304C"/>
                </a:solidFill>
                <a:latin typeface="Helvetica Neue"/>
                <a:ea typeface="Helvetica Neue"/>
                <a:cs typeface="Helvetica Neue"/>
              </a:rPr>
              <a:t>Built on synthetic AIF data</a:t>
            </a:r>
          </a:p>
        </p:txBody>
      </p:sp>
      <p:sp>
        <p:nvSpPr>
          <p:cNvPr id="7" name="no-sap-note">
            <a:extLst xmlns:a="http://schemas.openxmlformats.org/drawingml/2006/main">
              <a:ext uri="{FF2B5EF4-FFF2-40B4-BE49-F238E27FC236}">
                <a16:creationId xmlns:a16="http://schemas.microsoft.com/office/drawing/2014/main" id="{57B522CD-B30E-4573-A010-101D4EDCC00D}"/>
              </a:ext>
            </a:extLst>
          </p:cNvPr>
          <p:cNvSpPr>
            <a:spLocks xmlns:a="http://schemas.openxmlformats.org/drawingml/2006/main" noGrp="1"/>
          </p:cNvSpPr>
          <p:nvPr/>
        </p:nvSpPr>
        <p:spPr>
          <a:xfrm xmlns:a="http://schemas.openxmlformats.org/drawingml/2006/main">
            <a:off x="9696450" y="7124700"/>
            <a:ext cx="421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950" b="1">
                <a:solidFill>
                  <a:srgbClr val="15304C"/>
                </a:solidFill>
                <a:latin typeface="Helvetica Neue"/>
                <a:ea typeface="Helvetica Neue"/>
                <a:cs typeface="Helvetica Neue"/>
              </a:defRPr>
            </a:pPr>
            <a:r>
              <a:rPr sz="1950" b="1">
                <a:solidFill>
                  <a:srgbClr val="15304C"/>
                </a:solidFill>
                <a:latin typeface="Helvetica Neue"/>
                <a:ea typeface="Helvetica Neue"/>
                <a:cs typeface="Helvetica Neue"/>
              </a:rPr>
              <a:t>No SAP integration today</a:t>
            </a:r>
          </a:p>
        </p:txBody>
      </p:sp>
      <p:sp>
        <p:nvSpPr>
          <p:cNvPr id="8" name="key-things-detail">
            <a:extLst xmlns:a="http://schemas.openxmlformats.org/drawingml/2006/main">
              <a:ext uri="{FF2B5EF4-FFF2-40B4-BE49-F238E27FC236}">
                <a16:creationId xmlns:a16="http://schemas.microsoft.com/office/drawing/2014/main" id="{8891E425-7E9B-4882-B07E-D88AC2FFD7E3}"/>
              </a:ext>
            </a:extLst>
          </p:cNvPr>
          <p:cNvSpPr>
            <a:spLocks xmlns:a="http://schemas.openxmlformats.org/drawingml/2006/main" noGrp="1"/>
          </p:cNvSpPr>
          <p:nvPr/>
        </p:nvSpPr>
        <p:spPr>
          <a:xfrm xmlns:a="http://schemas.openxmlformats.org/drawingml/2006/main">
            <a:off x="800100" y="7639050"/>
            <a:ext cx="13068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Real AIF samples and human semantic acceptance remain the evidence needed before claims about production quality or time saved.</a:t>
            </a:r>
          </a:p>
        </p:txBody>
      </p:sp>
    </p:spTree>
    <p:extLst>
      <p:ext uri="{BB962C8B-B14F-4D97-AF65-F5344CB8AC3E}">
        <p14:creationId xmlns:p14="http://schemas.microsoft.com/office/powerpoint/2010/main" val="1014933650"/>
      </p:ext>
    </p:extLst>
  </p:cSld>
</p:sld>
</file>

<file path=ppt/slides/slide4.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3" name="title">
            <a:extLst xmlns:a="http://schemas.openxmlformats.org/drawingml/2006/main">
              <a:ext uri="{FF2B5EF4-FFF2-40B4-BE49-F238E27FC236}">
                <a16:creationId xmlns:a16="http://schemas.microsoft.com/office/drawing/2014/main" id="{62D77F49-DEE5-4799-84B7-20B4A61D6E92}"/>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Future: Joule agents use the app in SAP</a:t>
            </a:r>
          </a:p>
        </p:txBody>
      </p:sp>
      <p:sp>
        <p:nvSpPr>
          <p:cNvPr id="2" name="subtitle">
            <a:extLst xmlns:a="http://schemas.openxmlformats.org/drawingml/2006/main">
              <a:ext uri="{FF2B5EF4-FFF2-40B4-BE49-F238E27FC236}">
                <a16:creationId xmlns:a16="http://schemas.microsoft.com/office/drawing/2014/main" id="{D7F5D030-CAFE-427C-9DDA-5A500C7FD8D7}"/>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Reuse the app. Set up Joule agents for each customer’s SAP process.</a:t>
            </a:r>
          </a:p>
        </p:txBody>
      </p:sp>
      <p:sp>
        <p:nvSpPr>
          <p:cNvPr id="3" name="future-app">
            <a:extLst xmlns:a="http://schemas.openxmlformats.org/drawingml/2006/main">
              <a:ext uri="{FF2B5EF4-FFF2-40B4-BE49-F238E27FC236}">
                <a16:creationId xmlns:a16="http://schemas.microsoft.com/office/drawing/2014/main" id="{4A87B7E3-3035-44B9-885C-3A4938690918}"/>
              </a:ext>
            </a:extLst>
          </p:cNvPr>
          <p:cNvSpPr>
            <a:spLocks xmlns:a="http://schemas.openxmlformats.org/drawingml/2006/main" noGrp="1"/>
          </p:cNvSpPr>
          <p:nvPr/>
        </p:nvSpPr>
        <p:spPr>
          <a:xfrm xmlns:a="http://schemas.openxmlformats.org/drawingml/2006/main">
            <a:off x="533400" y="2076450"/>
            <a:ext cx="4210050" cy="3429000"/>
          </a:xfrm>
          <a:prstGeom xmlns:a="http://schemas.openxmlformats.org/drawingml/2006/main" prst="roundRect">
            <a:avLst>
              <a:gd name="adj" fmla="val 3333"/>
            </a:avLst>
          </a:prstGeom>
          <a:solidFill xmlns:a="http://schemas.openxmlformats.org/drawingml/2006/main">
            <a:srgbClr val="15304C"/>
          </a:solidFill>
          <a:ln xmlns:a="http://schemas.openxmlformats.org/drawingml/2006/main" w="0">
            <a:noFill/>
          </a:ln>
        </p:spPr>
      </p:sp>
      <p:sp>
        <p:nvSpPr>
          <p:cNvPr id="4" name="future-app-title">
            <a:extLst xmlns:a="http://schemas.openxmlformats.org/drawingml/2006/main">
              <a:ext uri="{FF2B5EF4-FFF2-40B4-BE49-F238E27FC236}">
                <a16:creationId xmlns:a16="http://schemas.microsoft.com/office/drawing/2014/main" id="{2C515EB3-2D50-445A-867A-B83E23C1C39D}"/>
              </a:ext>
            </a:extLst>
          </p:cNvPr>
          <p:cNvSpPr>
            <a:spLocks xmlns:a="http://schemas.openxmlformats.org/drawingml/2006/main" noGrp="1"/>
          </p:cNvSpPr>
          <p:nvPr/>
        </p:nvSpPr>
        <p:spPr>
          <a:xfrm xmlns:a="http://schemas.openxmlformats.org/drawingml/2006/main">
            <a:off x="781050" y="2362200"/>
            <a:ext cx="3714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CFIN app + API</a:t>
            </a:r>
          </a:p>
        </p:txBody>
      </p:sp>
      <p:sp>
        <p:nvSpPr>
          <p:cNvPr id="5" name="future-app-data-0">
            <a:extLst xmlns:a="http://schemas.openxmlformats.org/drawingml/2006/main">
              <a:ext uri="{FF2B5EF4-FFF2-40B4-BE49-F238E27FC236}">
                <a16:creationId xmlns:a16="http://schemas.microsoft.com/office/drawing/2014/main" id="{52CA435B-469D-477A-9EAF-D0D0520119A3}"/>
              </a:ext>
            </a:extLst>
          </p:cNvPr>
          <p:cNvSpPr>
            <a:spLocks xmlns:a="http://schemas.openxmlformats.org/drawingml/2006/main" noGrp="1"/>
          </p:cNvSpPr>
          <p:nvPr/>
        </p:nvSpPr>
        <p:spPr>
          <a:xfrm xmlns:a="http://schemas.openxmlformats.org/drawingml/2006/main">
            <a:off x="781050" y="317182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0">
                <a:solidFill>
                  <a:srgbClr val="E6F0F8"/>
                </a:solidFill>
                <a:latin typeface="Helvetica Neue"/>
                <a:ea typeface="Helvetica Neue"/>
                <a:cs typeface="Helvetica Neue"/>
              </a:defRPr>
            </a:pPr>
            <a:r>
              <a:rPr sz="2250" b="0">
                <a:solidFill>
                  <a:srgbClr val="E6F0F8"/>
                </a:solidFill>
                <a:latin typeface="Helvetica Neue"/>
                <a:ea typeface="Helvetica Neue"/>
                <a:cs typeface="Helvetica Neue"/>
              </a:rPr>
              <a:t>Case summary</a:t>
            </a:r>
          </a:p>
        </p:txBody>
      </p:sp>
      <p:sp>
        <p:nvSpPr>
          <p:cNvPr id="6" name="future-app-data-1">
            <a:extLst xmlns:a="http://schemas.openxmlformats.org/drawingml/2006/main">
              <a:ext uri="{FF2B5EF4-FFF2-40B4-BE49-F238E27FC236}">
                <a16:creationId xmlns:a16="http://schemas.microsoft.com/office/drawing/2014/main" id="{9E3E6BAD-687A-4FB4-9769-4024E57F06A1}"/>
              </a:ext>
            </a:extLst>
          </p:cNvPr>
          <p:cNvSpPr>
            <a:spLocks xmlns:a="http://schemas.openxmlformats.org/drawingml/2006/main" noGrp="1"/>
          </p:cNvSpPr>
          <p:nvPr/>
        </p:nvSpPr>
        <p:spPr>
          <a:xfrm xmlns:a="http://schemas.openxmlformats.org/drawingml/2006/main">
            <a:off x="781050" y="365760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0">
                <a:solidFill>
                  <a:srgbClr val="E6F0F8"/>
                </a:solidFill>
                <a:latin typeface="Helvetica Neue"/>
                <a:ea typeface="Helvetica Neue"/>
                <a:cs typeface="Helvetica Neue"/>
              </a:defRPr>
            </a:pPr>
            <a:r>
              <a:rPr sz="2250" b="0">
                <a:solidFill>
                  <a:srgbClr val="E6F0F8"/>
                </a:solidFill>
                <a:latin typeface="Helvetica Neue"/>
                <a:ea typeface="Helvetica Neue"/>
                <a:cs typeface="Helvetica Neue"/>
              </a:rPr>
              <a:t>Original AIF log</a:t>
            </a:r>
          </a:p>
        </p:txBody>
      </p:sp>
      <p:sp>
        <p:nvSpPr>
          <p:cNvPr id="7" name="future-app-data-2">
            <a:extLst xmlns:a="http://schemas.openxmlformats.org/drawingml/2006/main">
              <a:ext uri="{FF2B5EF4-FFF2-40B4-BE49-F238E27FC236}">
                <a16:creationId xmlns:a16="http://schemas.microsoft.com/office/drawing/2014/main" id="{C1D60D71-3139-4655-AAC2-A32012CD0639}"/>
              </a:ext>
            </a:extLst>
          </p:cNvPr>
          <p:cNvSpPr>
            <a:spLocks xmlns:a="http://schemas.openxmlformats.org/drawingml/2006/main" noGrp="1"/>
          </p:cNvSpPr>
          <p:nvPr/>
        </p:nvSpPr>
        <p:spPr>
          <a:xfrm xmlns:a="http://schemas.openxmlformats.org/drawingml/2006/main">
            <a:off x="781050" y="414337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0">
                <a:solidFill>
                  <a:srgbClr val="E6F0F8"/>
                </a:solidFill>
                <a:latin typeface="Helvetica Neue"/>
                <a:ea typeface="Helvetica Neue"/>
                <a:cs typeface="Helvetica Neue"/>
              </a:defRPr>
            </a:pPr>
            <a:r>
              <a:rPr sz="2250" b="0">
                <a:solidFill>
                  <a:srgbClr val="E6F0F8"/>
                </a:solidFill>
                <a:latin typeface="Helvetica Neue"/>
                <a:ea typeface="Helvetica Neue"/>
                <a:cs typeface="Helvetica Neue"/>
              </a:rPr>
              <a:t>Related cases</a:t>
            </a:r>
          </a:p>
        </p:txBody>
      </p:sp>
      <p:sp>
        <p:nvSpPr>
          <p:cNvPr id="8" name="future-app-data-3">
            <a:extLst xmlns:a="http://schemas.openxmlformats.org/drawingml/2006/main">
              <a:ext uri="{FF2B5EF4-FFF2-40B4-BE49-F238E27FC236}">
                <a16:creationId xmlns:a16="http://schemas.microsoft.com/office/drawing/2014/main" id="{478739DC-76F1-4556-AD7D-F829D2720C0C}"/>
              </a:ext>
            </a:extLst>
          </p:cNvPr>
          <p:cNvSpPr>
            <a:spLocks xmlns:a="http://schemas.openxmlformats.org/drawingml/2006/main" noGrp="1"/>
          </p:cNvSpPr>
          <p:nvPr/>
        </p:nvSpPr>
        <p:spPr>
          <a:xfrm xmlns:a="http://schemas.openxmlformats.org/drawingml/2006/main">
            <a:off x="781050" y="46291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0">
                <a:solidFill>
                  <a:srgbClr val="E6F0F8"/>
                </a:solidFill>
                <a:latin typeface="Helvetica Neue"/>
                <a:ea typeface="Helvetica Neue"/>
                <a:cs typeface="Helvetica Neue"/>
              </a:defRPr>
            </a:pPr>
            <a:r>
              <a:rPr sz="2250" b="0">
                <a:solidFill>
                  <a:srgbClr val="E6F0F8"/>
                </a:solidFill>
                <a:latin typeface="Helvetica Neue"/>
                <a:ea typeface="Helvetica Neue"/>
                <a:cs typeface="Helvetica Neue"/>
              </a:rPr>
              <a:t>Review findings</a:t>
            </a:r>
          </a:p>
        </p:txBody>
      </p:sp>
      <p:sp>
        <p:nvSpPr>
          <p:cNvPr id="9" name="future-joule">
            <a:extLst xmlns:a="http://schemas.openxmlformats.org/drawingml/2006/main">
              <a:ext uri="{FF2B5EF4-FFF2-40B4-BE49-F238E27FC236}">
                <a16:creationId xmlns:a16="http://schemas.microsoft.com/office/drawing/2014/main" id="{ED3A4EE1-F20B-4AC6-AADF-0357D31F559E}"/>
              </a:ext>
            </a:extLst>
          </p:cNvPr>
          <p:cNvSpPr>
            <a:spLocks xmlns:a="http://schemas.openxmlformats.org/drawingml/2006/main" noGrp="1"/>
          </p:cNvSpPr>
          <p:nvPr/>
        </p:nvSpPr>
        <p:spPr>
          <a:xfrm xmlns:a="http://schemas.openxmlformats.org/drawingml/2006/main">
            <a:off x="5467350" y="2076450"/>
            <a:ext cx="4286250" cy="3429000"/>
          </a:xfrm>
          <a:prstGeom xmlns:a="http://schemas.openxmlformats.org/drawingml/2006/main" prst="roundRect">
            <a:avLst>
              <a:gd name="adj" fmla="val 3333"/>
            </a:avLst>
          </a:prstGeom>
          <a:solidFill xmlns:a="http://schemas.openxmlformats.org/drawingml/2006/main">
            <a:srgbClr val="EEE8FA"/>
          </a:solidFill>
          <a:ln xmlns:a="http://schemas.openxmlformats.org/drawingml/2006/main" w="0">
            <a:noFill/>
          </a:ln>
        </p:spPr>
      </p:sp>
      <p:sp>
        <p:nvSpPr>
          <p:cNvPr id="10" name="future-joule-title">
            <a:extLst xmlns:a="http://schemas.openxmlformats.org/drawingml/2006/main">
              <a:ext uri="{FF2B5EF4-FFF2-40B4-BE49-F238E27FC236}">
                <a16:creationId xmlns:a16="http://schemas.microsoft.com/office/drawing/2014/main" id="{189323D6-109D-4118-919F-379E7435FE31}"/>
              </a:ext>
            </a:extLst>
          </p:cNvPr>
          <p:cNvSpPr>
            <a:spLocks xmlns:a="http://schemas.openxmlformats.org/drawingml/2006/main" noGrp="1"/>
          </p:cNvSpPr>
          <p:nvPr/>
        </p:nvSpPr>
        <p:spPr>
          <a:xfrm xmlns:a="http://schemas.openxmlformats.org/drawingml/2006/main">
            <a:off x="5715000" y="2362200"/>
            <a:ext cx="3790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775" b="1">
                <a:solidFill>
                  <a:srgbClr val="15304C"/>
                </a:solidFill>
                <a:latin typeface="Helvetica Neue"/>
                <a:ea typeface="Helvetica Neue"/>
                <a:cs typeface="Helvetica Neue"/>
              </a:defRPr>
            </a:pPr>
            <a:r>
              <a:rPr sz="2775" b="1">
                <a:solidFill>
                  <a:srgbClr val="15304C"/>
                </a:solidFill>
                <a:latin typeface="Helvetica Neue"/>
                <a:ea typeface="Helvetica Neue"/>
                <a:cs typeface="Helvetica Neue"/>
              </a:rPr>
              <a:t>Joule agents</a:t>
            </a:r>
          </a:p>
        </p:txBody>
      </p:sp>
      <p:sp>
        <p:nvSpPr>
          <p:cNvPr id="11" name="future-joule-detail">
            <a:extLst xmlns:a="http://schemas.openxmlformats.org/drawingml/2006/main">
              <a:ext uri="{FF2B5EF4-FFF2-40B4-BE49-F238E27FC236}">
                <a16:creationId xmlns:a16="http://schemas.microsoft.com/office/drawing/2014/main" id="{51FBAE67-CF03-4EB0-B699-FBAE210E8667}"/>
              </a:ext>
            </a:extLst>
          </p:cNvPr>
          <p:cNvSpPr>
            <a:spLocks xmlns:a="http://schemas.openxmlformats.org/drawingml/2006/main" noGrp="1"/>
          </p:cNvSpPr>
          <p:nvPr/>
        </p:nvSpPr>
        <p:spPr>
          <a:xfrm xmlns:a="http://schemas.openxmlformats.org/drawingml/2006/main">
            <a:off x="5715000" y="3171825"/>
            <a:ext cx="3790950" cy="2009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0">
                <a:solidFill>
                  <a:srgbClr val="15304C"/>
                </a:solidFill>
                <a:latin typeface="Helvetica Neue"/>
                <a:ea typeface="Helvetica Neue"/>
                <a:cs typeface="Helvetica Neue"/>
              </a:defRPr>
            </a:pPr>
            <a:r>
              <a:rPr sz="2250" b="0">
                <a:solidFill>
                  <a:srgbClr val="15304C"/>
                </a:solidFill>
                <a:latin typeface="Helvetica Neue"/>
                <a:ea typeface="Helvetica Neue"/>
                <a:cs typeface="Helvetica Neue"/>
              </a:rPr>
              <a:t>Read case data</a:t>
            </a:r>
          </a:p>
          <a:p xmlns:a="http://schemas.openxmlformats.org/drawingml/2006/main">
            <a:pPr algn="l">
              <a:defRPr sz="2250" b="0">
                <a:solidFill>
                  <a:srgbClr val="15304C"/>
                </a:solidFill>
                <a:latin typeface="Helvetica Neue"/>
                <a:ea typeface="Helvetica Neue"/>
                <a:cs typeface="Helvetica Neue"/>
              </a:defRPr>
            </a:pPr>
            <a:r>
              <a:rPr sz="2250" b="0">
                <a:solidFill>
                  <a:srgbClr val="15304C"/>
                </a:solidFill>
                <a:latin typeface="Helvetica Neue"/>
                <a:ea typeface="Helvetica Neue"/>
                <a:cs typeface="Helvetica Neue"/>
              </a:rPr>
              <a:t>Check live SAP data</a:t>
            </a:r>
          </a:p>
          <a:p xmlns:a="http://schemas.openxmlformats.org/drawingml/2006/main">
            <a:pPr algn="l">
              <a:defRPr sz="2250" b="0">
                <a:solidFill>
                  <a:srgbClr val="15304C"/>
                </a:solidFill>
                <a:latin typeface="Helvetica Neue"/>
                <a:ea typeface="Helvetica Neue"/>
                <a:cs typeface="Helvetica Neue"/>
              </a:defRPr>
            </a:pPr>
            <a:r>
              <a:rPr sz="2250" b="0">
                <a:solidFill>
                  <a:srgbClr val="15304C"/>
                </a:solidFill>
                <a:latin typeface="Helvetica Neue"/>
                <a:ea typeface="Helvetica Neue"/>
                <a:cs typeface="Helvetica Neue"/>
              </a:rPr>
              <a:t>Apply customer rules</a:t>
            </a:r>
          </a:p>
          <a:p xmlns:a="http://schemas.openxmlformats.org/drawingml/2006/main">
            <a:pPr algn="l">
              <a:defRPr sz="2250" b="0">
                <a:solidFill>
                  <a:srgbClr val="15304C"/>
                </a:solidFill>
                <a:latin typeface="Helvetica Neue"/>
                <a:ea typeface="Helvetica Neue"/>
                <a:cs typeface="Helvetica Neue"/>
              </a:defRPr>
            </a:pPr>
            <a:r>
              <a:rPr sz="2250" b="0">
                <a:solidFill>
                  <a:srgbClr val="15304C"/>
                </a:solidFill>
                <a:latin typeface="Helvetica Neue"/>
                <a:ea typeface="Helvetica Neue"/>
                <a:cs typeface="Helvetica Neue"/>
              </a:rPr>
              <a:t>Choose the next step</a:t>
            </a:r>
          </a:p>
        </p:txBody>
      </p:sp>
      <p:cxnSp>
        <p:nvCxnSpPr>
          <p:cNvPr id="34" name=""/>
          <p:cNvCxnSpPr>
            <a:stCxn xmlns:a="http://schemas.openxmlformats.org/drawingml/2006/main" id="3" idx="3"/>
            <a:endCxn xmlns:a="http://schemas.openxmlformats.org/drawingml/2006/main" id="9" idx="1"/>
          </p:cNvCxnSpPr>
          <p:nvPr/>
        </p:nvCxnSpPr>
        <p:spPr>
          <a:xfrm xmlns:a="http://schemas.openxmlformats.org/drawingml/2006/main">
            <a:off x="4743450" y="3790950"/>
            <a:ext cx="723900" cy="0"/>
          </a:xfrm>
          <a:prstGeom xmlns:a="http://schemas.openxmlformats.org/drawingml/2006/main" prst="straightConnector1">
            <a:avLst/>
          </a:prstGeom>
          <a:ln xmlns:a="http://schemas.openxmlformats.org/drawingml/2006/main" w="28575">
            <a:solidFill>
              <a:srgbClr val="8097B1"/>
            </a:solidFill>
            <a:headEnd type="triangle" w="med" len="med"/>
            <a:tailEnd type="triangle" w="med" len="med"/>
          </a:ln>
        </p:spPr>
      </p:cxnSp>
      <p:sp>
        <p:nvSpPr>
          <p:cNvPr id="13" name="future-sap">
            <a:extLst xmlns:a="http://schemas.openxmlformats.org/drawingml/2006/main">
              <a:ext uri="{FF2B5EF4-FFF2-40B4-BE49-F238E27FC236}">
                <a16:creationId xmlns:a16="http://schemas.microsoft.com/office/drawing/2014/main" id="{0CCE73CC-E87E-4F47-8BAC-B63D331D98D4}"/>
              </a:ext>
            </a:extLst>
          </p:cNvPr>
          <p:cNvSpPr>
            <a:spLocks xmlns:a="http://schemas.openxmlformats.org/drawingml/2006/main" noGrp="1"/>
          </p:cNvSpPr>
          <p:nvPr/>
        </p:nvSpPr>
        <p:spPr>
          <a:xfrm xmlns:a="http://schemas.openxmlformats.org/drawingml/2006/main">
            <a:off x="10477500" y="2076450"/>
            <a:ext cx="4229100" cy="1552575"/>
          </a:xfrm>
          <a:prstGeom xmlns:a="http://schemas.openxmlformats.org/drawingml/2006/main" prst="roundRect">
            <a:avLst>
              <a:gd name="adj" fmla="val 7362"/>
            </a:avLst>
          </a:prstGeom>
          <a:solidFill xmlns:a="http://schemas.openxmlformats.org/drawingml/2006/main">
            <a:srgbClr val="E3EEFA"/>
          </a:solidFill>
          <a:ln xmlns:a="http://schemas.openxmlformats.org/drawingml/2006/main" w="0">
            <a:noFill/>
          </a:ln>
        </p:spPr>
      </p:sp>
      <p:sp>
        <p:nvSpPr>
          <p:cNvPr id="14" name="future-sap-title">
            <a:extLst xmlns:a="http://schemas.openxmlformats.org/drawingml/2006/main">
              <a:ext uri="{FF2B5EF4-FFF2-40B4-BE49-F238E27FC236}">
                <a16:creationId xmlns:a16="http://schemas.microsoft.com/office/drawing/2014/main" id="{D31F8CFB-53CA-4240-9671-FE2B7C5A0F63}"/>
              </a:ext>
            </a:extLst>
          </p:cNvPr>
          <p:cNvSpPr>
            <a:spLocks xmlns:a="http://schemas.openxmlformats.org/drawingml/2006/main" noGrp="1"/>
          </p:cNvSpPr>
          <p:nvPr/>
        </p:nvSpPr>
        <p:spPr>
          <a:xfrm xmlns:a="http://schemas.openxmlformats.org/drawingml/2006/main">
            <a:off x="10706100" y="2286000"/>
            <a:ext cx="3771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325" b="1">
                <a:solidFill>
                  <a:srgbClr val="2F6095"/>
                </a:solidFill>
                <a:latin typeface="Helvetica Neue"/>
                <a:ea typeface="Helvetica Neue"/>
                <a:cs typeface="Helvetica Neue"/>
              </a:defRPr>
            </a:pPr>
            <a:r>
              <a:rPr sz="2325" b="1">
                <a:solidFill>
                  <a:srgbClr val="2F6095"/>
                </a:solidFill>
                <a:latin typeface="Helvetica Neue"/>
                <a:ea typeface="Helvetica Neue"/>
                <a:cs typeface="Helvetica Neue"/>
              </a:rPr>
              <a:t>Actions in SAP</a:t>
            </a:r>
          </a:p>
        </p:txBody>
      </p:sp>
      <p:sp>
        <p:nvSpPr>
          <p:cNvPr id="15" name="future-sap-detail">
            <a:extLst xmlns:a="http://schemas.openxmlformats.org/drawingml/2006/main">
              <a:ext uri="{FF2B5EF4-FFF2-40B4-BE49-F238E27FC236}">
                <a16:creationId xmlns:a16="http://schemas.microsoft.com/office/drawing/2014/main" id="{39A0642D-BDC5-421E-91A2-5E85385F8E5C}"/>
              </a:ext>
            </a:extLst>
          </p:cNvPr>
          <p:cNvSpPr>
            <a:spLocks xmlns:a="http://schemas.openxmlformats.org/drawingml/2006/main" noGrp="1"/>
          </p:cNvSpPr>
          <p:nvPr/>
        </p:nvSpPr>
        <p:spPr>
          <a:xfrm xmlns:a="http://schemas.openxmlformats.org/drawingml/2006/main">
            <a:off x="10706100" y="2876550"/>
            <a:ext cx="37719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15304C"/>
                </a:solidFill>
                <a:latin typeface="Helvetica Neue"/>
                <a:ea typeface="Helvetica Neue"/>
                <a:cs typeface="Helvetica Neue"/>
              </a:defRPr>
            </a:pPr>
            <a:r>
              <a:rPr sz="2100" b="0">
                <a:solidFill>
                  <a:srgbClr val="15304C"/>
                </a:solidFill>
                <a:latin typeface="Helvetica Neue"/>
                <a:ea typeface="Helvetica Neue"/>
                <a:cs typeface="Helvetica Neue"/>
              </a:rPr>
              <a:t>Run permitted SAP steps</a:t>
            </a:r>
          </a:p>
          <a:p xmlns:a="http://schemas.openxmlformats.org/drawingml/2006/main">
            <a:pPr algn="l">
              <a:defRPr sz="2100" b="0">
                <a:solidFill>
                  <a:srgbClr val="15304C"/>
                </a:solidFill>
                <a:latin typeface="Helvetica Neue"/>
                <a:ea typeface="Helvetica Neue"/>
                <a:cs typeface="Helvetica Neue"/>
              </a:defRPr>
            </a:pPr>
            <a:r>
              <a:rPr sz="2100" b="0">
                <a:solidFill>
                  <a:srgbClr val="15304C"/>
                </a:solidFill>
                <a:latin typeface="Helvetica Neue"/>
                <a:ea typeface="Helvetica Neue"/>
                <a:cs typeface="Helvetica Neue"/>
              </a:rPr>
              <a:t>Record the result</a:t>
            </a:r>
          </a:p>
        </p:txBody>
      </p:sp>
      <p:sp>
        <p:nvSpPr>
          <p:cNvPr id="16" name="future-human">
            <a:extLst xmlns:a="http://schemas.openxmlformats.org/drawingml/2006/main">
              <a:ext uri="{FF2B5EF4-FFF2-40B4-BE49-F238E27FC236}">
                <a16:creationId xmlns:a16="http://schemas.microsoft.com/office/drawing/2014/main" id="{64760552-A057-4910-A0CC-98CA04246FA4}"/>
              </a:ext>
            </a:extLst>
          </p:cNvPr>
          <p:cNvSpPr>
            <a:spLocks xmlns:a="http://schemas.openxmlformats.org/drawingml/2006/main" noGrp="1"/>
          </p:cNvSpPr>
          <p:nvPr/>
        </p:nvSpPr>
        <p:spPr>
          <a:xfrm xmlns:a="http://schemas.openxmlformats.org/drawingml/2006/main">
            <a:off x="10477500" y="3952875"/>
            <a:ext cx="4229100" cy="1552575"/>
          </a:xfrm>
          <a:prstGeom xmlns:a="http://schemas.openxmlformats.org/drawingml/2006/main" prst="roundRect">
            <a:avLst>
              <a:gd name="adj" fmla="val 7362"/>
            </a:avLst>
          </a:prstGeom>
          <a:solidFill xmlns:a="http://schemas.openxmlformats.org/drawingml/2006/main">
            <a:srgbClr val="FFF0D8"/>
          </a:solidFill>
          <a:ln xmlns:a="http://schemas.openxmlformats.org/drawingml/2006/main" w="0">
            <a:noFill/>
          </a:ln>
        </p:spPr>
      </p:sp>
      <p:sp>
        <p:nvSpPr>
          <p:cNvPr id="17" name="future-human-title">
            <a:extLst xmlns:a="http://schemas.openxmlformats.org/drawingml/2006/main">
              <a:ext uri="{FF2B5EF4-FFF2-40B4-BE49-F238E27FC236}">
                <a16:creationId xmlns:a16="http://schemas.microsoft.com/office/drawing/2014/main" id="{E92D54B1-9244-4988-A1B9-BDB74C46E61C}"/>
              </a:ext>
            </a:extLst>
          </p:cNvPr>
          <p:cNvSpPr>
            <a:spLocks xmlns:a="http://schemas.openxmlformats.org/drawingml/2006/main" noGrp="1"/>
          </p:cNvSpPr>
          <p:nvPr/>
        </p:nvSpPr>
        <p:spPr>
          <a:xfrm xmlns:a="http://schemas.openxmlformats.org/drawingml/2006/main">
            <a:off x="10706100" y="4171950"/>
            <a:ext cx="3771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325" b="1">
                <a:solidFill>
                  <a:srgbClr val="8A6025"/>
                </a:solidFill>
                <a:latin typeface="Helvetica Neue"/>
                <a:ea typeface="Helvetica Neue"/>
                <a:cs typeface="Helvetica Neue"/>
              </a:defRPr>
            </a:pPr>
            <a:r>
              <a:rPr sz="2325" b="1">
                <a:solidFill>
                  <a:srgbClr val="8A6025"/>
                </a:solidFill>
                <a:latin typeface="Helvetica Neue"/>
                <a:ea typeface="Helvetica Neue"/>
                <a:cs typeface="Helvetica Neue"/>
              </a:rPr>
              <a:t>Human led Review</a:t>
            </a:r>
          </a:p>
        </p:txBody>
      </p:sp>
      <p:sp>
        <p:nvSpPr>
          <p:cNvPr id="18" name="future-human-detail">
            <a:extLst xmlns:a="http://schemas.openxmlformats.org/drawingml/2006/main">
              <a:ext uri="{FF2B5EF4-FFF2-40B4-BE49-F238E27FC236}">
                <a16:creationId xmlns:a16="http://schemas.microsoft.com/office/drawing/2014/main" id="{8E7F4D60-84E5-43F6-ABB1-AAD4652A0ABA}"/>
              </a:ext>
            </a:extLst>
          </p:cNvPr>
          <p:cNvSpPr>
            <a:spLocks xmlns:a="http://schemas.openxmlformats.org/drawingml/2006/main" noGrp="1"/>
          </p:cNvSpPr>
          <p:nvPr/>
        </p:nvSpPr>
        <p:spPr>
          <a:xfrm xmlns:a="http://schemas.openxmlformats.org/drawingml/2006/main">
            <a:off x="10706100" y="4724400"/>
            <a:ext cx="3771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0">
                <a:solidFill>
                  <a:srgbClr val="15304C"/>
                </a:solidFill>
                <a:latin typeface="Helvetica Neue"/>
                <a:ea typeface="Helvetica Neue"/>
                <a:cs typeface="Helvetica Neue"/>
              </a:defRPr>
            </a:pPr>
            <a:r>
              <a:rPr sz="2025" b="0">
                <a:solidFill>
                  <a:srgbClr val="15304C"/>
                </a:solidFill>
                <a:latin typeface="Helvetica Neue"/>
                <a:ea typeface="Helvetica Neue"/>
                <a:cs typeface="Helvetica Neue"/>
              </a:rPr>
              <a:t>Humans in the loop approve</a:t>
            </a:r>
          </a:p>
          <a:p xmlns:a="http://schemas.openxmlformats.org/drawingml/2006/main">
            <a:pPr algn="l">
              <a:defRPr sz="2025" b="0">
                <a:solidFill>
                  <a:srgbClr val="15304C"/>
                </a:solidFill>
                <a:latin typeface="Helvetica Neue"/>
                <a:ea typeface="Helvetica Neue"/>
                <a:cs typeface="Helvetica Neue"/>
              </a:defRPr>
            </a:pPr>
            <a:r>
              <a:rPr sz="2025" b="0">
                <a:solidFill>
                  <a:srgbClr val="15304C"/>
                </a:solidFill>
                <a:latin typeface="Helvetica Neue"/>
                <a:ea typeface="Helvetica Neue"/>
                <a:cs typeface="Helvetica Neue"/>
              </a:rPr>
              <a:t>or carry out the SAP work.</a:t>
            </a:r>
          </a:p>
        </p:txBody>
      </p:sp>
      <p:cxnSp>
        <p:nvCxnSpPr>
          <p:cNvPr id="41" name=""/>
          <p:cNvCxnSpPr>
            <a:stCxn xmlns:a="http://schemas.openxmlformats.org/drawingml/2006/main" id="9" idx="3"/>
            <a:endCxn xmlns:a="http://schemas.openxmlformats.org/drawingml/2006/main" id="13" idx="1"/>
          </p:cNvCxnSpPr>
          <p:nvPr/>
        </p:nvCxnSpPr>
        <p:spPr>
          <a:xfrm xmlns:a="http://schemas.openxmlformats.org/drawingml/2006/main" flipV="1">
            <a:off x="9753600" y="2852738"/>
            <a:ext cx="723900" cy="938213"/>
          </a:xfrm>
          <a:prstGeom xmlns:a="http://schemas.openxmlformats.org/drawingml/2006/main" prst="bentConnector3">
            <a:avLst>
              <a:gd name="adj1" fmla="val 50000"/>
            </a:avLst>
          </a:prstGeom>
          <a:ln xmlns:a="http://schemas.openxmlformats.org/drawingml/2006/main" w="28575">
            <a:solidFill>
              <a:srgbClr val="8097B1"/>
            </a:solidFill>
            <a:tailEnd type="triangle" w="med" len="med"/>
          </a:ln>
        </p:spPr>
      </p:cxnSp>
      <p:cxnSp>
        <p:nvCxnSpPr>
          <p:cNvPr id="42" name=""/>
          <p:cNvCxnSpPr>
            <a:stCxn xmlns:a="http://schemas.openxmlformats.org/drawingml/2006/main" id="9" idx="3"/>
            <a:endCxn xmlns:a="http://schemas.openxmlformats.org/drawingml/2006/main" id="16" idx="1"/>
          </p:cNvCxnSpPr>
          <p:nvPr/>
        </p:nvCxnSpPr>
        <p:spPr>
          <a:xfrm xmlns:a="http://schemas.openxmlformats.org/drawingml/2006/main">
            <a:off x="9753600" y="3790950"/>
            <a:ext cx="723900" cy="938213"/>
          </a:xfrm>
          <a:prstGeom xmlns:a="http://schemas.openxmlformats.org/drawingml/2006/main" prst="bentConnector3">
            <a:avLst>
              <a:gd name="adj1" fmla="val 50000"/>
            </a:avLst>
          </a:prstGeom>
          <a:ln xmlns:a="http://schemas.openxmlformats.org/drawingml/2006/main" w="28575">
            <a:solidFill>
              <a:srgbClr val="8097B1"/>
            </a:solidFill>
            <a:tailEnd type="triangle" w="med" len="med"/>
          </a:ln>
        </p:spPr>
      </p:cxnSp>
      <p:graphicFrame>
        <p:nvGraphicFramePr>
          <p:cNvPr id="43" name=""/>
          <p:cNvGraphicFramePr/>
          <p:nvPr/>
        </p:nvGraphicFramePr>
        <p:xfrm>
          <a:off xmlns:a="http://schemas.openxmlformats.org/drawingml/2006/main" x="533400" y="6076950"/>
          <a:ext xmlns:a="http://schemas.openxmlformats.org/drawingml/2006/main" cx="14173200" cy="1676400"/>
        </p:xfrm>
        <a:graphic xmlns:a="http://schemas.openxmlformats.org/drawingml/2006/main">
          <a:graphicData uri="http://schemas.openxmlformats.org/drawingml/2006/table">
            <a:tbl>
              <a:tblPr firstRow="0" bandRow="0"/>
              <a:tblGrid>
                <a:gridCol w="3048000"/>
                <a:gridCol w="11125200"/>
              </a:tblGrid>
              <a:tr h="838200">
                <a:tc>
                  <a:txBody>
                    <a:bodyPr wrap="square">
                      <a:noAutofit/>
                    </a:bodyPr>
                    <a:lstStyle/>
                    <a:p>
                      <a:r>
                        <a:rPr sz="2100" b="1">
                          <a:solidFill>
                            <a:srgbClr val="FFFFFF"/>
                          </a:solidFill>
                          <a:latin typeface="Helvetica Neue"/>
                          <a:ea typeface="Helvetica Neue"/>
                          <a:cs typeface="Helvetica Neue"/>
                        </a:rPr>
                        <a:t>Reuse across clients</a:t>
                      </a:r>
                    </a:p>
                  </a:txBody>
                  <a:tcPr marL="190500" marR="190500" marT="76200" marB="76200" anchor="ctr">
                    <a:lnL w="57150">
                      <a:solidFill>
                        <a:srgbClr val="F3F6FB"/>
                      </a:solidFill>
                      <a:prstDash val="solid"/>
                    </a:lnL>
                    <a:lnR w="57150">
                      <a:solidFill>
                        <a:srgbClr val="F3F6FB"/>
                      </a:solidFill>
                      <a:prstDash val="solid"/>
                    </a:lnR>
                    <a:lnT w="57150">
                      <a:solidFill>
                        <a:srgbClr val="F3F6FB"/>
                      </a:solidFill>
                      <a:prstDash val="solid"/>
                    </a:lnT>
                    <a:lnB w="57150">
                      <a:solidFill>
                        <a:srgbClr val="F3F6FB"/>
                      </a:solidFill>
                      <a:prstDash val="solid"/>
                    </a:lnB>
                    <a:solidFill>
                      <a:srgbClr val="15304C"/>
                    </a:solidFill>
                  </a:tcPr>
                </a:tc>
                <a:tc>
                  <a:txBody>
                    <a:bodyPr wrap="square">
                      <a:noAutofit/>
                    </a:bodyPr>
                    <a:lstStyle/>
                    <a:p>
                      <a:r>
                        <a:rPr sz="2175" b="0">
                          <a:solidFill>
                            <a:srgbClr val="15304C"/>
                          </a:solidFill>
                          <a:latin typeface="Helvetica Neue"/>
                          <a:ea typeface="Helvetica Neue"/>
                          <a:cs typeface="Helvetica Neue"/>
                        </a:rPr>
                        <a:t>The app, API, case format and evaluation checks.</a:t>
                      </a:r>
                    </a:p>
                  </a:txBody>
                  <a:tcPr marL="190500" marR="190500" marT="76200" marB="76200" anchor="ctr">
                    <a:lnL w="57150">
                      <a:solidFill>
                        <a:srgbClr val="F3F6FB"/>
                      </a:solidFill>
                      <a:prstDash val="solid"/>
                    </a:lnL>
                    <a:lnR w="57150">
                      <a:solidFill>
                        <a:srgbClr val="F3F6FB"/>
                      </a:solidFill>
                      <a:prstDash val="solid"/>
                    </a:lnR>
                    <a:lnT w="57150">
                      <a:solidFill>
                        <a:srgbClr val="F3F6FB"/>
                      </a:solidFill>
                      <a:prstDash val="solid"/>
                    </a:lnT>
                    <a:lnB w="57150">
                      <a:solidFill>
                        <a:srgbClr val="F3F6FB"/>
                      </a:solidFill>
                      <a:prstDash val="solid"/>
                    </a:lnB>
                    <a:solidFill>
                      <a:srgbClr val="EAF0F8"/>
                    </a:solidFill>
                  </a:tcPr>
                </a:tc>
              </a:tr>
              <a:tr h="838200">
                <a:tc>
                  <a:txBody>
                    <a:bodyPr wrap="square">
                      <a:noAutofit/>
                    </a:bodyPr>
                    <a:lstStyle/>
                    <a:p>
                      <a:r>
                        <a:rPr sz="2100" b="1">
                          <a:solidFill>
                            <a:srgbClr val="FFFFFF"/>
                          </a:solidFill>
                          <a:latin typeface="Helvetica Neue"/>
                          <a:ea typeface="Helvetica Neue"/>
                          <a:cs typeface="Helvetica Neue"/>
                        </a:rPr>
                        <a:t>Set up per customer</a:t>
                      </a:r>
                    </a:p>
                  </a:txBody>
                  <a:tcPr marL="190500" marR="190500" marT="76200" marB="76200" anchor="ctr">
                    <a:lnL w="57150">
                      <a:solidFill>
                        <a:srgbClr val="F3F6FB"/>
                      </a:solidFill>
                      <a:prstDash val="solid"/>
                    </a:lnL>
                    <a:lnR w="57150">
                      <a:solidFill>
                        <a:srgbClr val="F3F6FB"/>
                      </a:solidFill>
                      <a:prstDash val="solid"/>
                    </a:lnR>
                    <a:lnT w="57150">
                      <a:solidFill>
                        <a:srgbClr val="F3F6FB"/>
                      </a:solidFill>
                      <a:prstDash val="solid"/>
                    </a:lnT>
                    <a:lnB w="57150">
                      <a:solidFill>
                        <a:srgbClr val="F3F6FB"/>
                      </a:solidFill>
                      <a:prstDash val="solid"/>
                    </a:lnB>
                    <a:solidFill>
                      <a:srgbClr val="15304C"/>
                    </a:solidFill>
                  </a:tcPr>
                </a:tc>
                <a:tc>
                  <a:txBody>
                    <a:bodyPr wrap="square">
                      <a:noAutofit/>
                    </a:bodyPr>
                    <a:lstStyle/>
                    <a:p>
                      <a:r>
                        <a:rPr sz="2175" b="0">
                          <a:solidFill>
                            <a:srgbClr val="15304C"/>
                          </a:solidFill>
                          <a:latin typeface="Helvetica Neue"/>
                          <a:ea typeface="Helvetica Neue"/>
                          <a:cs typeface="Helvetica Neue"/>
                        </a:rPr>
                        <a:t>SAP connections, tools, permissions, approval rules and reviewed case history.</a:t>
                      </a:r>
                    </a:p>
                  </a:txBody>
                  <a:tcPr marL="190500" marR="190500" marT="76200" marB="76200" anchor="ctr">
                    <a:lnL w="57150">
                      <a:solidFill>
                        <a:srgbClr val="F3F6FB"/>
                      </a:solidFill>
                      <a:prstDash val="solid"/>
                    </a:lnL>
                    <a:lnR w="57150">
                      <a:solidFill>
                        <a:srgbClr val="F3F6FB"/>
                      </a:solidFill>
                      <a:prstDash val="solid"/>
                    </a:lnR>
                    <a:lnT w="57150">
                      <a:solidFill>
                        <a:srgbClr val="F3F6FB"/>
                      </a:solidFill>
                      <a:prstDash val="solid"/>
                    </a:lnT>
                    <a:lnB w="57150">
                      <a:solidFill>
                        <a:srgbClr val="F3F6FB"/>
                      </a:solidFill>
                      <a:prstDash val="solid"/>
                    </a:lnB>
                    <a:solidFill>
                      <a:srgbClr val="FFFFFF"/>
                    </a:solidFill>
                  </a:tcPr>
                </a:tc>
              </a:tr>
            </a:tbl>
          </a:graphicData>
        </a:graphic>
      </p:graphicFrame>
      <p:sp>
        <p:nvSpPr>
          <p:cNvPr id="22" name="future-boundary">
            <a:extLst xmlns:a="http://schemas.openxmlformats.org/drawingml/2006/main">
              <a:ext uri="{FF2B5EF4-FFF2-40B4-BE49-F238E27FC236}">
                <a16:creationId xmlns:a16="http://schemas.microsoft.com/office/drawing/2014/main" id="{4F542FEA-079E-49A3-BBA4-60D31D7E9EE7}"/>
              </a:ext>
            </a:extLst>
          </p:cNvPr>
          <p:cNvSpPr>
            <a:spLocks xmlns:a="http://schemas.openxmlformats.org/drawingml/2006/main" noGrp="1"/>
          </p:cNvSpPr>
          <p:nvPr/>
        </p:nvSpPr>
        <p:spPr>
          <a:xfrm xmlns:a="http://schemas.openxmlformats.org/drawingml/2006/main">
            <a:off x="533400" y="8115300"/>
            <a:ext cx="1417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725" b="0">
                <a:solidFill>
                  <a:srgbClr val="52677F"/>
                </a:solidFill>
                <a:latin typeface="Helvetica Neue"/>
                <a:ea typeface="Helvetica Neue"/>
                <a:cs typeface="Helvetica Neue"/>
              </a:defRPr>
            </a:pPr>
            <a:r>
              <a:rPr sz="1725" b="0">
                <a:solidFill>
                  <a:srgbClr val="52677F"/>
                </a:solidFill>
                <a:latin typeface="Helvetica Neue"/>
                <a:ea typeface="Helvetica Neue"/>
                <a:cs typeface="Helvetica Neue"/>
              </a:rPr>
              <a:t>Joule integration is future work. SAP actions need current checks and customer approval rules.</a:t>
            </a:r>
          </a:p>
        </p:txBody>
      </p:sp>
    </p:spTree>
    <p:extLst>
      <p:ext uri="{BB962C8B-B14F-4D97-AF65-F5344CB8AC3E}">
        <p14:creationId xmlns:p14="http://schemas.microsoft.com/office/powerpoint/2010/main" val="645830892"/>
      </p:ext>
    </p:extLst>
  </p:cSld>
</p:sld>
</file>

<file path=ppt/slides/slide5.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1" name="title">
            <a:extLst xmlns:a="http://schemas.openxmlformats.org/drawingml/2006/main">
              <a:ext uri="{FF2B5EF4-FFF2-40B4-BE49-F238E27FC236}">
                <a16:creationId xmlns:a16="http://schemas.microsoft.com/office/drawing/2014/main" id="{D1E6ACEE-17C3-439E-BF5A-34A93997F615}"/>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AIF example: document, messages and values</a:t>
            </a:r>
          </a:p>
        </p:txBody>
      </p:sp>
      <p:sp>
        <p:nvSpPr>
          <p:cNvPr id="2" name="subtitle">
            <a:extLst xmlns:a="http://schemas.openxmlformats.org/drawingml/2006/main">
              <a:ext uri="{FF2B5EF4-FFF2-40B4-BE49-F238E27FC236}">
                <a16:creationId xmlns:a16="http://schemas.microsoft.com/office/drawing/2014/main" id="{30B1A2A1-4493-4ECC-BE89-AF242F918717}"/>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Document 1900000421. All values, message codes and field paths below are fictional.</a:t>
            </a:r>
          </a:p>
        </p:txBody>
      </p:sp>
      <p:sp>
        <p:nvSpPr>
          <p:cNvPr id="3" name="aif-data-messages">
            <a:extLst xmlns:a="http://schemas.openxmlformats.org/drawingml/2006/main">
              <a:ext uri="{FF2B5EF4-FFF2-40B4-BE49-F238E27FC236}">
                <a16:creationId xmlns:a16="http://schemas.microsoft.com/office/drawing/2014/main" id="{D7CC1C22-6D30-46E1-BCC2-796ED0AA8AD7}"/>
              </a:ext>
            </a:extLst>
          </p:cNvPr>
          <p:cNvSpPr>
            <a:spLocks xmlns:a="http://schemas.openxmlformats.org/drawingml/2006/main" noGrp="1"/>
          </p:cNvSpPr>
          <p:nvPr/>
        </p:nvSpPr>
        <p:spPr>
          <a:xfrm xmlns:a="http://schemas.openxmlformats.org/drawingml/2006/main">
            <a:off x="533400" y="1971675"/>
            <a:ext cx="6191250" cy="2838450"/>
          </a:xfrm>
          <a:prstGeom xmlns:a="http://schemas.openxmlformats.org/drawingml/2006/main" prst="roundRect">
            <a:avLst>
              <a:gd name="adj" fmla="val 4027"/>
            </a:avLst>
          </a:prstGeom>
          <a:solidFill xmlns:a="http://schemas.openxmlformats.org/drawingml/2006/main">
            <a:srgbClr val="FFFFFF"/>
          </a:solidFill>
          <a:ln xmlns:a="http://schemas.openxmlformats.org/drawingml/2006/main" w="0">
            <a:noFill/>
          </a:ln>
        </p:spPr>
      </p:sp>
      <p:sp>
        <p:nvSpPr>
          <p:cNvPr id="4" name="aif-data-messages-title">
            <a:extLst xmlns:a="http://schemas.openxmlformats.org/drawingml/2006/main">
              <a:ext uri="{FF2B5EF4-FFF2-40B4-BE49-F238E27FC236}">
                <a16:creationId xmlns:a16="http://schemas.microsoft.com/office/drawing/2014/main" id="{B4A2CC89-26FD-431D-ABFD-4D131515E09F}"/>
              </a:ext>
            </a:extLst>
          </p:cNvPr>
          <p:cNvSpPr>
            <a:spLocks xmlns:a="http://schemas.openxmlformats.org/drawingml/2006/main" noGrp="1"/>
          </p:cNvSpPr>
          <p:nvPr/>
        </p:nvSpPr>
        <p:spPr>
          <a:xfrm xmlns:a="http://schemas.openxmlformats.org/drawingml/2006/main">
            <a:off x="742950" y="2162175"/>
            <a:ext cx="5772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1">
                <a:solidFill>
                  <a:srgbClr val="2F6095"/>
                </a:solidFill>
                <a:latin typeface="Helvetica Neue"/>
                <a:ea typeface="Helvetica Neue"/>
                <a:cs typeface="Helvetica Neue"/>
              </a:defRPr>
            </a:pPr>
            <a:r>
              <a:rPr sz="2250" b="1">
                <a:solidFill>
                  <a:srgbClr val="2F6095"/>
                </a:solidFill>
                <a:latin typeface="Helvetica Neue"/>
                <a:ea typeface="Helvetica Neue"/>
                <a:cs typeface="Helvetica Neue"/>
              </a:rPr>
              <a:t>Data Messages</a:t>
            </a:r>
          </a:p>
        </p:txBody>
      </p:sp>
      <p:graphicFrame>
        <p:nvGraphicFramePr>
          <p:cNvPr id="25" name=""/>
          <p:cNvGraphicFramePr/>
          <p:nvPr/>
        </p:nvGraphicFramePr>
        <p:xfrm>
          <a:off xmlns:a="http://schemas.openxmlformats.org/drawingml/2006/main" x="742950" y="2619375"/>
          <a:ext xmlns:a="http://schemas.openxmlformats.org/drawingml/2006/main" cx="5772150" cy="2057400"/>
        </p:xfrm>
        <a:graphic xmlns:a="http://schemas.openxmlformats.org/drawingml/2006/main">
          <a:graphicData uri="http://schemas.openxmlformats.org/drawingml/2006/table">
            <a:tbl>
              <a:tblPr firstRow="0" bandRow="0"/>
              <a:tblGrid>
                <a:gridCol w="2457450"/>
                <a:gridCol w="3314700"/>
              </a:tblGrid>
              <a:tr h="342900">
                <a:tc>
                  <a:txBody>
                    <a:bodyPr wrap="square">
                      <a:noAutofit/>
                    </a:bodyPr>
                    <a:lstStyle/>
                    <a:p>
                      <a:r>
                        <a:rPr sz="1725" b="1">
                          <a:solidFill>
                            <a:srgbClr val="FFFFFF"/>
                          </a:solidFill>
                          <a:latin typeface="Helvetica Neue"/>
                          <a:ea typeface="Helvetica Neue"/>
                          <a:cs typeface="Helvetica Neue"/>
                        </a:rPr>
                        <a:t>Source document</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1900000421</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342900">
                <a:tc>
                  <a:txBody>
                    <a:bodyPr wrap="square">
                      <a:noAutofit/>
                    </a:bodyPr>
                    <a:lstStyle/>
                    <a:p>
                      <a:r>
                        <a:rPr sz="1725" b="1">
                          <a:solidFill>
                            <a:srgbClr val="FFFFFF"/>
                          </a:solidFill>
                          <a:latin typeface="Helvetica Neue"/>
                          <a:ea typeface="Helvetica Neue"/>
                          <a:cs typeface="Helvetica Neue"/>
                        </a:rPr>
                        <a:t>Source company</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1000</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r h="342900">
                <a:tc>
                  <a:txBody>
                    <a:bodyPr wrap="square">
                      <a:noAutofit/>
                    </a:bodyPr>
                    <a:lstStyle/>
                    <a:p>
                      <a:r>
                        <a:rPr sz="1725" b="1">
                          <a:solidFill>
                            <a:srgbClr val="FFFFFF"/>
                          </a:solidFill>
                          <a:latin typeface="Helvetica Neue"/>
                          <a:ea typeface="Helvetica Neue"/>
                          <a:cs typeface="Helvetica Neue"/>
                        </a:rPr>
                        <a:t>Fiscal year</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2026</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342900">
                <a:tc>
                  <a:txBody>
                    <a:bodyPr wrap="square">
                      <a:noAutofit/>
                    </a:bodyPr>
                    <a:lstStyle/>
                    <a:p>
                      <a:r>
                        <a:rPr sz="1725" b="1">
                          <a:solidFill>
                            <a:srgbClr val="FFFFFF"/>
                          </a:solidFill>
                          <a:latin typeface="Helvetica Neue"/>
                          <a:ea typeface="Helvetica Neue"/>
                          <a:cs typeface="Helvetica Neue"/>
                        </a:rPr>
                        <a:t>Target / client</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CFIN-DEMO / 100</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r h="342900">
                <a:tc>
                  <a:txBody>
                    <a:bodyPr wrap="square">
                      <a:noAutofit/>
                    </a:bodyPr>
                    <a:lstStyle/>
                    <a:p>
                      <a:r>
                        <a:rPr sz="1725" b="1">
                          <a:solidFill>
                            <a:srgbClr val="FFFFFF"/>
                          </a:solidFill>
                          <a:latin typeface="Helvetica Neue"/>
                          <a:ea typeface="Helvetica Neue"/>
                          <a:cs typeface="Helvetica Neue"/>
                        </a:rPr>
                        <a:t>Attempt</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1</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342900">
                <a:tc>
                  <a:txBody>
                    <a:bodyPr wrap="square">
                      <a:noAutofit/>
                    </a:bodyPr>
                    <a:lstStyle/>
                    <a:p>
                      <a:r>
                        <a:rPr sz="1725" b="1">
                          <a:solidFill>
                            <a:srgbClr val="FFFFFF"/>
                          </a:solidFill>
                          <a:latin typeface="Helvetica Neue"/>
                          <a:ea typeface="Helvetica Neue"/>
                          <a:cs typeface="Helvetica Neue"/>
                        </a:rPr>
                        <a:t>Reported status</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Error</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bl>
          </a:graphicData>
        </a:graphic>
      </p:graphicFrame>
      <p:sp>
        <p:nvSpPr>
          <p:cNvPr id="6" name="aif-data-content">
            <a:extLst xmlns:a="http://schemas.openxmlformats.org/drawingml/2006/main">
              <a:ext uri="{FF2B5EF4-FFF2-40B4-BE49-F238E27FC236}">
                <a16:creationId xmlns:a16="http://schemas.microsoft.com/office/drawing/2014/main" id="{EE00AAF8-4636-4377-9FBD-C84FA4B92AB0}"/>
              </a:ext>
            </a:extLst>
          </p:cNvPr>
          <p:cNvSpPr>
            <a:spLocks xmlns:a="http://schemas.openxmlformats.org/drawingml/2006/main" noGrp="1"/>
          </p:cNvSpPr>
          <p:nvPr/>
        </p:nvSpPr>
        <p:spPr>
          <a:xfrm xmlns:a="http://schemas.openxmlformats.org/drawingml/2006/main">
            <a:off x="533400" y="5019675"/>
            <a:ext cx="6191250" cy="3038475"/>
          </a:xfrm>
          <a:prstGeom xmlns:a="http://schemas.openxmlformats.org/drawingml/2006/main" prst="roundRect">
            <a:avLst>
              <a:gd name="adj" fmla="val 3762"/>
            </a:avLst>
          </a:prstGeom>
          <a:solidFill xmlns:a="http://schemas.openxmlformats.org/drawingml/2006/main">
            <a:srgbClr val="FFFFFF"/>
          </a:solidFill>
          <a:ln xmlns:a="http://schemas.openxmlformats.org/drawingml/2006/main" w="0">
            <a:noFill/>
          </a:ln>
        </p:spPr>
      </p:sp>
      <p:sp>
        <p:nvSpPr>
          <p:cNvPr id="7" name="aif-data-content-title">
            <a:extLst xmlns:a="http://schemas.openxmlformats.org/drawingml/2006/main">
              <a:ext uri="{FF2B5EF4-FFF2-40B4-BE49-F238E27FC236}">
                <a16:creationId xmlns:a16="http://schemas.microsoft.com/office/drawing/2014/main" id="{72A0EFB0-E431-48FD-B257-FD73A4BA5E40}"/>
              </a:ext>
            </a:extLst>
          </p:cNvPr>
          <p:cNvSpPr>
            <a:spLocks xmlns:a="http://schemas.openxmlformats.org/drawingml/2006/main" noGrp="1"/>
          </p:cNvSpPr>
          <p:nvPr/>
        </p:nvSpPr>
        <p:spPr>
          <a:xfrm xmlns:a="http://schemas.openxmlformats.org/drawingml/2006/main">
            <a:off x="742950" y="5210175"/>
            <a:ext cx="5772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1">
                <a:solidFill>
                  <a:srgbClr val="2F6095"/>
                </a:solidFill>
                <a:latin typeface="Helvetica Neue"/>
                <a:ea typeface="Helvetica Neue"/>
                <a:cs typeface="Helvetica Neue"/>
              </a:defRPr>
            </a:pPr>
            <a:r>
              <a:rPr sz="2250" b="1">
                <a:solidFill>
                  <a:srgbClr val="2F6095"/>
                </a:solidFill>
                <a:latin typeface="Helvetica Neue"/>
                <a:ea typeface="Helvetica Neue"/>
                <a:cs typeface="Helvetica Neue"/>
              </a:rPr>
              <a:t>Data Content</a:t>
            </a:r>
          </a:p>
        </p:txBody>
      </p:sp>
      <p:graphicFrame>
        <p:nvGraphicFramePr>
          <p:cNvPr id="28" name=""/>
          <p:cNvGraphicFramePr/>
          <p:nvPr/>
        </p:nvGraphicFramePr>
        <p:xfrm>
          <a:off xmlns:a="http://schemas.openxmlformats.org/drawingml/2006/main" x="742950" y="5676900"/>
          <a:ext xmlns:a="http://schemas.openxmlformats.org/drawingml/2006/main" cx="5772150" cy="2190750"/>
        </p:xfrm>
        <a:graphic xmlns:a="http://schemas.openxmlformats.org/drawingml/2006/main">
          <a:graphicData uri="http://schemas.openxmlformats.org/drawingml/2006/table">
            <a:tbl>
              <a:tblPr firstRow="0" bandRow="0"/>
              <a:tblGrid>
                <a:gridCol w="2457450"/>
                <a:gridCol w="3314700"/>
              </a:tblGrid>
              <a:tr h="438150">
                <a:tc>
                  <a:txBody>
                    <a:bodyPr wrap="square">
                      <a:noAutofit/>
                    </a:bodyPr>
                    <a:lstStyle/>
                    <a:p>
                      <a:r>
                        <a:rPr sz="1725" b="1">
                          <a:solidFill>
                            <a:srgbClr val="FFFFFF"/>
                          </a:solidFill>
                          <a:latin typeface="Helvetica Neue"/>
                          <a:ea typeface="Helvetica Neue"/>
                          <a:cs typeface="Helvetica Neue"/>
                        </a:rPr>
                        <a:t>Item</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0001</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438150">
                <a:tc>
                  <a:txBody>
                    <a:bodyPr wrap="square">
                      <a:noAutofit/>
                    </a:bodyPr>
                    <a:lstStyle/>
                    <a:p>
                      <a:r>
                        <a:rPr sz="1725" b="1">
                          <a:solidFill>
                            <a:srgbClr val="FFFFFF"/>
                          </a:solidFill>
                          <a:latin typeface="Helvetica Neue"/>
                          <a:ea typeface="Helvetica Neue"/>
                          <a:cs typeface="Helvetica Neue"/>
                        </a:rPr>
                        <a:t>Source G/L account</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0000400000</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r h="438150">
                <a:tc>
                  <a:txBody>
                    <a:bodyPr wrap="square">
                      <a:noAutofit/>
                    </a:bodyPr>
                    <a:lstStyle/>
                    <a:p>
                      <a:r>
                        <a:rPr sz="1725" b="1">
                          <a:solidFill>
                            <a:srgbClr val="FFFFFF"/>
                          </a:solidFill>
                          <a:latin typeface="Helvetica Neue"/>
                          <a:ea typeface="Helvetica Neue"/>
                          <a:cs typeface="Helvetica Neue"/>
                        </a:rPr>
                        <a:t>Attempted target G/L</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0000410000</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438150">
                <a:tc>
                  <a:txBody>
                    <a:bodyPr wrap="square">
                      <a:noAutofit/>
                    </a:bodyPr>
                    <a:lstStyle/>
                    <a:p>
                      <a:r>
                        <a:rPr sz="1725" b="1">
                          <a:solidFill>
                            <a:srgbClr val="FFFFFF"/>
                          </a:solidFill>
                          <a:latin typeface="Helvetica Neue"/>
                          <a:ea typeface="Helvetica Neue"/>
                          <a:cs typeface="Helvetica Neue"/>
                        </a:rPr>
                        <a:t>Target company</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2000</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r h="438150">
                <a:tc>
                  <a:txBody>
                    <a:bodyPr wrap="square">
                      <a:noAutofit/>
                    </a:bodyPr>
                    <a:lstStyle/>
                    <a:p>
                      <a:r>
                        <a:rPr sz="1725" b="1">
                          <a:solidFill>
                            <a:srgbClr val="FFFFFF"/>
                          </a:solidFill>
                          <a:latin typeface="Helvetica Neue"/>
                          <a:ea typeface="Helvetica Neue"/>
                          <a:cs typeface="Helvetica Neue"/>
                        </a:rPr>
                        <a:t>Debit</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GBP 1,250.00</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bl>
          </a:graphicData>
        </a:graphic>
      </p:graphicFrame>
      <p:sp>
        <p:nvSpPr>
          <p:cNvPr id="9" name="aif-log-messages">
            <a:extLst xmlns:a="http://schemas.openxmlformats.org/drawingml/2006/main">
              <a:ext uri="{FF2B5EF4-FFF2-40B4-BE49-F238E27FC236}">
                <a16:creationId xmlns:a16="http://schemas.microsoft.com/office/drawing/2014/main" id="{2011793D-3D0F-44AE-9D0E-635BCC911D48}"/>
              </a:ext>
            </a:extLst>
          </p:cNvPr>
          <p:cNvSpPr>
            <a:spLocks xmlns:a="http://schemas.openxmlformats.org/drawingml/2006/main" noGrp="1"/>
          </p:cNvSpPr>
          <p:nvPr/>
        </p:nvSpPr>
        <p:spPr>
          <a:xfrm xmlns:a="http://schemas.openxmlformats.org/drawingml/2006/main">
            <a:off x="6953250" y="1971675"/>
            <a:ext cx="7753350" cy="2133600"/>
          </a:xfrm>
          <a:prstGeom xmlns:a="http://schemas.openxmlformats.org/drawingml/2006/main" prst="roundRect">
            <a:avLst>
              <a:gd name="adj" fmla="val 5357"/>
            </a:avLst>
          </a:prstGeom>
          <a:solidFill xmlns:a="http://schemas.openxmlformats.org/drawingml/2006/main">
            <a:srgbClr val="FFFFFF"/>
          </a:solidFill>
          <a:ln xmlns:a="http://schemas.openxmlformats.org/drawingml/2006/main" w="0">
            <a:noFill/>
          </a:ln>
        </p:spPr>
      </p:sp>
      <p:sp>
        <p:nvSpPr>
          <p:cNvPr id="10" name="aif-log-messages-title">
            <a:extLst xmlns:a="http://schemas.openxmlformats.org/drawingml/2006/main">
              <a:ext uri="{FF2B5EF4-FFF2-40B4-BE49-F238E27FC236}">
                <a16:creationId xmlns:a16="http://schemas.microsoft.com/office/drawing/2014/main" id="{338BBF36-AF98-48DF-BA44-A504E4A0EEBC}"/>
              </a:ext>
            </a:extLst>
          </p:cNvPr>
          <p:cNvSpPr>
            <a:spLocks xmlns:a="http://schemas.openxmlformats.org/drawingml/2006/main" noGrp="1"/>
          </p:cNvSpPr>
          <p:nvPr/>
        </p:nvSpPr>
        <p:spPr>
          <a:xfrm xmlns:a="http://schemas.openxmlformats.org/drawingml/2006/main">
            <a:off x="7181850" y="2162175"/>
            <a:ext cx="7296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1">
                <a:solidFill>
                  <a:srgbClr val="2F6095"/>
                </a:solidFill>
                <a:latin typeface="Helvetica Neue"/>
                <a:ea typeface="Helvetica Neue"/>
                <a:cs typeface="Helvetica Neue"/>
              </a:defRPr>
            </a:pPr>
            <a:r>
              <a:rPr sz="2250" b="1">
                <a:solidFill>
                  <a:srgbClr val="2F6095"/>
                </a:solidFill>
                <a:latin typeface="Helvetica Neue"/>
                <a:ea typeface="Helvetica Neue"/>
                <a:cs typeface="Helvetica Neue"/>
              </a:rPr>
              <a:t>Log Messages</a:t>
            </a:r>
          </a:p>
        </p:txBody>
      </p:sp>
      <p:sp>
        <p:nvSpPr>
          <p:cNvPr id="11" name="aif-reported-error">
            <a:extLst xmlns:a="http://schemas.openxmlformats.org/drawingml/2006/main">
              <a:ext uri="{FF2B5EF4-FFF2-40B4-BE49-F238E27FC236}">
                <a16:creationId xmlns:a16="http://schemas.microsoft.com/office/drawing/2014/main" id="{0D35E9C5-5FF7-4E63-88E8-D95E5ACF27B1}"/>
              </a:ext>
            </a:extLst>
          </p:cNvPr>
          <p:cNvSpPr>
            <a:spLocks xmlns:a="http://schemas.openxmlformats.org/drawingml/2006/main" noGrp="1"/>
          </p:cNvSpPr>
          <p:nvPr/>
        </p:nvSpPr>
        <p:spPr>
          <a:xfrm xmlns:a="http://schemas.openxmlformats.org/drawingml/2006/main">
            <a:off x="7181850" y="2705100"/>
            <a:ext cx="7296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15304C"/>
                </a:solidFill>
                <a:latin typeface="Helvetica Neue"/>
                <a:ea typeface="Helvetica Neue"/>
                <a:cs typeface="Helvetica Neue"/>
              </a:defRPr>
            </a:pPr>
            <a:r>
              <a:rPr sz="2100" b="0">
                <a:solidFill>
                  <a:srgbClr val="15304C"/>
                </a:solidFill>
                <a:latin typeface="Helvetica Neue"/>
                <a:ea typeface="Helvetica Neue"/>
                <a:cs typeface="Helvetica Neue"/>
              </a:rPr>
              <a:t>“G/L account 0000410000 is not maintained</a:t>
            </a:r>
          </a:p>
          <a:p xmlns:a="http://schemas.openxmlformats.org/drawingml/2006/main">
            <a:pPr algn="l">
              <a:defRPr sz="2100" b="0">
                <a:solidFill>
                  <a:srgbClr val="15304C"/>
                </a:solidFill>
                <a:latin typeface="Helvetica Neue"/>
                <a:ea typeface="Helvetica Neue"/>
                <a:cs typeface="Helvetica Neue"/>
              </a:defRPr>
            </a:pPr>
            <a:r>
              <a:rPr sz="2100" b="0">
                <a:solidFill>
                  <a:srgbClr val="15304C"/>
                </a:solidFill>
                <a:latin typeface="Helvetica Neue"/>
                <a:ea typeface="Helvetica Neue"/>
                <a:cs typeface="Helvetica Neue"/>
              </a:rPr>
              <a:t>in company code 2000.”</a:t>
            </a:r>
          </a:p>
        </p:txBody>
      </p:sp>
      <p:sp>
        <p:nvSpPr>
          <p:cNvPr id="12" name="aif-reported-outcome">
            <a:extLst xmlns:a="http://schemas.openxmlformats.org/drawingml/2006/main">
              <a:ext uri="{FF2B5EF4-FFF2-40B4-BE49-F238E27FC236}">
                <a16:creationId xmlns:a16="http://schemas.microsoft.com/office/drawing/2014/main" id="{2D17C3C3-61BC-404A-9CB8-D717C31468C4}"/>
              </a:ext>
            </a:extLst>
          </p:cNvPr>
          <p:cNvSpPr>
            <a:spLocks xmlns:a="http://schemas.openxmlformats.org/drawingml/2006/main" noGrp="1"/>
          </p:cNvSpPr>
          <p:nvPr/>
        </p:nvSpPr>
        <p:spPr>
          <a:xfrm xmlns:a="http://schemas.openxmlformats.org/drawingml/2006/main">
            <a:off x="7181850" y="3495675"/>
            <a:ext cx="72961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Posting stopped for attempt 1.</a:t>
            </a:r>
          </a:p>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No target document reference was returned.</a:t>
            </a:r>
          </a:p>
        </p:txBody>
      </p:sp>
      <p:sp>
        <p:nvSpPr>
          <p:cNvPr id="13" name="aif-data-structure">
            <a:extLst xmlns:a="http://schemas.openxmlformats.org/drawingml/2006/main">
              <a:ext uri="{FF2B5EF4-FFF2-40B4-BE49-F238E27FC236}">
                <a16:creationId xmlns:a16="http://schemas.microsoft.com/office/drawing/2014/main" id="{EC7ED719-31F1-48CF-889B-355A2A656937}"/>
              </a:ext>
            </a:extLst>
          </p:cNvPr>
          <p:cNvSpPr>
            <a:spLocks xmlns:a="http://schemas.openxmlformats.org/drawingml/2006/main" noGrp="1"/>
          </p:cNvSpPr>
          <p:nvPr/>
        </p:nvSpPr>
        <p:spPr>
          <a:xfrm xmlns:a="http://schemas.openxmlformats.org/drawingml/2006/main">
            <a:off x="6953250" y="4276725"/>
            <a:ext cx="7753350" cy="108585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0">
            <a:noFill/>
          </a:ln>
        </p:spPr>
      </p:sp>
      <p:sp>
        <p:nvSpPr>
          <p:cNvPr id="14" name="aif-data-structure-title">
            <a:extLst xmlns:a="http://schemas.openxmlformats.org/drawingml/2006/main">
              <a:ext uri="{FF2B5EF4-FFF2-40B4-BE49-F238E27FC236}">
                <a16:creationId xmlns:a16="http://schemas.microsoft.com/office/drawing/2014/main" id="{B30324DB-0F5B-4E70-A067-0933DEC0B55D}"/>
              </a:ext>
            </a:extLst>
          </p:cNvPr>
          <p:cNvSpPr>
            <a:spLocks xmlns:a="http://schemas.openxmlformats.org/drawingml/2006/main" noGrp="1"/>
          </p:cNvSpPr>
          <p:nvPr/>
        </p:nvSpPr>
        <p:spPr>
          <a:xfrm xmlns:a="http://schemas.openxmlformats.org/drawingml/2006/main">
            <a:off x="7181850" y="4448175"/>
            <a:ext cx="7296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2F6095"/>
                </a:solidFill>
                <a:latin typeface="Helvetica Neue"/>
                <a:ea typeface="Helvetica Neue"/>
                <a:cs typeface="Helvetica Neue"/>
              </a:defRPr>
            </a:pPr>
            <a:r>
              <a:rPr sz="2100" b="1">
                <a:solidFill>
                  <a:srgbClr val="2F6095"/>
                </a:solidFill>
                <a:latin typeface="Helvetica Neue"/>
                <a:ea typeface="Helvetica Neue"/>
                <a:cs typeface="Helvetica Neue"/>
              </a:rPr>
              <a:t>Data Structure: error field link</a:t>
            </a:r>
          </a:p>
        </p:txBody>
      </p:sp>
      <p:sp>
        <p:nvSpPr>
          <p:cNvPr id="15" name="aif-field-path">
            <a:extLst xmlns:a="http://schemas.openxmlformats.org/drawingml/2006/main">
              <a:ext uri="{FF2B5EF4-FFF2-40B4-BE49-F238E27FC236}">
                <a16:creationId xmlns:a16="http://schemas.microsoft.com/office/drawing/2014/main" id="{1BFBFCE5-C8B6-4F31-AB0A-4723E10F7541}"/>
              </a:ext>
            </a:extLst>
          </p:cNvPr>
          <p:cNvSpPr>
            <a:spLocks xmlns:a="http://schemas.openxmlformats.org/drawingml/2006/main" noGrp="1"/>
          </p:cNvSpPr>
          <p:nvPr/>
        </p:nvSpPr>
        <p:spPr>
          <a:xfrm xmlns:a="http://schemas.openxmlformats.org/drawingml/2006/main">
            <a:off x="7181850" y="4895850"/>
            <a:ext cx="7296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0">
                <a:solidFill>
                  <a:srgbClr val="15304C"/>
                </a:solidFill>
                <a:latin typeface="Courier New"/>
                <a:ea typeface="Courier New"/>
                <a:cs typeface="Courier New"/>
              </a:defRPr>
            </a:pPr>
            <a:r>
              <a:rPr sz="2025" b="0">
                <a:solidFill>
                  <a:srgbClr val="15304C"/>
                </a:solidFill>
                <a:latin typeface="Courier New"/>
                <a:ea typeface="Courier New"/>
                <a:cs typeface="Courier New"/>
              </a:rPr>
              <a:t>Items[1].target_gl_account</a:t>
            </a:r>
          </a:p>
        </p:txBody>
      </p:sp>
      <p:sp>
        <p:nvSpPr>
          <p:cNvPr id="16" name="aif-error-details">
            <a:extLst xmlns:a="http://schemas.openxmlformats.org/drawingml/2006/main">
              <a:ext uri="{FF2B5EF4-FFF2-40B4-BE49-F238E27FC236}">
                <a16:creationId xmlns:a16="http://schemas.microsoft.com/office/drawing/2014/main" id="{BBD63C9F-1A25-491E-80D7-0271DA832130}"/>
              </a:ext>
            </a:extLst>
          </p:cNvPr>
          <p:cNvSpPr>
            <a:spLocks xmlns:a="http://schemas.openxmlformats.org/drawingml/2006/main" noGrp="1"/>
          </p:cNvSpPr>
          <p:nvPr/>
        </p:nvSpPr>
        <p:spPr>
          <a:xfrm xmlns:a="http://schemas.openxmlformats.org/drawingml/2006/main">
            <a:off x="6953250" y="5534025"/>
            <a:ext cx="7753350" cy="2524125"/>
          </a:xfrm>
          <a:prstGeom xmlns:a="http://schemas.openxmlformats.org/drawingml/2006/main" prst="roundRect">
            <a:avLst>
              <a:gd name="adj" fmla="val 4528"/>
            </a:avLst>
          </a:prstGeom>
          <a:solidFill xmlns:a="http://schemas.openxmlformats.org/drawingml/2006/main">
            <a:srgbClr val="FFFFFF"/>
          </a:solidFill>
          <a:ln xmlns:a="http://schemas.openxmlformats.org/drawingml/2006/main" w="0">
            <a:noFill/>
          </a:ln>
        </p:spPr>
      </p:sp>
      <p:sp>
        <p:nvSpPr>
          <p:cNvPr id="17" name="aif-error-details-title">
            <a:extLst xmlns:a="http://schemas.openxmlformats.org/drawingml/2006/main">
              <a:ext uri="{FF2B5EF4-FFF2-40B4-BE49-F238E27FC236}">
                <a16:creationId xmlns:a16="http://schemas.microsoft.com/office/drawing/2014/main" id="{FEB5717D-6C73-4E0F-B280-AA4A6C8EA781}"/>
              </a:ext>
            </a:extLst>
          </p:cNvPr>
          <p:cNvSpPr>
            <a:spLocks xmlns:a="http://schemas.openxmlformats.org/drawingml/2006/main" noGrp="1"/>
          </p:cNvSpPr>
          <p:nvPr/>
        </p:nvSpPr>
        <p:spPr>
          <a:xfrm xmlns:a="http://schemas.openxmlformats.org/drawingml/2006/main">
            <a:off x="7181850" y="5715000"/>
            <a:ext cx="7296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1">
                <a:solidFill>
                  <a:srgbClr val="2F6095"/>
                </a:solidFill>
                <a:latin typeface="Helvetica Neue"/>
                <a:ea typeface="Helvetica Neue"/>
                <a:cs typeface="Helvetica Neue"/>
              </a:defRPr>
            </a:pPr>
            <a:r>
              <a:rPr sz="2250" b="1">
                <a:solidFill>
                  <a:srgbClr val="2F6095"/>
                </a:solidFill>
                <a:latin typeface="Helvetica Neue"/>
                <a:ea typeface="Helvetica Neue"/>
                <a:cs typeface="Helvetica Neue"/>
              </a:rPr>
              <a:t>Error details</a:t>
            </a:r>
          </a:p>
        </p:txBody>
      </p:sp>
      <p:graphicFrame>
        <p:nvGraphicFramePr>
          <p:cNvPr id="38" name=""/>
          <p:cNvGraphicFramePr/>
          <p:nvPr/>
        </p:nvGraphicFramePr>
        <p:xfrm>
          <a:off xmlns:a="http://schemas.openxmlformats.org/drawingml/2006/main" x="7181850" y="6191250"/>
          <a:ext xmlns:a="http://schemas.openxmlformats.org/drawingml/2006/main" cx="7296150" cy="1409700"/>
        </p:xfrm>
        <a:graphic xmlns:a="http://schemas.openxmlformats.org/drawingml/2006/main">
          <a:graphicData uri="http://schemas.openxmlformats.org/drawingml/2006/table">
            <a:tbl>
              <a:tblPr firstRow="0" bandRow="0"/>
              <a:tblGrid>
                <a:gridCol w="2076450"/>
                <a:gridCol w="5219700"/>
              </a:tblGrid>
              <a:tr h="352425">
                <a:tc>
                  <a:txBody>
                    <a:bodyPr wrap="square">
                      <a:noAutofit/>
                    </a:bodyPr>
                    <a:lstStyle/>
                    <a:p>
                      <a:r>
                        <a:rPr sz="1725" b="1">
                          <a:solidFill>
                            <a:srgbClr val="FFFFFF"/>
                          </a:solidFill>
                          <a:latin typeface="Helvetica Neue"/>
                          <a:ea typeface="Helvetica Neue"/>
                          <a:cs typeface="Helvetica Neue"/>
                        </a:rPr>
                        <a:t>MSGTY</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E (Error)</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352425">
                <a:tc>
                  <a:txBody>
                    <a:bodyPr wrap="square">
                      <a:noAutofit/>
                    </a:bodyPr>
                    <a:lstStyle/>
                    <a:p>
                      <a:r>
                        <a:rPr sz="1725" b="1">
                          <a:solidFill>
                            <a:srgbClr val="FFFFFF"/>
                          </a:solidFill>
                          <a:latin typeface="Helvetica Neue"/>
                          <a:ea typeface="Helvetica Neue"/>
                          <a:cs typeface="Helvetica Neue"/>
                        </a:rPr>
                        <a:t>MSGID</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Z_DEMO_CFIN</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r h="352425">
                <a:tc>
                  <a:txBody>
                    <a:bodyPr wrap="square">
                      <a:noAutofit/>
                    </a:bodyPr>
                    <a:lstStyle/>
                    <a:p>
                      <a:r>
                        <a:rPr sz="1725" b="1">
                          <a:solidFill>
                            <a:srgbClr val="FFFFFF"/>
                          </a:solidFill>
                          <a:latin typeface="Helvetica Neue"/>
                          <a:ea typeface="Helvetica Neue"/>
                          <a:cs typeface="Helvetica Neue"/>
                        </a:rPr>
                        <a:t>MSGNO</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001</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352425">
                <a:tc>
                  <a:txBody>
                    <a:bodyPr wrap="square">
                      <a:noAutofit/>
                    </a:bodyPr>
                    <a:lstStyle/>
                    <a:p>
                      <a:r>
                        <a:rPr sz="1725" b="1">
                          <a:solidFill>
                            <a:srgbClr val="FFFFFF"/>
                          </a:solidFill>
                          <a:latin typeface="Helvetica Neue"/>
                          <a:ea typeface="Helvetica Neue"/>
                          <a:cs typeface="Helvetica Neue"/>
                        </a:rPr>
                        <a:t>Message values</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Account 0000410000, company 2000</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bl>
          </a:graphicData>
        </a:graphic>
      </p:graphicFrame>
      <p:sp>
        <p:nvSpPr>
          <p:cNvPr id="19" name="aif-template-note">
            <a:extLst xmlns:a="http://schemas.openxmlformats.org/drawingml/2006/main">
              <a:ext uri="{FF2B5EF4-FFF2-40B4-BE49-F238E27FC236}">
                <a16:creationId xmlns:a16="http://schemas.microsoft.com/office/drawing/2014/main" id="{6D354D68-E525-4E3C-85FD-57906E6B3648}"/>
              </a:ext>
            </a:extLst>
          </p:cNvPr>
          <p:cNvSpPr>
            <a:spLocks xmlns:a="http://schemas.openxmlformats.org/drawingml/2006/main" noGrp="1"/>
          </p:cNvSpPr>
          <p:nvPr/>
        </p:nvSpPr>
        <p:spPr>
          <a:xfrm xmlns:a="http://schemas.openxmlformats.org/drawingml/2006/main">
            <a:off x="7181850" y="7772400"/>
            <a:ext cx="7296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00" b="0">
                <a:solidFill>
                  <a:srgbClr val="52677F"/>
                </a:solidFill>
                <a:latin typeface="Helvetica Neue"/>
                <a:ea typeface="Helvetica Neue"/>
                <a:cs typeface="Helvetica Neue"/>
              </a:defRPr>
            </a:pPr>
            <a:r>
              <a:rPr sz="1500" b="0">
                <a:solidFill>
                  <a:srgbClr val="52677F"/>
                </a:solidFill>
                <a:latin typeface="Helvetica Neue"/>
                <a:ea typeface="Helvetica Neue"/>
                <a:cs typeface="Helvetica Neue"/>
              </a:rPr>
              <a:t>Exact template and MSGV1–MSGV4 order are not shown here.</a:t>
            </a:r>
          </a:p>
        </p:txBody>
      </p:sp>
      <p:sp>
        <p:nvSpPr>
          <p:cNvPr id="20" name="aif-example-limit">
            <a:extLst xmlns:a="http://schemas.openxmlformats.org/drawingml/2006/main">
              <a:ext uri="{FF2B5EF4-FFF2-40B4-BE49-F238E27FC236}">
                <a16:creationId xmlns:a16="http://schemas.microsoft.com/office/drawing/2014/main" id="{42DD1E7D-E3BD-4EA9-9430-F94AAFA5870C}"/>
              </a:ext>
            </a:extLst>
          </p:cNvPr>
          <p:cNvSpPr>
            <a:spLocks xmlns:a="http://schemas.openxmlformats.org/drawingml/2006/main" noGrp="1"/>
          </p:cNvSpPr>
          <p:nvPr/>
        </p:nvSpPr>
        <p:spPr>
          <a:xfrm xmlns:a="http://schemas.openxmlformats.org/drawingml/2006/main">
            <a:off x="533400" y="8277225"/>
            <a:ext cx="14173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425" b="0">
                <a:solidFill>
                  <a:srgbClr val="52677F"/>
                </a:solidFill>
                <a:latin typeface="Helvetica Neue"/>
                <a:ea typeface="Helvetica Neue"/>
                <a:cs typeface="Helvetica Neue"/>
              </a:defRPr>
            </a:pPr>
            <a:r>
              <a:rPr sz="1425" b="0">
                <a:solidFill>
                  <a:srgbClr val="52677F"/>
                </a:solidFill>
                <a:latin typeface="Helvetica Neue"/>
                <a:ea typeface="Helvetica Neue"/>
                <a:cs typeface="Helvetica Neue"/>
              </a:rPr>
              <a:t>Synthetic teaching example, not an SAP export. Error details are message metadata, not a universal fifth tab.</a:t>
            </a:r>
          </a:p>
        </p:txBody>
      </p:sp>
    </p:spTree>
    <p:extLst>
      <p:ext uri="{BB962C8B-B14F-4D97-AF65-F5344CB8AC3E}">
        <p14:creationId xmlns:p14="http://schemas.microsoft.com/office/powerpoint/2010/main" val="1842218478"/>
      </p:ext>
    </p:extLst>
  </p:cSld>
</p:sld>
</file>

<file path=ppt/slides/slide6.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7D9B8D8-708F-4C03-B296-87E426CD2AEF}"/>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AIF example: full log used in development</a:t>
            </a:r>
          </a:p>
        </p:txBody>
      </p:sp>
      <p:sp>
        <p:nvSpPr>
          <p:cNvPr id="2" name="subtitle">
            <a:extLst xmlns:a="http://schemas.openxmlformats.org/drawingml/2006/main">
              <a:ext uri="{FF2B5EF4-FFF2-40B4-BE49-F238E27FC236}">
                <a16:creationId xmlns:a16="http://schemas.microsoft.com/office/drawing/2014/main" id="{92822531-D1B1-4034-A7FC-2E8301B6896E}"/>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MD-01, document 0000123456. Synthetic application log, not an SAP export.</a:t>
            </a:r>
          </a:p>
        </p:txBody>
      </p:sp>
      <p:sp>
        <p:nvSpPr>
          <p:cNvPr id="3" name="full-original-log">
            <a:extLst xmlns:a="http://schemas.openxmlformats.org/drawingml/2006/main">
              <a:ext uri="{FF2B5EF4-FFF2-40B4-BE49-F238E27FC236}">
                <a16:creationId xmlns:a16="http://schemas.microsoft.com/office/drawing/2014/main" id="{A898AE61-E38C-48DE-BE4B-9A373B1CDD2B}"/>
              </a:ext>
            </a:extLst>
          </p:cNvPr>
          <p:cNvSpPr>
            <a:spLocks xmlns:a="http://schemas.openxmlformats.org/drawingml/2006/main" noGrp="1"/>
          </p:cNvSpPr>
          <p:nvPr/>
        </p:nvSpPr>
        <p:spPr>
          <a:xfrm xmlns:a="http://schemas.openxmlformats.org/drawingml/2006/main">
            <a:off x="533400" y="1952625"/>
            <a:ext cx="14173200" cy="6067425"/>
          </a:xfrm>
          <a:prstGeom xmlns:a="http://schemas.openxmlformats.org/drawingml/2006/main" prst="roundRect">
            <a:avLst>
              <a:gd name="adj" fmla="val 1884"/>
            </a:avLst>
          </a:prstGeom>
          <a:solidFill xmlns:a="http://schemas.openxmlformats.org/drawingml/2006/main">
            <a:srgbClr val="15304C"/>
          </a:solidFill>
          <a:ln xmlns:a="http://schemas.openxmlformats.org/drawingml/2006/main" w="0">
            <a:noFill/>
          </a:ln>
        </p:spPr>
      </p:sp>
      <p:sp>
        <p:nvSpPr>
          <p:cNvPr id="4" name="full-original-log-text">
            <a:extLst xmlns:a="http://schemas.openxmlformats.org/drawingml/2006/main">
              <a:ext uri="{FF2B5EF4-FFF2-40B4-BE49-F238E27FC236}">
                <a16:creationId xmlns:a16="http://schemas.microsoft.com/office/drawing/2014/main" id="{3EDB093C-D14E-4649-8BEB-D2F5D69B7473}"/>
              </a:ext>
            </a:extLst>
          </p:cNvPr>
          <p:cNvSpPr>
            <a:spLocks xmlns:a="http://schemas.openxmlformats.org/drawingml/2006/main" noGrp="1"/>
          </p:cNvSpPr>
          <p:nvPr/>
        </p:nvSpPr>
        <p:spPr>
          <a:xfrm xmlns:a="http://schemas.openxmlformats.org/drawingml/2006/main">
            <a:off x="762000" y="2133600"/>
            <a:ext cx="13716000" cy="571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SYNTHETIC FIXTURE — MD-01; fictional application log, not an SAP export.</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No SAP release, message class, message number, or product-specific interface semantics are asserted.</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2026-09-30T09:00:00Z | attempt_id=MD01-0001 | processing_order=1 | event=replication_started</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source_system=ERP-DEMO | source_client=010 | source_company_code=0010</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fiscal_year=2026 | document_number=0000123456 | source_status=posted</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source_posting_date=2026-09-30 | source_posted_at=2026-09-30T08:45:00Z</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target_system=CFIN-DEMO | target_client=100 | target_company_code=0010</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interface=DEMO_CFIN_GL | target_chart_of_accounts=SYN1</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source_line=0001 | source_account=0000400000 | debit=1250.00 | credit=0.00 | currency=GBP</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source_line=0002 | source_account=0000200000 | debit=0.00 | credit=1250.00 | currency=GBP</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2026-09-30T09:00:00Z | synthetic_message_id=DEMO_GL_LOOKUP_FAILURE | severity=error</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Observed target lookup: G/L account 0041001000 could not be located for chart SYN1 in CFIN-DEMO/100.</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Requested posting company code: 0010. Requested target line: 0001.</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2026-09-30T09:00:00Z | synthetic_message_id=DEMO_POSTING_STOPPED | severity=error</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Target posting stopped for this attempt; no target document reference was returned.</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2026-09-30T09:00:00Z | event=replication_finished | result=failed</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Evidence is limited to this attempt. Error wording alone does not establish an approved diagnosis.</a:t>
            </a:r>
          </a:p>
        </p:txBody>
      </p:sp>
      <p:sp>
        <p:nvSpPr>
          <p:cNvPr id="5" name="full-log-note">
            <a:extLst xmlns:a="http://schemas.openxmlformats.org/drawingml/2006/main">
              <a:ext uri="{FF2B5EF4-FFF2-40B4-BE49-F238E27FC236}">
                <a16:creationId xmlns:a16="http://schemas.microsoft.com/office/drawing/2014/main" id="{A394476B-38ED-4043-A5B5-3D255B423A3F}"/>
              </a:ext>
            </a:extLst>
          </p:cNvPr>
          <p:cNvSpPr>
            <a:spLocks xmlns:a="http://schemas.openxmlformats.org/drawingml/2006/main" noGrp="1"/>
          </p:cNvSpPr>
          <p:nvPr/>
        </p:nvSpPr>
        <p:spPr>
          <a:xfrm xmlns:a="http://schemas.openxmlformats.org/drawingml/2006/main">
            <a:off x="533400" y="8201025"/>
            <a:ext cx="14173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75" b="0">
                <a:solidFill>
                  <a:srgbClr val="52677F"/>
                </a:solidFill>
                <a:latin typeface="Helvetica Neue"/>
                <a:ea typeface="Helvetica Neue"/>
                <a:cs typeface="Helvetica Neue"/>
              </a:defRPr>
            </a:pPr>
            <a:r>
              <a:rPr sz="1575" b="0">
                <a:solidFill>
                  <a:srgbClr val="52677F"/>
                </a:solidFill>
                <a:latin typeface="Helvetica Neue"/>
                <a:ea typeface="Helvetica Neue"/>
                <a:cs typeface="Helvetica Neue"/>
              </a:rPr>
              <a:t>Complete original shown. This is a different synthetic example from the multi-view case on the previous slide.</a:t>
            </a:r>
          </a:p>
        </p:txBody>
      </p:sp>
    </p:spTree>
    <p:extLst>
      <p:ext uri="{BB962C8B-B14F-4D97-AF65-F5344CB8AC3E}">
        <p14:creationId xmlns:p14="http://schemas.microsoft.com/office/powerpoint/2010/main" val="9559137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2026-10-02T13:57:36.4460000Z</dcterms:created>
  <dcterms:modified xsi:type="dcterms:W3CDTF">2026-10-02T13:57:36.4460000Z</dcterms:modified>
</coreProperties>
</file>