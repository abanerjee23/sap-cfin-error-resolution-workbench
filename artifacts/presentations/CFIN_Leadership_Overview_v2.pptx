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0c65b7da23487b" /><Relationship Type="http://schemas.openxmlformats.org/officeDocument/2006/relationships/extended-properties" Target="/docProps/app.xml" Id="R9b1dd9ecffa64506" /><Relationship Type="http://schemas.openxmlformats.org/officeDocument/2006/relationships/officeDocument" Target="/ppt/presentation.xml" Id="R4adc64f9f59a495d" /></Relationships>
</file>

<file path=ppt/presentation.xml><?xml version="1.0" encoding="utf-8"?>
<p:presentation xmlns:p="http://schemas.openxmlformats.org/presentationml/2006/main">
  <p:sldMasterIdLst>
    <p:sldMasterId xmlns:r="http://schemas.openxmlformats.org/officeDocument/2006/relationships" id="2147483648" r:id="Rc9dd68fa86204d62"/>
  </p:sldMasterIdLst>
  <p:notesMasterIdLst>
    <p:notesMasterId xmlns:r="http://schemas.openxmlformats.org/officeDocument/2006/relationships" r:id="R0c432938d96d4f07"/>
  </p:notesMasterIdLst>
  <p:sldIdLst>
    <p:sldId xmlns:r="http://schemas.openxmlformats.org/officeDocument/2006/relationships" id="256" r:id="Rf8c4d9fdb0ec466f"/>
    <p:sldId xmlns:r="http://schemas.openxmlformats.org/officeDocument/2006/relationships" id="257" r:id="R22a44787272e4f09"/>
    <p:sldId xmlns:r="http://schemas.openxmlformats.org/officeDocument/2006/relationships" id="258" r:id="R68d56cb3bce74c9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bcffe29a3343af" /><Relationship Type="http://schemas.openxmlformats.org/officeDocument/2006/relationships/slideMaster" Target="/ppt/slideMasters/slideMaster1.xml" Id="Rc9dd68fa86204d62" /><Relationship Type="http://schemas.openxmlformats.org/officeDocument/2006/relationships/notesMaster" Target="/ppt/notesMasters/notesMaster1.xml" Id="R0c432938d96d4f07" /><Relationship Type="http://schemas.openxmlformats.org/officeDocument/2006/relationships/presProps" Target="/ppt/presProps.xml" Id="R85374ce09efe4b3f" /><Relationship Type="http://schemas.openxmlformats.org/officeDocument/2006/relationships/tableStyles" Target="/ppt/tableStyles.xml" Id="Reaede9819d914a6e" /><Relationship Type="http://schemas.openxmlformats.org/officeDocument/2006/relationships/slide" Target="/ppt/slides/slide1.xml" Id="Rf8c4d9fdb0ec466f" /><Relationship Type="http://schemas.openxmlformats.org/officeDocument/2006/relationships/slide" Target="/ppt/slides/slide2.xml" Id="R22a44787272e4f09" /><Relationship Type="http://schemas.openxmlformats.org/officeDocument/2006/relationships/slide" Target="/ppt/slides/slide3.xml" Id="R68d56cb3bce74c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31a66dde7e4d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4b65fcb12b4cd5" /><Relationship Type="http://schemas.openxmlformats.org/officeDocument/2006/relationships/notesMaster" Target="/ppt/notesMasters/notesMaster1.xml" Id="R22ec38a940624a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d793ead2a847f3" /><Relationship Type="http://schemas.openxmlformats.org/officeDocument/2006/relationships/notesMaster" Target="/ppt/notesMasters/notesMaster1.xml" Id="R896de2f4262141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28a7fe23ee4b39" /><Relationship Type="http://schemas.openxmlformats.org/officeDocument/2006/relationships/notesMaster" Target="/ppt/notesMasters/notesMaster1.xml" Id="Re943efa84e354e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job is to make the exception understandable. Analysts currently connect log messages, identifiers and payload details themselves. The app prepares a factual brief with the complete original available for validation. People retain investigation and resolution responsibility. Analysis is limited to what the supplied evidence supports. Faster understanding is an intended benefit, and we will measure it through representative samples and analyst review. Historical records remain separate from present-case evidence.</a:t>
            </a:r>
          </a:p>
          <a:p xmlns:a="http://schemas.openxmlformats.org/drawingml/2006/main">
            <a:r>
              <a:t/>
            </a:r>
          </a:p>
          <a:p xmlns:a="http://schemas.openxmlformats.org/drawingml/2006/main">
            <a:r>
              <a:t>Sources: README.md (product goal, user value and evidence boundaries), docs/mvp-brief.md (agreed scope), docs/md01-walkthrough.md (illustrative case experience). Local project baseline: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receives the supplied evidence and preserves it unchanged. Agent 1 captures the supplied entries and fields, Agent 2 selects the essential evidence, and Agent 3 writes a factual brief. Reviewed history feeds Agent 3 only, with past findings attributed to their earlier cases. Code saves and routes the result using available context and valid ownership configuration. The full extraction and original remain available. People record findings through the case workflow, and approved records may become eligible history. The factual contracts, prompts, executor and SDK adapter are implemented with software tests; operational database, intake, portal and history integration remain pending. The diagram is the target architecture, not proof of a completed end-to-end deployment. Model quality, reading time, essential omissions, unsupported claims, latency and cost still require a reviewed baseline.</a:t>
            </a:r>
          </a:p>
          <a:p xmlns:a="http://schemas.openxmlformats.org/drawingml/2006/main">
            <a:r>
              <a:t/>
            </a:r>
          </a:p>
          <a:p xmlns:a="http://schemas.openxmlformats.org/drawingml/2006/main">
            <a:r>
              <a:t>Sources: README.md (revised architecture, structured handoffs and case experience); BUILD.md (current implementation and remaining work); docs/implementation-log.md (2 October 2026 rebuild record). Model baseline in project materials: Agent 1 GPT-6 Luna; Agents 2 and 3 GPT-6.1 Sol. No model superiority or measured benefit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reusable asset is the app core and versioned API contract. Customer-specific Joule agents could retrieve authorised case facts, original evidence, uncertainties and permitted human records, then combine that context with current SAP information. Depending on the client workflow, the agent could perform a permitted SAP action or route work to a person for investigation, approval or execution. Case reads do not grant SAP write authority. We reuse the platform while configuring customer connections, tools, ownership rules and controls; each client retains its own data and reviewed history. The external API contract and Joule connection remain future delivery work. Representative client logs and the supported SAP environment determine integration needs. A sensible next step is to validate the core and then pilot one customer-specific Joule workflow.</a:t>
            </a:r>
          </a:p>
          <a:p xmlns:a="http://schemas.openxmlformats.org/drawingml/2006/main">
            <a:r>
              <a:t/>
            </a:r>
          </a:p>
          <a:p xmlns:a="http://schemas.openxmlformats.org/drawingml/2006/main">
            <a:r>
              <a:t>Sources: README.md, section "Case data as a JSON API" and "How SAP Joule could use it"; BUILD.md, external JSON API and hosting/later rollout. SAP documentation confirms that Joule agents can use skills as tools backed by actions and configured destinations: https://developers.sap.com/tutorials/joulestudio-agent-create/ (reviewed 2 October 2026). This supports the proposed tool pattern; it does not establish a working connection to this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b41600c96a46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7dd6a73e96440d" /><Relationship Type="http://schemas.openxmlformats.org/officeDocument/2006/relationships/slideLayout" Target="/ppt/slideLayouts/slideLayout1.xml" Id="Raa67630277fd43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67630277fd43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3f782e16a546c6" /><Relationship Type="http://schemas.openxmlformats.org/officeDocument/2006/relationships/notesSlide" Target="/ppt/notesSlides/notesSlide1.xml" Id="R90bb4e4bf59144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4fefa467bb4d1e" /><Relationship Type="http://schemas.openxmlformats.org/officeDocument/2006/relationships/notesSlide" Target="/ppt/notesSlides/notesSlide2.xml" Id="R6a804139091f41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c1f91eb1dd4f02" /><Relationship Type="http://schemas.openxmlformats.org/officeDocument/2006/relationships/notesSlide" Target="/ppt/notesSlides/notesSlide3.xml" Id="R741f7ccc17104aa0"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139332D-9D73-45C6-835A-4AE311DFD8C0}"/>
              </a:ext>
            </a:extLst>
          </p:cNvPr>
          <p:cNvSpPr>
            <a:spLocks xmlns:a="http://schemas.openxmlformats.org/drawingml/2006/main" noGrp="1"/>
          </p:cNvSpPr>
          <p:nvPr/>
        </p:nvSpPr>
        <p:spPr>
          <a:xfrm xmlns:a="http://schemas.openxmlformats.org/drawingml/2006/main">
            <a:off x="762000" y="628650"/>
            <a:ext cx="1371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5333E"/>
                </a:solidFill>
                <a:latin typeface="Helvetica Neue"/>
                <a:ea typeface="Helvetica Neue"/>
                <a:cs typeface="Helvetica Neue"/>
              </a:defRPr>
            </a:pPr>
            <a:r>
              <a:rPr sz="4500" b="1">
                <a:solidFill>
                  <a:srgbClr val="15333E"/>
                </a:solidFill>
                <a:latin typeface="Helvetica Neue"/>
                <a:ea typeface="Helvetica Neue"/>
                <a:cs typeface="Helvetica Neue"/>
              </a:rPr>
              <a:t>CFIN exception case assistant</a:t>
            </a:r>
          </a:p>
        </p:txBody>
      </p:sp>
      <p:sp>
        <p:nvSpPr>
          <p:cNvPr id="2" name="subtitle">
            <a:extLst xmlns:a="http://schemas.openxmlformats.org/drawingml/2006/main">
              <a:ext uri="{FF2B5EF4-FFF2-40B4-BE49-F238E27FC236}">
                <a16:creationId xmlns:a16="http://schemas.microsoft.com/office/drawing/2014/main" id="{6A729297-9E1D-4004-AE02-19AC88F43B95}"/>
              </a:ext>
            </a:extLst>
          </p:cNvPr>
          <p:cNvSpPr>
            <a:spLocks xmlns:a="http://schemas.openxmlformats.org/drawingml/2006/main" noGrp="1"/>
          </p:cNvSpPr>
          <p:nvPr/>
        </p:nvSpPr>
        <p:spPr>
          <a:xfrm xmlns:a="http://schemas.openxmlformats.org/drawingml/2006/main">
            <a:off x="762000" y="15621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872"/>
                </a:solidFill>
                <a:latin typeface="Helvetica Neue"/>
                <a:ea typeface="Helvetica Neue"/>
                <a:cs typeface="Helvetica Neue"/>
              </a:defRPr>
            </a:pPr>
            <a:r>
              <a:rPr sz="2175" b="0">
                <a:solidFill>
                  <a:srgbClr val="536872"/>
                </a:solidFill>
                <a:latin typeface="Helvetica Neue"/>
                <a:ea typeface="Helvetica Neue"/>
                <a:cs typeface="Helvetica Neue"/>
              </a:rPr>
              <a:t>A clearer starting point for investigation, grounded in the supplied evidence</a:t>
            </a:r>
          </a:p>
        </p:txBody>
      </p:sp>
      <p:sp>
        <p:nvSpPr>
          <p:cNvPr id="3" name="does-heading">
            <a:extLst xmlns:a="http://schemas.openxmlformats.org/drawingml/2006/main">
              <a:ext uri="{FF2B5EF4-FFF2-40B4-BE49-F238E27FC236}">
                <a16:creationId xmlns:a16="http://schemas.microsoft.com/office/drawing/2014/main" id="{99729634-5D30-493D-8E34-673ADF5296D5}"/>
              </a:ext>
            </a:extLst>
          </p:cNvPr>
          <p:cNvSpPr>
            <a:spLocks xmlns:a="http://schemas.openxmlformats.org/drawingml/2006/main" noGrp="1"/>
          </p:cNvSpPr>
          <p:nvPr/>
        </p:nvSpPr>
        <p:spPr>
          <a:xfrm xmlns:a="http://schemas.openxmlformats.org/drawingml/2006/main">
            <a:off x="762000" y="2667000"/>
            <a:ext cx="790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8766C"/>
                </a:solidFill>
                <a:latin typeface="Helvetica Neue"/>
                <a:ea typeface="Helvetica Neue"/>
                <a:cs typeface="Helvetica Neue"/>
              </a:defRPr>
            </a:pPr>
            <a:r>
              <a:rPr sz="2625" b="1">
                <a:solidFill>
                  <a:srgbClr val="08766C"/>
                </a:solidFill>
                <a:latin typeface="Helvetica Neue"/>
                <a:ea typeface="Helvetica Neue"/>
                <a:cs typeface="Helvetica Neue"/>
              </a:rPr>
              <a:t>What the app does</a:t>
            </a:r>
          </a:p>
        </p:txBody>
      </p:sp>
      <p:sp>
        <p:nvSpPr>
          <p:cNvPr id="4" name="does-brief">
            <a:extLst xmlns:a="http://schemas.openxmlformats.org/drawingml/2006/main">
              <a:ext uri="{FF2B5EF4-FFF2-40B4-BE49-F238E27FC236}">
                <a16:creationId xmlns:a16="http://schemas.microsoft.com/office/drawing/2014/main" id="{1FD30935-D9F3-4919-B4D0-3D86E77C6549}"/>
              </a:ext>
            </a:extLst>
          </p:cNvPr>
          <p:cNvSpPr>
            <a:spLocks xmlns:a="http://schemas.openxmlformats.org/drawingml/2006/main" noGrp="1"/>
          </p:cNvSpPr>
          <p:nvPr/>
        </p:nvSpPr>
        <p:spPr>
          <a:xfrm xmlns:a="http://schemas.openxmlformats.org/drawingml/2006/main">
            <a:off x="762000" y="3343275"/>
            <a:ext cx="809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Creates a factual brief of reported errors,</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affected records and processing outcomes.</a:t>
            </a:r>
          </a:p>
        </p:txBody>
      </p:sp>
      <p:sp>
        <p:nvSpPr>
          <p:cNvPr id="5" name="does-evidence">
            <a:extLst xmlns:a="http://schemas.openxmlformats.org/drawingml/2006/main">
              <a:ext uri="{FF2B5EF4-FFF2-40B4-BE49-F238E27FC236}">
                <a16:creationId xmlns:a16="http://schemas.microsoft.com/office/drawing/2014/main" id="{B2CC5A49-62AE-4ECC-84F5-D469B99E6023}"/>
              </a:ext>
            </a:extLst>
          </p:cNvPr>
          <p:cNvSpPr>
            <a:spLocks xmlns:a="http://schemas.openxmlformats.org/drawingml/2006/main" noGrp="1"/>
          </p:cNvSpPr>
          <p:nvPr/>
        </p:nvSpPr>
        <p:spPr>
          <a:xfrm xmlns:a="http://schemas.openxmlformats.org/drawingml/2006/main">
            <a:off x="762000" y="4410075"/>
            <a:ext cx="809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Links statements to evidence and keeps</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missing or conflicting information visible.</a:t>
            </a:r>
          </a:p>
        </p:txBody>
      </p:sp>
      <p:sp>
        <p:nvSpPr>
          <p:cNvPr id="6" name="does-history">
            <a:extLst xmlns:a="http://schemas.openxmlformats.org/drawingml/2006/main">
              <a:ext uri="{FF2B5EF4-FFF2-40B4-BE49-F238E27FC236}">
                <a16:creationId xmlns:a16="http://schemas.microsoft.com/office/drawing/2014/main" id="{4EBC49CC-EBF3-494C-B77D-972A7BB4BA54}"/>
              </a:ext>
            </a:extLst>
          </p:cNvPr>
          <p:cNvSpPr>
            <a:spLocks xmlns:a="http://schemas.openxmlformats.org/drawingml/2006/main" noGrp="1"/>
          </p:cNvSpPr>
          <p:nvPr/>
        </p:nvSpPr>
        <p:spPr>
          <a:xfrm xmlns:a="http://schemas.openxmlformats.org/drawingml/2006/main">
            <a:off x="762000" y="5467350"/>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Shows reviewed historical cases separately.</a:t>
            </a:r>
          </a:p>
        </p:txBody>
      </p:sp>
      <p:sp>
        <p:nvSpPr>
          <p:cNvPr id="7" name="does-not-heading">
            <a:extLst xmlns:a="http://schemas.openxmlformats.org/drawingml/2006/main">
              <a:ext uri="{FF2B5EF4-FFF2-40B4-BE49-F238E27FC236}">
                <a16:creationId xmlns:a16="http://schemas.microsoft.com/office/drawing/2014/main" id="{51ED3EEF-4424-4804-91BC-E912632A87B9}"/>
              </a:ext>
            </a:extLst>
          </p:cNvPr>
          <p:cNvSpPr>
            <a:spLocks xmlns:a="http://schemas.openxmlformats.org/drawingml/2006/main" noGrp="1"/>
          </p:cNvSpPr>
          <p:nvPr/>
        </p:nvSpPr>
        <p:spPr>
          <a:xfrm xmlns:a="http://schemas.openxmlformats.org/drawingml/2006/main">
            <a:off x="9715500" y="26670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5333E"/>
                </a:solidFill>
                <a:latin typeface="Helvetica Neue"/>
                <a:ea typeface="Helvetica Neue"/>
                <a:cs typeface="Helvetica Neue"/>
              </a:defRPr>
            </a:pPr>
            <a:r>
              <a:rPr sz="2625" b="1">
                <a:solidFill>
                  <a:srgbClr val="15333E"/>
                </a:solidFill>
                <a:latin typeface="Helvetica Neue"/>
                <a:ea typeface="Helvetica Neue"/>
                <a:cs typeface="Helvetica Neue"/>
              </a:rPr>
              <a:t>What it does not do</a:t>
            </a:r>
          </a:p>
        </p:txBody>
      </p:sp>
      <p:sp>
        <p:nvSpPr>
          <p:cNvPr id="8" name="no-diagnosis">
            <a:extLst xmlns:a="http://schemas.openxmlformats.org/drawingml/2006/main">
              <a:ext uri="{FF2B5EF4-FFF2-40B4-BE49-F238E27FC236}">
                <a16:creationId xmlns:a16="http://schemas.microsoft.com/office/drawing/2014/main" id="{D9BFEE68-04C2-4E30-A9E1-5D0A29488AFB}"/>
              </a:ext>
            </a:extLst>
          </p:cNvPr>
          <p:cNvSpPr>
            <a:spLocks xmlns:a="http://schemas.openxmlformats.org/drawingml/2006/main" noGrp="1"/>
          </p:cNvSpPr>
          <p:nvPr/>
        </p:nvSpPr>
        <p:spPr>
          <a:xfrm xmlns:a="http://schemas.openxmlformats.org/drawingml/2006/main">
            <a:off x="9715500" y="3343275"/>
            <a:ext cx="4762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No root-cause diagnosis</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or fix recommendations.</a:t>
            </a:r>
          </a:p>
        </p:txBody>
      </p:sp>
      <p:sp>
        <p:nvSpPr>
          <p:cNvPr id="9" name="no-sap-actions">
            <a:extLst xmlns:a="http://schemas.openxmlformats.org/drawingml/2006/main">
              <a:ext uri="{FF2B5EF4-FFF2-40B4-BE49-F238E27FC236}">
                <a16:creationId xmlns:a16="http://schemas.microsoft.com/office/drawing/2014/main" id="{867959E2-364C-449C-83EF-4323EFCA4794}"/>
              </a:ext>
            </a:extLst>
          </p:cNvPr>
          <p:cNvSpPr>
            <a:spLocks xmlns:a="http://schemas.openxmlformats.org/drawingml/2006/main" noGrp="1"/>
          </p:cNvSpPr>
          <p:nvPr/>
        </p:nvSpPr>
        <p:spPr>
          <a:xfrm xmlns:a="http://schemas.openxmlformats.org/drawingml/2006/main">
            <a:off x="9715500" y="4619625"/>
            <a:ext cx="476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No live SAP lookup,</a:t>
            </a:r>
          </a:p>
          <a:p xmlns:a="http://schemas.openxmlformats.org/drawingml/2006/main">
            <a:pPr algn="l">
              <a:defRPr sz="2325" b="0">
                <a:solidFill>
                  <a:srgbClr val="15333E"/>
                </a:solidFill>
                <a:latin typeface="Helvetica Neue"/>
                <a:ea typeface="Helvetica Neue"/>
                <a:cs typeface="Helvetica Neue"/>
              </a:defRPr>
            </a:pPr>
            <a:r>
              <a:rPr sz="2325" b="0">
                <a:solidFill>
                  <a:srgbClr val="15333E"/>
                </a:solidFill>
                <a:latin typeface="Helvetica Neue"/>
                <a:ea typeface="Helvetica Neue"/>
                <a:cs typeface="Helvetica Neue"/>
              </a:rPr>
              <a:t>data changes or reprocessing.</a:t>
            </a:r>
          </a:p>
        </p:txBody>
      </p:sp>
      <p:sp>
        <p:nvSpPr>
          <p:cNvPr id="10" name="assumption-heading">
            <a:extLst xmlns:a="http://schemas.openxmlformats.org/drawingml/2006/main">
              <a:ext uri="{FF2B5EF4-FFF2-40B4-BE49-F238E27FC236}">
                <a16:creationId xmlns:a16="http://schemas.microsoft.com/office/drawing/2014/main" id="{B2116A94-8B0E-43A4-97FE-6F48C75621A6}"/>
              </a:ext>
            </a:extLst>
          </p:cNvPr>
          <p:cNvSpPr>
            <a:spLocks xmlns:a="http://schemas.openxmlformats.org/drawingml/2006/main" noGrp="1"/>
          </p:cNvSpPr>
          <p:nvPr/>
        </p:nvSpPr>
        <p:spPr>
          <a:xfrm xmlns:a="http://schemas.openxmlformats.org/drawingml/2006/main">
            <a:off x="762000" y="671512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66C"/>
                </a:solidFill>
                <a:latin typeface="Helvetica Neue"/>
                <a:ea typeface="Helvetica Neue"/>
                <a:cs typeface="Helvetica Neue"/>
              </a:defRPr>
            </a:pPr>
            <a:r>
              <a:rPr sz="2400" b="1">
                <a:solidFill>
                  <a:srgbClr val="08766C"/>
                </a:solidFill>
                <a:latin typeface="Helvetica Neue"/>
                <a:ea typeface="Helvetica Neue"/>
                <a:cs typeface="Helvetica Neue"/>
              </a:rPr>
              <a:t>Working assumption</a:t>
            </a:r>
          </a:p>
        </p:txBody>
      </p:sp>
      <p:sp>
        <p:nvSpPr>
          <p:cNvPr id="11" name="assumption">
            <a:extLst xmlns:a="http://schemas.openxmlformats.org/drawingml/2006/main">
              <a:ext uri="{FF2B5EF4-FFF2-40B4-BE49-F238E27FC236}">
                <a16:creationId xmlns:a16="http://schemas.microsoft.com/office/drawing/2014/main" id="{8BBBFFFA-DD30-47DE-8C5A-88DD3478864C}"/>
              </a:ext>
            </a:extLst>
          </p:cNvPr>
          <p:cNvSpPr>
            <a:spLocks xmlns:a="http://schemas.openxmlformats.org/drawingml/2006/main" noGrp="1"/>
          </p:cNvSpPr>
          <p:nvPr/>
        </p:nvSpPr>
        <p:spPr>
          <a:xfrm xmlns:a="http://schemas.openxmlformats.org/drawingml/2006/main">
            <a:off x="4667250" y="6705600"/>
            <a:ext cx="9810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Supplied logs contain enough evidence for a useful brief.</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Real samples and analyst review must validate this.</a:t>
            </a:r>
          </a:p>
        </p:txBody>
      </p:sp>
    </p:spTree>
    <p:extLst>
      <p:ext uri="{BB962C8B-B14F-4D97-AF65-F5344CB8AC3E}">
        <p14:creationId xmlns:p14="http://schemas.microsoft.com/office/powerpoint/2010/main" val="81649597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2661FF0E-CB3A-4BAE-B3AC-0C8F7AB3EC16}"/>
              </a:ext>
            </a:extLst>
          </p:cNvPr>
          <p:cNvSpPr>
            <a:spLocks xmlns:a="http://schemas.openxmlformats.org/drawingml/2006/main" noGrp="1"/>
          </p:cNvSpPr>
          <p:nvPr/>
        </p:nvSpPr>
        <p:spPr>
          <a:xfrm xmlns:a="http://schemas.openxmlformats.org/drawingml/2006/main">
            <a:off x="762000" y="628650"/>
            <a:ext cx="1371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5333E"/>
                </a:solidFill>
                <a:latin typeface="Helvetica Neue"/>
                <a:ea typeface="Helvetica Neue"/>
                <a:cs typeface="Helvetica Neue"/>
              </a:defRPr>
            </a:pPr>
            <a:r>
              <a:rPr sz="4500" b="1">
                <a:solidFill>
                  <a:srgbClr val="15333E"/>
                </a:solidFill>
                <a:latin typeface="Helvetica Neue"/>
                <a:ea typeface="Helvetica Neue"/>
                <a:cs typeface="Helvetica Neue"/>
              </a:rPr>
              <a:t>Architecture, inputs and outputs</a:t>
            </a:r>
          </a:p>
        </p:txBody>
      </p:sp>
      <p:sp>
        <p:nvSpPr>
          <p:cNvPr id="2" name="subtitle">
            <a:extLst xmlns:a="http://schemas.openxmlformats.org/drawingml/2006/main">
              <a:ext uri="{FF2B5EF4-FFF2-40B4-BE49-F238E27FC236}">
                <a16:creationId xmlns:a16="http://schemas.microsoft.com/office/drawing/2014/main" id="{4E0D8A50-8EF6-4449-8C79-437992E84D63}"/>
              </a:ext>
            </a:extLst>
          </p:cNvPr>
          <p:cNvSpPr>
            <a:spLocks xmlns:a="http://schemas.openxmlformats.org/drawingml/2006/main" noGrp="1"/>
          </p:cNvSpPr>
          <p:nvPr/>
        </p:nvSpPr>
        <p:spPr>
          <a:xfrm xmlns:a="http://schemas.openxmlformats.org/drawingml/2006/main">
            <a:off x="762000" y="15621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872"/>
                </a:solidFill>
                <a:latin typeface="Helvetica Neue"/>
                <a:ea typeface="Helvetica Neue"/>
                <a:cs typeface="Helvetica Neue"/>
              </a:defRPr>
            </a:pPr>
            <a:r>
              <a:rPr sz="2175" b="0">
                <a:solidFill>
                  <a:srgbClr val="536872"/>
                </a:solidFill>
                <a:latin typeface="Helvetica Neue"/>
                <a:ea typeface="Helvetica Neue"/>
                <a:cs typeface="Helvetica Neue"/>
              </a:rPr>
              <a:t>Three AI stages prepare the brief. Code preserves evidence and manages the case.</a:t>
            </a:r>
          </a:p>
        </p:txBody>
      </p:sp>
      <p:sp>
        <p:nvSpPr>
          <p:cNvPr id="3" name="input-heading">
            <a:extLst xmlns:a="http://schemas.openxmlformats.org/drawingml/2006/main">
              <a:ext uri="{FF2B5EF4-FFF2-40B4-BE49-F238E27FC236}">
                <a16:creationId xmlns:a16="http://schemas.microsoft.com/office/drawing/2014/main" id="{B83CA70E-1C81-4DEF-BD29-9B726EF53EEB}"/>
              </a:ext>
            </a:extLst>
          </p:cNvPr>
          <p:cNvSpPr>
            <a:spLocks xmlns:a="http://schemas.openxmlformats.org/drawingml/2006/main" noGrp="1"/>
          </p:cNvSpPr>
          <p:nvPr/>
        </p:nvSpPr>
        <p:spPr>
          <a:xfrm xmlns:a="http://schemas.openxmlformats.org/drawingml/2006/main">
            <a:off x="762000" y="24193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5526A"/>
                </a:solidFill>
                <a:latin typeface="Helvetica Neue"/>
                <a:ea typeface="Helvetica Neue"/>
                <a:cs typeface="Helvetica Neue"/>
              </a:defRPr>
            </a:pPr>
            <a:r>
              <a:rPr sz="1725" b="1">
                <a:solidFill>
                  <a:srgbClr val="25526A"/>
                </a:solidFill>
                <a:latin typeface="Helvetica Neue"/>
                <a:ea typeface="Helvetica Neue"/>
                <a:cs typeface="Helvetica Neue"/>
              </a:rPr>
              <a:t>INPUT</a:t>
            </a:r>
          </a:p>
        </p:txBody>
      </p:sp>
      <p:sp>
        <p:nvSpPr>
          <p:cNvPr id="4" name="input">
            <a:extLst xmlns:a="http://schemas.openxmlformats.org/drawingml/2006/main">
              <a:ext uri="{FF2B5EF4-FFF2-40B4-BE49-F238E27FC236}">
                <a16:creationId xmlns:a16="http://schemas.microsoft.com/office/drawing/2014/main" id="{0388327F-713F-4BCB-A82F-2CDC8DF98706}"/>
              </a:ext>
            </a:extLst>
          </p:cNvPr>
          <p:cNvSpPr>
            <a:spLocks xmlns:a="http://schemas.openxmlformats.org/drawingml/2006/main" noGrp="1"/>
          </p:cNvSpPr>
          <p:nvPr/>
        </p:nvSpPr>
        <p:spPr>
          <a:xfrm xmlns:a="http://schemas.openxmlformats.org/drawingml/2006/main">
            <a:off x="762000" y="2809875"/>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Supplied AIF logs and their available context</a:t>
            </a:r>
          </a:p>
        </p:txBody>
      </p:sp>
      <p:sp>
        <p:nvSpPr>
          <p:cNvPr id="5" name="output-heading">
            <a:extLst xmlns:a="http://schemas.openxmlformats.org/drawingml/2006/main">
              <a:ext uri="{FF2B5EF4-FFF2-40B4-BE49-F238E27FC236}">
                <a16:creationId xmlns:a16="http://schemas.microsoft.com/office/drawing/2014/main" id="{77BEEEE8-A236-47FD-91AE-65DE44186ABD}"/>
              </a:ext>
            </a:extLst>
          </p:cNvPr>
          <p:cNvSpPr>
            <a:spLocks xmlns:a="http://schemas.openxmlformats.org/drawingml/2006/main" noGrp="1"/>
          </p:cNvSpPr>
          <p:nvPr/>
        </p:nvSpPr>
        <p:spPr>
          <a:xfrm xmlns:a="http://schemas.openxmlformats.org/drawingml/2006/main">
            <a:off x="7953375" y="2419350"/>
            <a:ext cx="652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8766C"/>
                </a:solidFill>
                <a:latin typeface="Helvetica Neue"/>
                <a:ea typeface="Helvetica Neue"/>
                <a:cs typeface="Helvetica Neue"/>
              </a:defRPr>
            </a:pPr>
            <a:r>
              <a:rPr sz="1725" b="1">
                <a:solidFill>
                  <a:srgbClr val="08766C"/>
                </a:solidFill>
                <a:latin typeface="Helvetica Neue"/>
                <a:ea typeface="Helvetica Neue"/>
                <a:cs typeface="Helvetica Neue"/>
              </a:rPr>
              <a:t>OUTPUT</a:t>
            </a:r>
          </a:p>
        </p:txBody>
      </p:sp>
      <p:sp>
        <p:nvSpPr>
          <p:cNvPr id="6" name="output">
            <a:extLst xmlns:a="http://schemas.openxmlformats.org/drawingml/2006/main">
              <a:ext uri="{FF2B5EF4-FFF2-40B4-BE49-F238E27FC236}">
                <a16:creationId xmlns:a16="http://schemas.microsoft.com/office/drawing/2014/main" id="{F4A3C358-A994-483D-9F1A-CA61097F2B37}"/>
              </a:ext>
            </a:extLst>
          </p:cNvPr>
          <p:cNvSpPr>
            <a:spLocks xmlns:a="http://schemas.openxmlformats.org/drawingml/2006/main" noGrp="1"/>
          </p:cNvSpPr>
          <p:nvPr/>
        </p:nvSpPr>
        <p:spPr>
          <a:xfrm xmlns:a="http://schemas.openxmlformats.org/drawingml/2006/main">
            <a:off x="7953375" y="2809875"/>
            <a:ext cx="652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333E"/>
                </a:solidFill>
                <a:latin typeface="Helvetica Neue"/>
                <a:ea typeface="Helvetica Neue"/>
                <a:cs typeface="Helvetica Neue"/>
              </a:defRPr>
            </a:pPr>
            <a:r>
              <a:rPr sz="2100" b="0">
                <a:solidFill>
                  <a:srgbClr val="15333E"/>
                </a:solidFill>
                <a:latin typeface="Helvetica Neue"/>
                <a:ea typeface="Helvetica Neue"/>
                <a:cs typeface="Helvetica Neue"/>
              </a:rPr>
              <a:t>Case brief, evidence links, uncertainties,</a:t>
            </a:r>
          </a:p>
          <a:p xmlns:a="http://schemas.openxmlformats.org/drawingml/2006/main">
            <a:pPr algn="l">
              <a:defRPr sz="2100" b="0">
                <a:solidFill>
                  <a:srgbClr val="15333E"/>
                </a:solidFill>
                <a:latin typeface="Helvetica Neue"/>
                <a:ea typeface="Helvetica Neue"/>
                <a:cs typeface="Helvetica Neue"/>
              </a:defRPr>
            </a:pPr>
            <a:r>
              <a:rPr sz="2100" b="0">
                <a:solidFill>
                  <a:srgbClr val="15333E"/>
                </a:solidFill>
                <a:latin typeface="Helvetica Neue"/>
                <a:ea typeface="Helvetica Neue"/>
                <a:cs typeface="Helvetica Neue"/>
              </a:rPr>
              <a:t>originals and separately cited related cases</a:t>
            </a:r>
          </a:p>
        </p:txBody>
      </p:sp>
      <p:sp>
        <p:nvSpPr>
          <p:cNvPr id="7" name="stage-1">
            <a:extLst xmlns:a="http://schemas.openxmlformats.org/drawingml/2006/main">
              <a:ext uri="{FF2B5EF4-FFF2-40B4-BE49-F238E27FC236}">
                <a16:creationId xmlns:a16="http://schemas.microsoft.com/office/drawing/2014/main" id="{17F5B89F-B084-431D-B9D4-1C060FD6C449}"/>
              </a:ext>
            </a:extLst>
          </p:cNvPr>
          <p:cNvSpPr>
            <a:spLocks xmlns:a="http://schemas.openxmlformats.org/drawingml/2006/main" noGrp="1"/>
          </p:cNvSpPr>
          <p:nvPr/>
        </p:nvSpPr>
        <p:spPr>
          <a:xfrm xmlns:a="http://schemas.openxmlformats.org/drawingml/2006/main">
            <a:off x="762000" y="3905250"/>
            <a:ext cx="2514600" cy="1485900"/>
          </a:xfrm>
          <a:prstGeom xmlns:a="http://schemas.openxmlformats.org/drawingml/2006/main" prst="rect">
            <a:avLst/>
          </a:prstGeom>
          <a:solidFill xmlns:a="http://schemas.openxmlformats.org/drawingml/2006/main">
            <a:srgbClr val="E4EEF5"/>
          </a:solidFill>
          <a:ln xmlns:a="http://schemas.openxmlformats.org/drawingml/2006/main" w="0">
            <a:noFill/>
          </a:ln>
        </p:spPr>
      </p:sp>
      <p:sp>
        <p:nvSpPr>
          <p:cNvPr id="8" name="stage-1-owner">
            <a:extLst xmlns:a="http://schemas.openxmlformats.org/drawingml/2006/main">
              <a:ext uri="{FF2B5EF4-FFF2-40B4-BE49-F238E27FC236}">
                <a16:creationId xmlns:a16="http://schemas.microsoft.com/office/drawing/2014/main" id="{19DE35CE-E45F-4390-9534-029F25E254AC}"/>
              </a:ext>
            </a:extLst>
          </p:cNvPr>
          <p:cNvSpPr>
            <a:spLocks xmlns:a="http://schemas.openxmlformats.org/drawingml/2006/main" noGrp="1"/>
          </p:cNvSpPr>
          <p:nvPr/>
        </p:nvSpPr>
        <p:spPr>
          <a:xfrm xmlns:a="http://schemas.openxmlformats.org/drawingml/2006/main">
            <a:off x="95250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526A"/>
                </a:solidFill>
                <a:latin typeface="Helvetica Neue"/>
                <a:ea typeface="Helvetica Neue"/>
                <a:cs typeface="Helvetica Neue"/>
              </a:defRPr>
            </a:pPr>
            <a:r>
              <a:rPr sz="1950" b="1">
                <a:solidFill>
                  <a:srgbClr val="25526A"/>
                </a:solidFill>
                <a:latin typeface="Helvetica Neue"/>
                <a:ea typeface="Helvetica Neue"/>
                <a:cs typeface="Helvetica Neue"/>
              </a:rPr>
              <a:t>Code</a:t>
            </a:r>
          </a:p>
        </p:txBody>
      </p:sp>
      <p:sp>
        <p:nvSpPr>
          <p:cNvPr id="9" name="stage-1-task">
            <a:extLst xmlns:a="http://schemas.openxmlformats.org/drawingml/2006/main">
              <a:ext uri="{FF2B5EF4-FFF2-40B4-BE49-F238E27FC236}">
                <a16:creationId xmlns:a16="http://schemas.microsoft.com/office/drawing/2014/main" id="{06023B23-D4D5-4CB2-948C-A1DE425D5EDB}"/>
              </a:ext>
            </a:extLst>
          </p:cNvPr>
          <p:cNvSpPr>
            <a:spLocks xmlns:a="http://schemas.openxmlformats.org/drawingml/2006/main" noGrp="1"/>
          </p:cNvSpPr>
          <p:nvPr/>
        </p:nvSpPr>
        <p:spPr>
          <a:xfrm xmlns:a="http://schemas.openxmlformats.org/drawingml/2006/main">
            <a:off x="95250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Preserve original</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and queue</a:t>
            </a:r>
          </a:p>
        </p:txBody>
      </p:sp>
      <p:sp>
        <p:nvSpPr>
          <p:cNvPr id="10" name="stage-2">
            <a:extLst xmlns:a="http://schemas.openxmlformats.org/drawingml/2006/main">
              <a:ext uri="{FF2B5EF4-FFF2-40B4-BE49-F238E27FC236}">
                <a16:creationId xmlns:a16="http://schemas.microsoft.com/office/drawing/2014/main" id="{9ACFEC1D-0A8F-4466-AB1D-F5B77EE56EB0}"/>
              </a:ext>
            </a:extLst>
          </p:cNvPr>
          <p:cNvSpPr>
            <a:spLocks xmlns:a="http://schemas.openxmlformats.org/drawingml/2006/main" noGrp="1"/>
          </p:cNvSpPr>
          <p:nvPr/>
        </p:nvSpPr>
        <p:spPr>
          <a:xfrm xmlns:a="http://schemas.openxmlformats.org/drawingml/2006/main">
            <a:off x="3562350" y="3905250"/>
            <a:ext cx="2514600" cy="148590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11" name="stage-2-owner">
            <a:extLst xmlns:a="http://schemas.openxmlformats.org/drawingml/2006/main">
              <a:ext uri="{FF2B5EF4-FFF2-40B4-BE49-F238E27FC236}">
                <a16:creationId xmlns:a16="http://schemas.microsoft.com/office/drawing/2014/main" id="{91D6B6C4-F0E3-41C8-A2A4-E7F7824CB5BB}"/>
              </a:ext>
            </a:extLst>
          </p:cNvPr>
          <p:cNvSpPr>
            <a:spLocks xmlns:a="http://schemas.openxmlformats.org/drawingml/2006/main" noGrp="1"/>
          </p:cNvSpPr>
          <p:nvPr/>
        </p:nvSpPr>
        <p:spPr>
          <a:xfrm xmlns:a="http://schemas.openxmlformats.org/drawingml/2006/main">
            <a:off x="375285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75088"/>
                </a:solidFill>
                <a:latin typeface="Helvetica Neue"/>
                <a:ea typeface="Helvetica Neue"/>
                <a:cs typeface="Helvetica Neue"/>
              </a:defRPr>
            </a:pPr>
            <a:r>
              <a:rPr sz="1950" b="1">
                <a:solidFill>
                  <a:srgbClr val="675088"/>
                </a:solidFill>
                <a:latin typeface="Helvetica Neue"/>
                <a:ea typeface="Helvetica Neue"/>
                <a:cs typeface="Helvetica Neue"/>
              </a:rPr>
              <a:t>Agent 1</a:t>
            </a:r>
          </a:p>
        </p:txBody>
      </p:sp>
      <p:sp>
        <p:nvSpPr>
          <p:cNvPr id="12" name="stage-2-task">
            <a:extLst xmlns:a="http://schemas.openxmlformats.org/drawingml/2006/main">
              <a:ext uri="{FF2B5EF4-FFF2-40B4-BE49-F238E27FC236}">
                <a16:creationId xmlns:a16="http://schemas.microsoft.com/office/drawing/2014/main" id="{C42DD0AA-71A4-4B3C-8709-676832ECE276}"/>
              </a:ext>
            </a:extLst>
          </p:cNvPr>
          <p:cNvSpPr>
            <a:spLocks xmlns:a="http://schemas.openxmlformats.org/drawingml/2006/main" noGrp="1"/>
          </p:cNvSpPr>
          <p:nvPr/>
        </p:nvSpPr>
        <p:spPr>
          <a:xfrm xmlns:a="http://schemas.openxmlformats.org/drawingml/2006/main">
            <a:off x="375285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Extract entries</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and fields</a:t>
            </a:r>
          </a:p>
        </p:txBody>
      </p:sp>
      <p:sp>
        <p:nvSpPr>
          <p:cNvPr id="13" name="stage-3">
            <a:extLst xmlns:a="http://schemas.openxmlformats.org/drawingml/2006/main">
              <a:ext uri="{FF2B5EF4-FFF2-40B4-BE49-F238E27FC236}">
                <a16:creationId xmlns:a16="http://schemas.microsoft.com/office/drawing/2014/main" id="{DDC45C1C-2E0E-4B82-8CEA-5C2115CD7C34}"/>
              </a:ext>
            </a:extLst>
          </p:cNvPr>
          <p:cNvSpPr>
            <a:spLocks xmlns:a="http://schemas.openxmlformats.org/drawingml/2006/main" noGrp="1"/>
          </p:cNvSpPr>
          <p:nvPr/>
        </p:nvSpPr>
        <p:spPr>
          <a:xfrm xmlns:a="http://schemas.openxmlformats.org/drawingml/2006/main">
            <a:off x="6362700" y="3905250"/>
            <a:ext cx="2514600" cy="148590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14" name="stage-3-owner">
            <a:extLst xmlns:a="http://schemas.openxmlformats.org/drawingml/2006/main">
              <a:ext uri="{FF2B5EF4-FFF2-40B4-BE49-F238E27FC236}">
                <a16:creationId xmlns:a16="http://schemas.microsoft.com/office/drawing/2014/main" id="{A8D6BF62-4D82-4478-9925-45A05BFE26AC}"/>
              </a:ext>
            </a:extLst>
          </p:cNvPr>
          <p:cNvSpPr>
            <a:spLocks xmlns:a="http://schemas.openxmlformats.org/drawingml/2006/main" noGrp="1"/>
          </p:cNvSpPr>
          <p:nvPr/>
        </p:nvSpPr>
        <p:spPr>
          <a:xfrm xmlns:a="http://schemas.openxmlformats.org/drawingml/2006/main">
            <a:off x="655320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75088"/>
                </a:solidFill>
                <a:latin typeface="Helvetica Neue"/>
                <a:ea typeface="Helvetica Neue"/>
                <a:cs typeface="Helvetica Neue"/>
              </a:defRPr>
            </a:pPr>
            <a:r>
              <a:rPr sz="1950" b="1">
                <a:solidFill>
                  <a:srgbClr val="675088"/>
                </a:solidFill>
                <a:latin typeface="Helvetica Neue"/>
                <a:ea typeface="Helvetica Neue"/>
                <a:cs typeface="Helvetica Neue"/>
              </a:rPr>
              <a:t>Agent 2</a:t>
            </a:r>
          </a:p>
        </p:txBody>
      </p:sp>
      <p:sp>
        <p:nvSpPr>
          <p:cNvPr id="15" name="stage-3-task">
            <a:extLst xmlns:a="http://schemas.openxmlformats.org/drawingml/2006/main">
              <a:ext uri="{FF2B5EF4-FFF2-40B4-BE49-F238E27FC236}">
                <a16:creationId xmlns:a16="http://schemas.microsoft.com/office/drawing/2014/main" id="{0682DD19-A4EC-4D4C-8ACD-4A13F88CAF10}"/>
              </a:ext>
            </a:extLst>
          </p:cNvPr>
          <p:cNvSpPr>
            <a:spLocks xmlns:a="http://schemas.openxmlformats.org/drawingml/2006/main" noGrp="1"/>
          </p:cNvSpPr>
          <p:nvPr/>
        </p:nvSpPr>
        <p:spPr>
          <a:xfrm xmlns:a="http://schemas.openxmlformats.org/drawingml/2006/main">
            <a:off x="655320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Select essential</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evidence</a:t>
            </a:r>
          </a:p>
        </p:txBody>
      </p:sp>
      <p:sp>
        <p:nvSpPr>
          <p:cNvPr id="16" name="stage-4">
            <a:extLst xmlns:a="http://schemas.openxmlformats.org/drawingml/2006/main">
              <a:ext uri="{FF2B5EF4-FFF2-40B4-BE49-F238E27FC236}">
                <a16:creationId xmlns:a16="http://schemas.microsoft.com/office/drawing/2014/main" id="{F2906B30-B063-4FB0-AA64-FEC7B07A56CB}"/>
              </a:ext>
            </a:extLst>
          </p:cNvPr>
          <p:cNvSpPr>
            <a:spLocks xmlns:a="http://schemas.openxmlformats.org/drawingml/2006/main" noGrp="1"/>
          </p:cNvSpPr>
          <p:nvPr/>
        </p:nvSpPr>
        <p:spPr>
          <a:xfrm xmlns:a="http://schemas.openxmlformats.org/drawingml/2006/main">
            <a:off x="9163050" y="3905250"/>
            <a:ext cx="2514600" cy="148590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17" name="stage-4-owner">
            <a:extLst xmlns:a="http://schemas.openxmlformats.org/drawingml/2006/main">
              <a:ext uri="{FF2B5EF4-FFF2-40B4-BE49-F238E27FC236}">
                <a16:creationId xmlns:a16="http://schemas.microsoft.com/office/drawing/2014/main" id="{6BE76A1E-E230-4A86-8BB7-B53A666F4FD0}"/>
              </a:ext>
            </a:extLst>
          </p:cNvPr>
          <p:cNvSpPr>
            <a:spLocks xmlns:a="http://schemas.openxmlformats.org/drawingml/2006/main" noGrp="1"/>
          </p:cNvSpPr>
          <p:nvPr/>
        </p:nvSpPr>
        <p:spPr>
          <a:xfrm xmlns:a="http://schemas.openxmlformats.org/drawingml/2006/main">
            <a:off x="935355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75088"/>
                </a:solidFill>
                <a:latin typeface="Helvetica Neue"/>
                <a:ea typeface="Helvetica Neue"/>
                <a:cs typeface="Helvetica Neue"/>
              </a:defRPr>
            </a:pPr>
            <a:r>
              <a:rPr sz="1950" b="1">
                <a:solidFill>
                  <a:srgbClr val="675088"/>
                </a:solidFill>
                <a:latin typeface="Helvetica Neue"/>
                <a:ea typeface="Helvetica Neue"/>
                <a:cs typeface="Helvetica Neue"/>
              </a:rPr>
              <a:t>Agent 3</a:t>
            </a:r>
          </a:p>
        </p:txBody>
      </p:sp>
      <p:sp>
        <p:nvSpPr>
          <p:cNvPr id="18" name="stage-4-task">
            <a:extLst xmlns:a="http://schemas.openxmlformats.org/drawingml/2006/main">
              <a:ext uri="{FF2B5EF4-FFF2-40B4-BE49-F238E27FC236}">
                <a16:creationId xmlns:a16="http://schemas.microsoft.com/office/drawing/2014/main" id="{B6A2A196-4397-49F1-91CC-B59FF8F9EF8B}"/>
              </a:ext>
            </a:extLst>
          </p:cNvPr>
          <p:cNvSpPr>
            <a:spLocks xmlns:a="http://schemas.openxmlformats.org/drawingml/2006/main" noGrp="1"/>
          </p:cNvSpPr>
          <p:nvPr/>
        </p:nvSpPr>
        <p:spPr>
          <a:xfrm xmlns:a="http://schemas.openxmlformats.org/drawingml/2006/main">
            <a:off x="935355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Write factual</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case brief</a:t>
            </a:r>
          </a:p>
        </p:txBody>
      </p:sp>
      <p:sp>
        <p:nvSpPr>
          <p:cNvPr id="19" name="stage-5">
            <a:extLst xmlns:a="http://schemas.openxmlformats.org/drawingml/2006/main">
              <a:ext uri="{FF2B5EF4-FFF2-40B4-BE49-F238E27FC236}">
                <a16:creationId xmlns:a16="http://schemas.microsoft.com/office/drawing/2014/main" id="{05B6BC1B-3D06-45BB-9707-10986F697388}"/>
              </a:ext>
            </a:extLst>
          </p:cNvPr>
          <p:cNvSpPr>
            <a:spLocks xmlns:a="http://schemas.openxmlformats.org/drawingml/2006/main" noGrp="1"/>
          </p:cNvSpPr>
          <p:nvPr/>
        </p:nvSpPr>
        <p:spPr>
          <a:xfrm xmlns:a="http://schemas.openxmlformats.org/drawingml/2006/main">
            <a:off x="11963400" y="3905250"/>
            <a:ext cx="2514600" cy="1485900"/>
          </a:xfrm>
          <a:prstGeom xmlns:a="http://schemas.openxmlformats.org/drawingml/2006/main" prst="rect">
            <a:avLst/>
          </a:prstGeom>
          <a:solidFill xmlns:a="http://schemas.openxmlformats.org/drawingml/2006/main">
            <a:srgbClr val="E4EEF5"/>
          </a:solidFill>
          <a:ln xmlns:a="http://schemas.openxmlformats.org/drawingml/2006/main" w="0">
            <a:noFill/>
          </a:ln>
        </p:spPr>
      </p:sp>
      <p:sp>
        <p:nvSpPr>
          <p:cNvPr id="20" name="stage-5-owner">
            <a:extLst xmlns:a="http://schemas.openxmlformats.org/drawingml/2006/main">
              <a:ext uri="{FF2B5EF4-FFF2-40B4-BE49-F238E27FC236}">
                <a16:creationId xmlns:a16="http://schemas.microsoft.com/office/drawing/2014/main" id="{6E4C4666-DFA8-42AD-9936-1AB2FF6549D8}"/>
              </a:ext>
            </a:extLst>
          </p:cNvPr>
          <p:cNvSpPr>
            <a:spLocks xmlns:a="http://schemas.openxmlformats.org/drawingml/2006/main" noGrp="1"/>
          </p:cNvSpPr>
          <p:nvPr/>
        </p:nvSpPr>
        <p:spPr>
          <a:xfrm xmlns:a="http://schemas.openxmlformats.org/drawingml/2006/main">
            <a:off x="12153900" y="40671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526A"/>
                </a:solidFill>
                <a:latin typeface="Helvetica Neue"/>
                <a:ea typeface="Helvetica Neue"/>
                <a:cs typeface="Helvetica Neue"/>
              </a:defRPr>
            </a:pPr>
            <a:r>
              <a:rPr sz="1950" b="1">
                <a:solidFill>
                  <a:srgbClr val="25526A"/>
                </a:solidFill>
                <a:latin typeface="Helvetica Neue"/>
                <a:ea typeface="Helvetica Neue"/>
                <a:cs typeface="Helvetica Neue"/>
              </a:rPr>
              <a:t>Code</a:t>
            </a:r>
          </a:p>
        </p:txBody>
      </p:sp>
      <p:sp>
        <p:nvSpPr>
          <p:cNvPr id="21" name="stage-5-task">
            <a:extLst xmlns:a="http://schemas.openxmlformats.org/drawingml/2006/main">
              <a:ext uri="{FF2B5EF4-FFF2-40B4-BE49-F238E27FC236}">
                <a16:creationId xmlns:a16="http://schemas.microsoft.com/office/drawing/2014/main" id="{514B3344-A745-4254-8BEB-ECC2DCE970BA}"/>
              </a:ext>
            </a:extLst>
          </p:cNvPr>
          <p:cNvSpPr>
            <a:spLocks xmlns:a="http://schemas.openxmlformats.org/drawingml/2006/main" noGrp="1"/>
          </p:cNvSpPr>
          <p:nvPr/>
        </p:nvSpPr>
        <p:spPr>
          <a:xfrm xmlns:a="http://schemas.openxmlformats.org/drawingml/2006/main">
            <a:off x="12153900" y="45434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Save case and</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route ownership</a:t>
            </a:r>
          </a:p>
        </p:txBody>
      </p:sp>
      <p:cxnSp>
        <p:nvCxnSpPr>
          <p:cNvPr id="56" name=""/>
          <p:cNvCxnSpPr>
            <a:stCxn xmlns:a="http://schemas.openxmlformats.org/drawingml/2006/main" id="7" idx="3"/>
            <a:endCxn xmlns:a="http://schemas.openxmlformats.org/drawingml/2006/main" id="10" idx="1"/>
          </p:cNvCxnSpPr>
          <p:nvPr/>
        </p:nvCxnSpPr>
        <p:spPr>
          <a:xfrm xmlns:a="http://schemas.openxmlformats.org/drawingml/2006/main">
            <a:off x="3276600" y="4648200"/>
            <a:ext cx="285750" cy="0"/>
          </a:xfrm>
          <a:prstGeom xmlns:a="http://schemas.openxmlformats.org/drawingml/2006/main" prst="straightConnector1">
            <a:avLst/>
          </a:prstGeom>
          <a:ln xmlns:a="http://schemas.openxmlformats.org/drawingml/2006/main" w="23813">
            <a:solidFill>
              <a:srgbClr val="8B9BA0"/>
            </a:solidFill>
            <a:tailEnd type="triangle" w="sm" len="sm"/>
          </a:ln>
        </p:spPr>
      </p:cxnSp>
      <p:cxnSp>
        <p:nvCxnSpPr>
          <p:cNvPr id="57" name=""/>
          <p:cNvCxnSpPr>
            <a:stCxn xmlns:a="http://schemas.openxmlformats.org/drawingml/2006/main" id="10" idx="3"/>
            <a:endCxn xmlns:a="http://schemas.openxmlformats.org/drawingml/2006/main" id="13" idx="1"/>
          </p:cNvCxnSpPr>
          <p:nvPr/>
        </p:nvCxnSpPr>
        <p:spPr>
          <a:xfrm xmlns:a="http://schemas.openxmlformats.org/drawingml/2006/main">
            <a:off x="6076950" y="4648200"/>
            <a:ext cx="285750" cy="0"/>
          </a:xfrm>
          <a:prstGeom xmlns:a="http://schemas.openxmlformats.org/drawingml/2006/main" prst="straightConnector1">
            <a:avLst/>
          </a:prstGeom>
          <a:ln xmlns:a="http://schemas.openxmlformats.org/drawingml/2006/main" w="23813">
            <a:solidFill>
              <a:srgbClr val="8B9BA0"/>
            </a:solidFill>
            <a:tailEnd type="triangle" w="sm" len="sm"/>
          </a:ln>
        </p:spPr>
      </p:cxnSp>
      <p:cxnSp>
        <p:nvCxnSpPr>
          <p:cNvPr id="58" name=""/>
          <p:cNvCxnSpPr>
            <a:stCxn xmlns:a="http://schemas.openxmlformats.org/drawingml/2006/main" id="13" idx="3"/>
            <a:endCxn xmlns:a="http://schemas.openxmlformats.org/drawingml/2006/main" id="16" idx="1"/>
          </p:cNvCxnSpPr>
          <p:nvPr/>
        </p:nvCxnSpPr>
        <p:spPr>
          <a:xfrm xmlns:a="http://schemas.openxmlformats.org/drawingml/2006/main">
            <a:off x="8877300" y="4648200"/>
            <a:ext cx="285750" cy="0"/>
          </a:xfrm>
          <a:prstGeom xmlns:a="http://schemas.openxmlformats.org/drawingml/2006/main" prst="straightConnector1">
            <a:avLst/>
          </a:prstGeom>
          <a:ln xmlns:a="http://schemas.openxmlformats.org/drawingml/2006/main" w="23813">
            <a:solidFill>
              <a:srgbClr val="8B9BA0"/>
            </a:solidFill>
            <a:tailEnd type="triangle" w="sm" len="sm"/>
          </a:ln>
        </p:spPr>
      </p:cxnSp>
      <p:cxnSp>
        <p:nvCxnSpPr>
          <p:cNvPr id="59" name=""/>
          <p:cNvCxnSpPr>
            <a:stCxn xmlns:a="http://schemas.openxmlformats.org/drawingml/2006/main" id="16" idx="3"/>
            <a:endCxn xmlns:a="http://schemas.openxmlformats.org/drawingml/2006/main" id="19" idx="1"/>
          </p:cNvCxnSpPr>
          <p:nvPr/>
        </p:nvCxnSpPr>
        <p:spPr>
          <a:xfrm xmlns:a="http://schemas.openxmlformats.org/drawingml/2006/main">
            <a:off x="11677650" y="4648200"/>
            <a:ext cx="285750" cy="0"/>
          </a:xfrm>
          <a:prstGeom xmlns:a="http://schemas.openxmlformats.org/drawingml/2006/main" prst="straightConnector1">
            <a:avLst/>
          </a:prstGeom>
          <a:ln xmlns:a="http://schemas.openxmlformats.org/drawingml/2006/main" w="23813">
            <a:solidFill>
              <a:srgbClr val="8B9BA0"/>
            </a:solidFill>
            <a:tailEnd type="triangle" w="sm" len="sm"/>
          </a:ln>
        </p:spPr>
      </p:cxnSp>
      <p:sp>
        <p:nvSpPr>
          <p:cNvPr id="26" name="original-preservation">
            <a:extLst xmlns:a="http://schemas.openxmlformats.org/drawingml/2006/main">
              <a:ext uri="{FF2B5EF4-FFF2-40B4-BE49-F238E27FC236}">
                <a16:creationId xmlns:a16="http://schemas.microsoft.com/office/drawing/2014/main" id="{0B0A85B9-2351-4B24-8060-BF780EFB36C2}"/>
              </a:ext>
            </a:extLst>
          </p:cNvPr>
          <p:cNvSpPr>
            <a:spLocks xmlns:a="http://schemas.openxmlformats.org/drawingml/2006/main" noGrp="1"/>
          </p:cNvSpPr>
          <p:nvPr/>
        </p:nvSpPr>
        <p:spPr>
          <a:xfrm xmlns:a="http://schemas.openxmlformats.org/drawingml/2006/main">
            <a:off x="762000" y="5962650"/>
            <a:ext cx="5286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872"/>
                </a:solidFill>
                <a:latin typeface="Helvetica Neue"/>
                <a:ea typeface="Helvetica Neue"/>
                <a:cs typeface="Helvetica Neue"/>
              </a:defRPr>
            </a:pPr>
            <a:r>
              <a:rPr sz="2100" b="0">
                <a:solidFill>
                  <a:srgbClr val="536872"/>
                </a:solidFill>
                <a:latin typeface="Helvetica Neue"/>
                <a:ea typeface="Helvetica Neue"/>
                <a:cs typeface="Helvetica Neue"/>
              </a:rPr>
              <a:t>The complete original and full extraction</a:t>
            </a:r>
          </a:p>
          <a:p xmlns:a="http://schemas.openxmlformats.org/drawingml/2006/main">
            <a:pPr algn="l">
              <a:defRPr sz="2100" b="0">
                <a:solidFill>
                  <a:srgbClr val="536872"/>
                </a:solidFill>
                <a:latin typeface="Helvetica Neue"/>
                <a:ea typeface="Helvetica Neue"/>
                <a:cs typeface="Helvetica Neue"/>
              </a:defRPr>
            </a:pPr>
            <a:r>
              <a:rPr sz="2100" b="0">
                <a:solidFill>
                  <a:srgbClr val="536872"/>
                </a:solidFill>
                <a:latin typeface="Helvetica Neue"/>
                <a:ea typeface="Helvetica Neue"/>
                <a:cs typeface="Helvetica Neue"/>
              </a:rPr>
              <a:t>remain available for review.</a:t>
            </a:r>
          </a:p>
        </p:txBody>
      </p:sp>
      <p:sp>
        <p:nvSpPr>
          <p:cNvPr id="27" name="human-findings">
            <a:extLst xmlns:a="http://schemas.openxmlformats.org/drawingml/2006/main">
              <a:ext uri="{FF2B5EF4-FFF2-40B4-BE49-F238E27FC236}">
                <a16:creationId xmlns:a16="http://schemas.microsoft.com/office/drawing/2014/main" id="{ADAA1F08-85CB-49C8-868F-9C7F90C2DA16}"/>
              </a:ext>
            </a:extLst>
          </p:cNvPr>
          <p:cNvSpPr>
            <a:spLocks xmlns:a="http://schemas.openxmlformats.org/drawingml/2006/main" noGrp="1"/>
          </p:cNvSpPr>
          <p:nvPr/>
        </p:nvSpPr>
        <p:spPr>
          <a:xfrm xmlns:a="http://schemas.openxmlformats.org/drawingml/2006/main">
            <a:off x="6362700" y="6219825"/>
            <a:ext cx="2514600" cy="781050"/>
          </a:xfrm>
          <a:prstGeom xmlns:a="http://schemas.openxmlformats.org/drawingml/2006/main" prst="rect">
            <a:avLst/>
          </a:prstGeom>
          <a:solidFill xmlns:a="http://schemas.openxmlformats.org/drawingml/2006/main">
            <a:srgbClr val="F4EBDD"/>
          </a:solidFill>
          <a:ln xmlns:a="http://schemas.openxmlformats.org/drawingml/2006/main" w="0">
            <a:noFill/>
          </a:ln>
        </p:spPr>
      </p:sp>
      <p:sp>
        <p:nvSpPr>
          <p:cNvPr id="28" name="human-label">
            <a:extLst xmlns:a="http://schemas.openxmlformats.org/drawingml/2006/main">
              <a:ext uri="{FF2B5EF4-FFF2-40B4-BE49-F238E27FC236}">
                <a16:creationId xmlns:a16="http://schemas.microsoft.com/office/drawing/2014/main" id="{1DFC8FF4-0886-40A5-AD81-0C711AEA1B6D}"/>
              </a:ext>
            </a:extLst>
          </p:cNvPr>
          <p:cNvSpPr>
            <a:spLocks xmlns:a="http://schemas.openxmlformats.org/drawingml/2006/main" noGrp="1"/>
          </p:cNvSpPr>
          <p:nvPr/>
        </p:nvSpPr>
        <p:spPr>
          <a:xfrm xmlns:a="http://schemas.openxmlformats.org/drawingml/2006/main">
            <a:off x="6553200" y="6448425"/>
            <a:ext cx="2133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775A2D"/>
                </a:solidFill>
                <a:latin typeface="Helvetica Neue"/>
                <a:ea typeface="Helvetica Neue"/>
                <a:cs typeface="Helvetica Neue"/>
              </a:defRPr>
            </a:pPr>
            <a:r>
              <a:rPr sz="2025" b="1">
                <a:solidFill>
                  <a:srgbClr val="775A2D"/>
                </a:solidFill>
                <a:latin typeface="Helvetica Neue"/>
                <a:ea typeface="Helvetica Neue"/>
                <a:cs typeface="Helvetica Neue"/>
              </a:rPr>
              <a:t>Human findings</a:t>
            </a:r>
          </a:p>
        </p:txBody>
      </p:sp>
      <p:sp>
        <p:nvSpPr>
          <p:cNvPr id="29" name="reviewed-history">
            <a:extLst xmlns:a="http://schemas.openxmlformats.org/drawingml/2006/main">
              <a:ext uri="{FF2B5EF4-FFF2-40B4-BE49-F238E27FC236}">
                <a16:creationId xmlns:a16="http://schemas.microsoft.com/office/drawing/2014/main" id="{74EAA214-987B-4FC2-B299-0AE6CBB4C478}"/>
              </a:ext>
            </a:extLst>
          </p:cNvPr>
          <p:cNvSpPr>
            <a:spLocks xmlns:a="http://schemas.openxmlformats.org/drawingml/2006/main" noGrp="1"/>
          </p:cNvSpPr>
          <p:nvPr/>
        </p:nvSpPr>
        <p:spPr>
          <a:xfrm xmlns:a="http://schemas.openxmlformats.org/drawingml/2006/main">
            <a:off x="9163050" y="6219825"/>
            <a:ext cx="2514600" cy="781050"/>
          </a:xfrm>
          <a:prstGeom xmlns:a="http://schemas.openxmlformats.org/drawingml/2006/main" prst="rect">
            <a:avLst/>
          </a:prstGeom>
          <a:solidFill xmlns:a="http://schemas.openxmlformats.org/drawingml/2006/main">
            <a:srgbClr val="E0EEE7"/>
          </a:solidFill>
          <a:ln xmlns:a="http://schemas.openxmlformats.org/drawingml/2006/main" w="0">
            <a:noFill/>
          </a:ln>
        </p:spPr>
      </p:sp>
      <p:sp>
        <p:nvSpPr>
          <p:cNvPr id="30" name="history-label">
            <a:extLst xmlns:a="http://schemas.openxmlformats.org/drawingml/2006/main">
              <a:ext uri="{FF2B5EF4-FFF2-40B4-BE49-F238E27FC236}">
                <a16:creationId xmlns:a16="http://schemas.microsoft.com/office/drawing/2014/main" id="{52CC5B0C-A7F6-435F-9B78-E3B02922009E}"/>
              </a:ext>
            </a:extLst>
          </p:cNvPr>
          <p:cNvSpPr>
            <a:spLocks xmlns:a="http://schemas.openxmlformats.org/drawingml/2006/main" noGrp="1"/>
          </p:cNvSpPr>
          <p:nvPr/>
        </p:nvSpPr>
        <p:spPr>
          <a:xfrm xmlns:a="http://schemas.openxmlformats.org/drawingml/2006/main">
            <a:off x="9353550" y="6448425"/>
            <a:ext cx="2133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66C"/>
                </a:solidFill>
                <a:latin typeface="Helvetica Neue"/>
                <a:ea typeface="Helvetica Neue"/>
                <a:cs typeface="Helvetica Neue"/>
              </a:defRPr>
            </a:pPr>
            <a:r>
              <a:rPr sz="2025" b="1">
                <a:solidFill>
                  <a:srgbClr val="08766C"/>
                </a:solidFill>
                <a:latin typeface="Helvetica Neue"/>
                <a:ea typeface="Helvetica Neue"/>
                <a:cs typeface="Helvetica Neue"/>
              </a:rPr>
              <a:t>Reviewed history</a:t>
            </a:r>
          </a:p>
        </p:txBody>
      </p:sp>
      <p:cxnSp>
        <p:nvCxnSpPr>
          <p:cNvPr id="65" name=""/>
          <p:cNvCxnSpPr>
            <a:stCxn xmlns:a="http://schemas.openxmlformats.org/drawingml/2006/main" id="27" idx="3"/>
            <a:endCxn xmlns:a="http://schemas.openxmlformats.org/drawingml/2006/main" id="29" idx="1"/>
          </p:cNvCxnSpPr>
          <p:nvPr/>
        </p:nvCxnSpPr>
        <p:spPr>
          <a:xfrm xmlns:a="http://schemas.openxmlformats.org/drawingml/2006/main">
            <a:off x="8877300" y="6610350"/>
            <a:ext cx="285750" cy="0"/>
          </a:xfrm>
          <a:prstGeom xmlns:a="http://schemas.openxmlformats.org/drawingml/2006/main" prst="straightConnector1">
            <a:avLst/>
          </a:prstGeom>
          <a:ln xmlns:a="http://schemas.openxmlformats.org/drawingml/2006/main" w="23813">
            <a:solidFill>
              <a:srgbClr val="8B9BA0"/>
            </a:solidFill>
            <a:tailEnd type="triangle" w="sm" len="sm"/>
          </a:ln>
        </p:spPr>
      </p:cxnSp>
      <p:cxnSp>
        <p:nvCxnSpPr>
          <p:cNvPr id="66" name=""/>
          <p:cNvCxnSpPr>
            <a:stCxn xmlns:a="http://schemas.openxmlformats.org/drawingml/2006/main" id="29" idx="0"/>
            <a:endCxn xmlns:a="http://schemas.openxmlformats.org/drawingml/2006/main" id="16" idx="2"/>
          </p:cNvCxnSpPr>
          <p:nvPr/>
        </p:nvCxnSpPr>
        <p:spPr>
          <a:xfrm xmlns:a="http://schemas.openxmlformats.org/drawingml/2006/main" flipV="1">
            <a:off x="10420350" y="5391150"/>
            <a:ext cx="0" cy="828675"/>
          </a:xfrm>
          <a:prstGeom xmlns:a="http://schemas.openxmlformats.org/drawingml/2006/main" prst="straightConnector1">
            <a:avLst/>
          </a:prstGeom>
          <a:ln xmlns:a="http://schemas.openxmlformats.org/drawingml/2006/main" w="23813">
            <a:solidFill>
              <a:srgbClr val="8B9BA0"/>
            </a:solidFill>
            <a:tailEnd type="triangle" w="sm" len="sm"/>
          </a:ln>
        </p:spPr>
      </p:cxnSp>
      <p:sp>
        <p:nvSpPr>
          <p:cNvPr id="33" name="history-control">
            <a:extLst xmlns:a="http://schemas.openxmlformats.org/drawingml/2006/main">
              <a:ext uri="{FF2B5EF4-FFF2-40B4-BE49-F238E27FC236}">
                <a16:creationId xmlns:a16="http://schemas.microsoft.com/office/drawing/2014/main" id="{BEA36136-4DCE-4B66-AD5F-25EA9779C805}"/>
              </a:ext>
            </a:extLst>
          </p:cNvPr>
          <p:cNvSpPr>
            <a:spLocks xmlns:a="http://schemas.openxmlformats.org/drawingml/2006/main" noGrp="1"/>
          </p:cNvSpPr>
          <p:nvPr/>
        </p:nvSpPr>
        <p:spPr>
          <a:xfrm xmlns:a="http://schemas.openxmlformats.org/drawingml/2006/main">
            <a:off x="11963400" y="6200775"/>
            <a:ext cx="2514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872"/>
                </a:solidFill>
                <a:latin typeface="Helvetica Neue"/>
                <a:ea typeface="Helvetica Neue"/>
                <a:cs typeface="Helvetica Neue"/>
              </a:defRPr>
            </a:pPr>
            <a:r>
              <a:rPr sz="1875" b="0">
                <a:solidFill>
                  <a:srgbClr val="536872"/>
                </a:solidFill>
                <a:latin typeface="Helvetica Neue"/>
                <a:ea typeface="Helvetica Neue"/>
                <a:cs typeface="Helvetica Neue"/>
              </a:rPr>
              <a:t>Approved, authorised records only</a:t>
            </a:r>
          </a:p>
        </p:txBody>
      </p:sp>
      <p:sp>
        <p:nvSpPr>
          <p:cNvPr id="34" name="delivery-status">
            <a:extLst xmlns:a="http://schemas.openxmlformats.org/drawingml/2006/main">
              <a:ext uri="{FF2B5EF4-FFF2-40B4-BE49-F238E27FC236}">
                <a16:creationId xmlns:a16="http://schemas.microsoft.com/office/drawing/2014/main" id="{55D7CBD9-A31F-45FD-A3BE-AC35BE859983}"/>
              </a:ext>
            </a:extLst>
          </p:cNvPr>
          <p:cNvSpPr>
            <a:spLocks xmlns:a="http://schemas.openxmlformats.org/drawingml/2006/main" noGrp="1"/>
          </p:cNvSpPr>
          <p:nvPr/>
        </p:nvSpPr>
        <p:spPr>
          <a:xfrm xmlns:a="http://schemas.openxmlformats.org/drawingml/2006/main">
            <a:off x="762000" y="7696200"/>
            <a:ext cx="1371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872"/>
                </a:solidFill>
                <a:latin typeface="Helvetica Neue"/>
                <a:ea typeface="Helvetica Neue"/>
                <a:cs typeface="Helvetica Neue"/>
              </a:defRPr>
            </a:pPr>
            <a:r>
              <a:rPr sz="1875" b="0">
                <a:solidFill>
                  <a:srgbClr val="536872"/>
                </a:solidFill>
                <a:latin typeface="Helvetica Neue"/>
                <a:ea typeface="Helvetica Neue"/>
                <a:cs typeface="Helvetica Neue"/>
              </a:rPr>
              <a:t>Status: execution foundation built; intake, storage, case display and history integration remain.</a:t>
            </a:r>
          </a:p>
        </p:txBody>
      </p:sp>
    </p:spTree>
    <p:extLst>
      <p:ext uri="{BB962C8B-B14F-4D97-AF65-F5344CB8AC3E}">
        <p14:creationId xmlns:p14="http://schemas.microsoft.com/office/powerpoint/2010/main" val="1607286213"/>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D23F54C5-1DC6-41CE-B65F-480D4EA79467}"/>
              </a:ext>
            </a:extLst>
          </p:cNvPr>
          <p:cNvSpPr>
            <a:spLocks xmlns:a="http://schemas.openxmlformats.org/drawingml/2006/main" noGrp="1"/>
          </p:cNvSpPr>
          <p:nvPr/>
        </p:nvSpPr>
        <p:spPr>
          <a:xfrm xmlns:a="http://schemas.openxmlformats.org/drawingml/2006/main">
            <a:off x="762000" y="628650"/>
            <a:ext cx="1371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5333E"/>
                </a:solidFill>
                <a:latin typeface="Helvetica Neue"/>
                <a:ea typeface="Helvetica Neue"/>
                <a:cs typeface="Helvetica Neue"/>
              </a:defRPr>
            </a:pPr>
            <a:r>
              <a:rPr sz="4500" b="1">
                <a:solidFill>
                  <a:srgbClr val="15333E"/>
                </a:solidFill>
                <a:latin typeface="Helvetica Neue"/>
                <a:ea typeface="Helvetica Neue"/>
                <a:cs typeface="Helvetica Neue"/>
              </a:rPr>
              <a:t>Future direction: a reusable app with Joule</a:t>
            </a:r>
          </a:p>
        </p:txBody>
      </p:sp>
      <p:sp>
        <p:nvSpPr>
          <p:cNvPr id="2" name="subtitle">
            <a:extLst xmlns:a="http://schemas.openxmlformats.org/drawingml/2006/main">
              <a:ext uri="{FF2B5EF4-FFF2-40B4-BE49-F238E27FC236}">
                <a16:creationId xmlns:a16="http://schemas.microsoft.com/office/drawing/2014/main" id="{420B704A-A85A-4421-87F4-17728FDFABD7}"/>
              </a:ext>
            </a:extLst>
          </p:cNvPr>
          <p:cNvSpPr>
            <a:spLocks xmlns:a="http://schemas.openxmlformats.org/drawingml/2006/main" noGrp="1"/>
          </p:cNvSpPr>
          <p:nvPr/>
        </p:nvSpPr>
        <p:spPr>
          <a:xfrm xmlns:a="http://schemas.openxmlformats.org/drawingml/2006/main">
            <a:off x="762000" y="1562100"/>
            <a:ext cx="1371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36872"/>
                </a:solidFill>
                <a:latin typeface="Helvetica Neue"/>
                <a:ea typeface="Helvetica Neue"/>
                <a:cs typeface="Helvetica Neue"/>
              </a:defRPr>
            </a:pPr>
            <a:r>
              <a:rPr sz="2175" b="0">
                <a:solidFill>
                  <a:srgbClr val="536872"/>
                </a:solidFill>
                <a:latin typeface="Helvetica Neue"/>
                <a:ea typeface="Helvetica Neue"/>
                <a:cs typeface="Helvetica Neue"/>
              </a:rPr>
              <a:t>The app supplies case evidence. Each client configures how its SAP workflow uses it.</a:t>
            </a:r>
          </a:p>
        </p:txBody>
      </p:sp>
      <p:sp>
        <p:nvSpPr>
          <p:cNvPr id="3" name="reusable-platform">
            <a:extLst xmlns:a="http://schemas.openxmlformats.org/drawingml/2006/main">
              <a:ext uri="{FF2B5EF4-FFF2-40B4-BE49-F238E27FC236}">
                <a16:creationId xmlns:a16="http://schemas.microsoft.com/office/drawing/2014/main" id="{2DAECFAD-D5C7-4940-B0C4-002E1E8CB2E5}"/>
              </a:ext>
            </a:extLst>
          </p:cNvPr>
          <p:cNvSpPr>
            <a:spLocks xmlns:a="http://schemas.openxmlformats.org/drawingml/2006/main" noGrp="1"/>
          </p:cNvSpPr>
          <p:nvPr/>
        </p:nvSpPr>
        <p:spPr>
          <a:xfrm xmlns:a="http://schemas.openxmlformats.org/drawingml/2006/main">
            <a:off x="762000" y="3133725"/>
            <a:ext cx="3619500" cy="2647950"/>
          </a:xfrm>
          <a:prstGeom xmlns:a="http://schemas.openxmlformats.org/drawingml/2006/main" prst="rect">
            <a:avLst/>
          </a:prstGeom>
          <a:solidFill xmlns:a="http://schemas.openxmlformats.org/drawingml/2006/main">
            <a:srgbClr val="15333E"/>
          </a:solidFill>
          <a:ln xmlns:a="http://schemas.openxmlformats.org/drawingml/2006/main" w="0">
            <a:noFill/>
          </a:ln>
        </p:spPr>
      </p:sp>
      <p:sp>
        <p:nvSpPr>
          <p:cNvPr id="4" name="reusable-label">
            <a:extLst xmlns:a="http://schemas.openxmlformats.org/drawingml/2006/main">
              <a:ext uri="{FF2B5EF4-FFF2-40B4-BE49-F238E27FC236}">
                <a16:creationId xmlns:a16="http://schemas.microsoft.com/office/drawing/2014/main" id="{457364A5-1ED3-4E43-974E-C9DEF9DF5D54}"/>
              </a:ext>
            </a:extLst>
          </p:cNvPr>
          <p:cNvSpPr>
            <a:spLocks xmlns:a="http://schemas.openxmlformats.org/drawingml/2006/main" noGrp="1"/>
          </p:cNvSpPr>
          <p:nvPr/>
        </p:nvSpPr>
        <p:spPr>
          <a:xfrm xmlns:a="http://schemas.openxmlformats.org/drawingml/2006/main">
            <a:off x="1028700" y="338137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5DCD3"/>
                </a:solidFill>
                <a:latin typeface="Helvetica Neue"/>
                <a:ea typeface="Helvetica Neue"/>
                <a:cs typeface="Helvetica Neue"/>
              </a:defRPr>
            </a:pPr>
            <a:r>
              <a:rPr sz="1725" b="1">
                <a:solidFill>
                  <a:srgbClr val="A5DCD3"/>
                </a:solidFill>
                <a:latin typeface="Helvetica Neue"/>
                <a:ea typeface="Helvetica Neue"/>
                <a:cs typeface="Helvetica Neue"/>
              </a:rPr>
              <a:t>REUSABLE CORE</a:t>
            </a:r>
          </a:p>
        </p:txBody>
      </p:sp>
      <p:sp>
        <p:nvSpPr>
          <p:cNvPr id="5" name="app-name">
            <a:extLst xmlns:a="http://schemas.openxmlformats.org/drawingml/2006/main">
              <a:ext uri="{FF2B5EF4-FFF2-40B4-BE49-F238E27FC236}">
                <a16:creationId xmlns:a16="http://schemas.microsoft.com/office/drawing/2014/main" id="{A574FA55-E646-4181-89F3-0306F79201A5}"/>
              </a:ext>
            </a:extLst>
          </p:cNvPr>
          <p:cNvSpPr>
            <a:spLocks xmlns:a="http://schemas.openxmlformats.org/drawingml/2006/main" noGrp="1"/>
          </p:cNvSpPr>
          <p:nvPr/>
        </p:nvSpPr>
        <p:spPr>
          <a:xfrm xmlns:a="http://schemas.openxmlformats.org/drawingml/2006/main">
            <a:off x="1028700" y="3857625"/>
            <a:ext cx="3086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Case platform</a:t>
            </a:r>
          </a:p>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and versioned API</a:t>
            </a:r>
          </a:p>
        </p:txBody>
      </p:sp>
      <p:sp>
        <p:nvSpPr>
          <p:cNvPr id="6" name="app-content">
            <a:extLst xmlns:a="http://schemas.openxmlformats.org/drawingml/2006/main">
              <a:ext uri="{FF2B5EF4-FFF2-40B4-BE49-F238E27FC236}">
                <a16:creationId xmlns:a16="http://schemas.microsoft.com/office/drawing/2014/main" id="{FCEDF9E1-8744-4AC8-B8AA-C4CF8E4C2816}"/>
              </a:ext>
            </a:extLst>
          </p:cNvPr>
          <p:cNvSpPr>
            <a:spLocks xmlns:a="http://schemas.openxmlformats.org/drawingml/2006/main" noGrp="1"/>
          </p:cNvSpPr>
          <p:nvPr/>
        </p:nvSpPr>
        <p:spPr>
          <a:xfrm xmlns:a="http://schemas.openxmlformats.org/drawingml/2006/main">
            <a:off x="1028700" y="5010150"/>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9E8E9"/>
                </a:solidFill>
                <a:latin typeface="Helvetica Neue"/>
                <a:ea typeface="Helvetica Neue"/>
                <a:cs typeface="Helvetica Neue"/>
              </a:defRPr>
            </a:pPr>
            <a:r>
              <a:rPr sz="2025" b="0">
                <a:solidFill>
                  <a:srgbClr val="D9E8E9"/>
                </a:solidFill>
                <a:latin typeface="Helvetica Neue"/>
                <a:ea typeface="Helvetica Neue"/>
                <a:cs typeface="Helvetica Neue"/>
              </a:rPr>
              <a:t>Facts and evidence</a:t>
            </a:r>
          </a:p>
          <a:p xmlns:a="http://schemas.openxmlformats.org/drawingml/2006/main">
            <a:pPr algn="l">
              <a:defRPr sz="2025" b="0">
                <a:solidFill>
                  <a:srgbClr val="D9E8E9"/>
                </a:solidFill>
                <a:latin typeface="Helvetica Neue"/>
                <a:ea typeface="Helvetica Neue"/>
                <a:cs typeface="Helvetica Neue"/>
              </a:defRPr>
            </a:pPr>
            <a:r>
              <a:rPr sz="2025" b="0">
                <a:solidFill>
                  <a:srgbClr val="D9E8E9"/>
                </a:solidFill>
                <a:latin typeface="Helvetica Neue"/>
                <a:ea typeface="Helvetica Neue"/>
                <a:cs typeface="Helvetica Neue"/>
              </a:rPr>
              <a:t>Gaps and human records</a:t>
            </a:r>
          </a:p>
        </p:txBody>
      </p:sp>
      <p:sp>
        <p:nvSpPr>
          <p:cNvPr id="7" name="client-joule">
            <a:extLst xmlns:a="http://schemas.openxmlformats.org/drawingml/2006/main">
              <a:ext uri="{FF2B5EF4-FFF2-40B4-BE49-F238E27FC236}">
                <a16:creationId xmlns:a16="http://schemas.microsoft.com/office/drawing/2014/main" id="{1202081B-15F9-4FE2-A756-375D125CC9E9}"/>
              </a:ext>
            </a:extLst>
          </p:cNvPr>
          <p:cNvSpPr>
            <a:spLocks xmlns:a="http://schemas.openxmlformats.org/drawingml/2006/main" noGrp="1"/>
          </p:cNvSpPr>
          <p:nvPr/>
        </p:nvSpPr>
        <p:spPr>
          <a:xfrm xmlns:a="http://schemas.openxmlformats.org/drawingml/2006/main">
            <a:off x="5762625" y="3133725"/>
            <a:ext cx="4095750" cy="2647950"/>
          </a:xfrm>
          <a:prstGeom xmlns:a="http://schemas.openxmlformats.org/drawingml/2006/main" prst="rect">
            <a:avLst/>
          </a:prstGeom>
          <a:solidFill xmlns:a="http://schemas.openxmlformats.org/drawingml/2006/main">
            <a:srgbClr val="EEE8F7"/>
          </a:solidFill>
          <a:ln xmlns:a="http://schemas.openxmlformats.org/drawingml/2006/main" w="0">
            <a:noFill/>
          </a:ln>
        </p:spPr>
      </p:sp>
      <p:sp>
        <p:nvSpPr>
          <p:cNvPr id="8" name="client-label">
            <a:extLst xmlns:a="http://schemas.openxmlformats.org/drawingml/2006/main">
              <a:ext uri="{FF2B5EF4-FFF2-40B4-BE49-F238E27FC236}">
                <a16:creationId xmlns:a16="http://schemas.microsoft.com/office/drawing/2014/main" id="{3A684733-CE1A-4186-9B1C-0A4020202BD6}"/>
              </a:ext>
            </a:extLst>
          </p:cNvPr>
          <p:cNvSpPr>
            <a:spLocks xmlns:a="http://schemas.openxmlformats.org/drawingml/2006/main" noGrp="1"/>
          </p:cNvSpPr>
          <p:nvPr/>
        </p:nvSpPr>
        <p:spPr>
          <a:xfrm xmlns:a="http://schemas.openxmlformats.org/drawingml/2006/main">
            <a:off x="6048375" y="3381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75088"/>
                </a:solidFill>
                <a:latin typeface="Helvetica Neue"/>
                <a:ea typeface="Helvetica Neue"/>
                <a:cs typeface="Helvetica Neue"/>
              </a:defRPr>
            </a:pPr>
            <a:r>
              <a:rPr sz="1725" b="1">
                <a:solidFill>
                  <a:srgbClr val="675088"/>
                </a:solidFill>
                <a:latin typeface="Helvetica Neue"/>
                <a:ea typeface="Helvetica Neue"/>
                <a:cs typeface="Helvetica Neue"/>
              </a:rPr>
              <a:t>CLIENT CONFIGURATION</a:t>
            </a:r>
          </a:p>
        </p:txBody>
      </p:sp>
      <p:sp>
        <p:nvSpPr>
          <p:cNvPr id="9" name="joule-name">
            <a:extLst xmlns:a="http://schemas.openxmlformats.org/drawingml/2006/main">
              <a:ext uri="{FF2B5EF4-FFF2-40B4-BE49-F238E27FC236}">
                <a16:creationId xmlns:a16="http://schemas.microsoft.com/office/drawing/2014/main" id="{385DFCA9-DAB0-4989-85E9-50AC2493282F}"/>
              </a:ext>
            </a:extLst>
          </p:cNvPr>
          <p:cNvSpPr>
            <a:spLocks xmlns:a="http://schemas.openxmlformats.org/drawingml/2006/main" noGrp="1"/>
          </p:cNvSpPr>
          <p:nvPr/>
        </p:nvSpPr>
        <p:spPr>
          <a:xfrm xmlns:a="http://schemas.openxmlformats.org/drawingml/2006/main">
            <a:off x="6048375" y="38766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5333E"/>
                </a:solidFill>
                <a:latin typeface="Helvetica Neue"/>
                <a:ea typeface="Helvetica Neue"/>
                <a:cs typeface="Helvetica Neue"/>
              </a:defRPr>
            </a:pPr>
            <a:r>
              <a:rPr sz="2925" b="1">
                <a:solidFill>
                  <a:srgbClr val="15333E"/>
                </a:solidFill>
                <a:latin typeface="Helvetica Neue"/>
                <a:ea typeface="Helvetica Neue"/>
                <a:cs typeface="Helvetica Neue"/>
              </a:rPr>
              <a:t>Joule agents</a:t>
            </a:r>
          </a:p>
        </p:txBody>
      </p:sp>
      <p:sp>
        <p:nvSpPr>
          <p:cNvPr id="10" name="joule-content">
            <a:extLst xmlns:a="http://schemas.openxmlformats.org/drawingml/2006/main">
              <a:ext uri="{FF2B5EF4-FFF2-40B4-BE49-F238E27FC236}">
                <a16:creationId xmlns:a16="http://schemas.microsoft.com/office/drawing/2014/main" id="{8353BF42-C800-4E05-B64B-0DBA6F7908FE}"/>
              </a:ext>
            </a:extLst>
          </p:cNvPr>
          <p:cNvSpPr>
            <a:spLocks xmlns:a="http://schemas.openxmlformats.org/drawingml/2006/main" noGrp="1"/>
          </p:cNvSpPr>
          <p:nvPr/>
        </p:nvSpPr>
        <p:spPr>
          <a:xfrm xmlns:a="http://schemas.openxmlformats.org/drawingml/2006/main">
            <a:off x="6048375" y="4619625"/>
            <a:ext cx="3524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SAP tools and rules</a:t>
            </a:r>
          </a:p>
          <a:p xmlns:a="http://schemas.openxmlformats.org/drawingml/2006/main">
            <a:pPr algn="l">
              <a:defRPr sz="2175" b="0">
                <a:solidFill>
                  <a:srgbClr val="15333E"/>
                </a:solidFill>
                <a:latin typeface="Helvetica Neue"/>
                <a:ea typeface="Helvetica Neue"/>
                <a:cs typeface="Helvetica Neue"/>
              </a:defRPr>
            </a:pPr>
            <a:r>
              <a:rPr sz="2175" b="0">
                <a:solidFill>
                  <a:srgbClr val="15333E"/>
                </a:solidFill>
                <a:latin typeface="Helvetica Neue"/>
                <a:ea typeface="Helvetica Neue"/>
                <a:cs typeface="Helvetica Neue"/>
              </a:rPr>
              <a:t>Permissions and approvals</a:t>
            </a:r>
          </a:p>
        </p:txBody>
      </p:sp>
      <p:cxnSp>
        <p:nvCxnSpPr>
          <p:cNvPr id="33" name=""/>
          <p:cNvCxnSpPr>
            <a:stCxn xmlns:a="http://schemas.openxmlformats.org/drawingml/2006/main" id="3" idx="3"/>
            <a:endCxn xmlns:a="http://schemas.openxmlformats.org/drawingml/2006/main" id="7" idx="1"/>
          </p:cNvCxnSpPr>
          <p:nvPr/>
        </p:nvCxnSpPr>
        <p:spPr>
          <a:xfrm xmlns:a="http://schemas.openxmlformats.org/drawingml/2006/main">
            <a:off x="4381500" y="4457700"/>
            <a:ext cx="1381125" cy="0"/>
          </a:xfrm>
          <a:prstGeom xmlns:a="http://schemas.openxmlformats.org/drawingml/2006/main" prst="straightConnector1">
            <a:avLst/>
          </a:prstGeom>
          <a:ln xmlns:a="http://schemas.openxmlformats.org/drawingml/2006/main" w="23813">
            <a:solidFill>
              <a:srgbClr val="8B9BA0"/>
            </a:solidFill>
            <a:headEnd type="triangle" w="sm" len="sm"/>
            <a:tailEnd type="triangle" w="sm" len="sm"/>
          </a:ln>
        </p:spPr>
      </p:cxnSp>
      <p:sp>
        <p:nvSpPr>
          <p:cNvPr id="12" name="api-call-label">
            <a:extLst xmlns:a="http://schemas.openxmlformats.org/drawingml/2006/main">
              <a:ext uri="{FF2B5EF4-FFF2-40B4-BE49-F238E27FC236}">
                <a16:creationId xmlns:a16="http://schemas.microsoft.com/office/drawing/2014/main" id="{825DE7E7-90F3-4EC0-9CEC-C3EB93D1E6DE}"/>
              </a:ext>
            </a:extLst>
          </p:cNvPr>
          <p:cNvSpPr>
            <a:spLocks xmlns:a="http://schemas.openxmlformats.org/drawingml/2006/main" noGrp="1"/>
          </p:cNvSpPr>
          <p:nvPr/>
        </p:nvSpPr>
        <p:spPr>
          <a:xfrm xmlns:a="http://schemas.openxmlformats.org/drawingml/2006/main">
            <a:off x="4476750" y="3705225"/>
            <a:ext cx="119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872"/>
                </a:solidFill>
                <a:latin typeface="Helvetica Neue"/>
                <a:ea typeface="Helvetica Neue"/>
                <a:cs typeface="Helvetica Neue"/>
              </a:defRPr>
            </a:pPr>
            <a:r>
              <a:rPr sz="1725" b="0">
                <a:solidFill>
                  <a:srgbClr val="536872"/>
                </a:solidFill>
                <a:latin typeface="Helvetica Neue"/>
                <a:ea typeface="Helvetica Neue"/>
                <a:cs typeface="Helvetica Neue"/>
              </a:rPr>
              <a:t>API reads</a:t>
            </a:r>
          </a:p>
          <a:p xmlns:a="http://schemas.openxmlformats.org/drawingml/2006/main">
            <a:pPr algn="ctr">
              <a:defRPr sz="1725" b="0">
                <a:solidFill>
                  <a:srgbClr val="536872"/>
                </a:solidFill>
                <a:latin typeface="Helvetica Neue"/>
                <a:ea typeface="Helvetica Neue"/>
                <a:cs typeface="Helvetica Neue"/>
              </a:defRPr>
            </a:pPr>
            <a:r>
              <a:rPr sz="1725" b="0">
                <a:solidFill>
                  <a:srgbClr val="536872"/>
                </a:solidFill>
                <a:latin typeface="Helvetica Neue"/>
                <a:ea typeface="Helvetica Neue"/>
                <a:cs typeface="Helvetica Neue"/>
              </a:rPr>
              <a:t>Case data</a:t>
            </a:r>
          </a:p>
        </p:txBody>
      </p:sp>
      <p:sp>
        <p:nvSpPr>
          <p:cNvPr id="13" name="sap-actions">
            <a:extLst xmlns:a="http://schemas.openxmlformats.org/drawingml/2006/main">
              <a:ext uri="{FF2B5EF4-FFF2-40B4-BE49-F238E27FC236}">
                <a16:creationId xmlns:a16="http://schemas.microsoft.com/office/drawing/2014/main" id="{CBCA77C7-F766-485A-8198-5CFBCD90F6BF}"/>
              </a:ext>
            </a:extLst>
          </p:cNvPr>
          <p:cNvSpPr>
            <a:spLocks xmlns:a="http://schemas.openxmlformats.org/drawingml/2006/main" noGrp="1"/>
          </p:cNvSpPr>
          <p:nvPr/>
        </p:nvSpPr>
        <p:spPr>
          <a:xfrm xmlns:a="http://schemas.openxmlformats.org/drawingml/2006/main">
            <a:off x="11049000" y="2647950"/>
            <a:ext cx="3429000" cy="1600200"/>
          </a:xfrm>
          <a:prstGeom xmlns:a="http://schemas.openxmlformats.org/drawingml/2006/main" prst="rect">
            <a:avLst/>
          </a:prstGeom>
          <a:solidFill xmlns:a="http://schemas.openxmlformats.org/drawingml/2006/main">
            <a:srgbClr val="E4EEF5"/>
          </a:solidFill>
          <a:ln xmlns:a="http://schemas.openxmlformats.org/drawingml/2006/main" w="0">
            <a:noFill/>
          </a:ln>
        </p:spPr>
      </p:sp>
      <p:sp>
        <p:nvSpPr>
          <p:cNvPr id="14" name="sap-heading">
            <a:extLst xmlns:a="http://schemas.openxmlformats.org/drawingml/2006/main">
              <a:ext uri="{FF2B5EF4-FFF2-40B4-BE49-F238E27FC236}">
                <a16:creationId xmlns:a16="http://schemas.microsoft.com/office/drawing/2014/main" id="{AFD456F6-EA2F-4516-A06C-87E82BBC1345}"/>
              </a:ext>
            </a:extLst>
          </p:cNvPr>
          <p:cNvSpPr>
            <a:spLocks xmlns:a="http://schemas.openxmlformats.org/drawingml/2006/main" noGrp="1"/>
          </p:cNvSpPr>
          <p:nvPr/>
        </p:nvSpPr>
        <p:spPr>
          <a:xfrm xmlns:a="http://schemas.openxmlformats.org/drawingml/2006/main">
            <a:off x="11296650" y="2876550"/>
            <a:ext cx="293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33E"/>
                </a:solidFill>
                <a:latin typeface="Helvetica Neue"/>
                <a:ea typeface="Helvetica Neue"/>
                <a:cs typeface="Helvetica Neue"/>
              </a:defRPr>
            </a:pPr>
            <a:r>
              <a:rPr sz="2325" b="1">
                <a:solidFill>
                  <a:srgbClr val="15333E"/>
                </a:solidFill>
                <a:latin typeface="Helvetica Neue"/>
                <a:ea typeface="Helvetica Neue"/>
                <a:cs typeface="Helvetica Neue"/>
              </a:rPr>
              <a:t>Actions inside SAP</a:t>
            </a:r>
          </a:p>
        </p:txBody>
      </p:sp>
      <p:sp>
        <p:nvSpPr>
          <p:cNvPr id="15" name="sap-detail">
            <a:extLst xmlns:a="http://schemas.openxmlformats.org/drawingml/2006/main">
              <a:ext uri="{FF2B5EF4-FFF2-40B4-BE49-F238E27FC236}">
                <a16:creationId xmlns:a16="http://schemas.microsoft.com/office/drawing/2014/main" id="{C968D1A1-58F2-4723-AC52-292EA6313424}"/>
              </a:ext>
            </a:extLst>
          </p:cNvPr>
          <p:cNvSpPr>
            <a:spLocks xmlns:a="http://schemas.openxmlformats.org/drawingml/2006/main" noGrp="1"/>
          </p:cNvSpPr>
          <p:nvPr/>
        </p:nvSpPr>
        <p:spPr>
          <a:xfrm xmlns:a="http://schemas.openxmlformats.org/drawingml/2006/main">
            <a:off x="11296650" y="344805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Validate SAP state</a:t>
            </a:r>
          </a:p>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and act with permission</a:t>
            </a:r>
          </a:p>
        </p:txBody>
      </p:sp>
      <p:sp>
        <p:nvSpPr>
          <p:cNvPr id="16" name="human-workflow">
            <a:extLst xmlns:a="http://schemas.openxmlformats.org/drawingml/2006/main">
              <a:ext uri="{FF2B5EF4-FFF2-40B4-BE49-F238E27FC236}">
                <a16:creationId xmlns:a16="http://schemas.microsoft.com/office/drawing/2014/main" id="{DDCFA5D4-E78B-4B3F-852F-4E9789CBE030}"/>
              </a:ext>
            </a:extLst>
          </p:cNvPr>
          <p:cNvSpPr>
            <a:spLocks xmlns:a="http://schemas.openxmlformats.org/drawingml/2006/main" noGrp="1"/>
          </p:cNvSpPr>
          <p:nvPr/>
        </p:nvSpPr>
        <p:spPr>
          <a:xfrm xmlns:a="http://schemas.openxmlformats.org/drawingml/2006/main">
            <a:off x="11049000" y="4876800"/>
            <a:ext cx="3429000" cy="1600200"/>
          </a:xfrm>
          <a:prstGeom xmlns:a="http://schemas.openxmlformats.org/drawingml/2006/main" prst="rect">
            <a:avLst/>
          </a:prstGeom>
          <a:solidFill xmlns:a="http://schemas.openxmlformats.org/drawingml/2006/main">
            <a:srgbClr val="F4EBDD"/>
          </a:solidFill>
          <a:ln xmlns:a="http://schemas.openxmlformats.org/drawingml/2006/main" w="0">
            <a:noFill/>
          </a:ln>
        </p:spPr>
      </p:sp>
      <p:sp>
        <p:nvSpPr>
          <p:cNvPr id="17" name="people-heading">
            <a:extLst xmlns:a="http://schemas.openxmlformats.org/drawingml/2006/main">
              <a:ext uri="{FF2B5EF4-FFF2-40B4-BE49-F238E27FC236}">
                <a16:creationId xmlns:a16="http://schemas.microsoft.com/office/drawing/2014/main" id="{537F2BA0-509B-42C8-BA5D-6300FE908E33}"/>
              </a:ext>
            </a:extLst>
          </p:cNvPr>
          <p:cNvSpPr>
            <a:spLocks xmlns:a="http://schemas.openxmlformats.org/drawingml/2006/main" noGrp="1"/>
          </p:cNvSpPr>
          <p:nvPr/>
        </p:nvSpPr>
        <p:spPr>
          <a:xfrm xmlns:a="http://schemas.openxmlformats.org/drawingml/2006/main">
            <a:off x="11296650" y="5105400"/>
            <a:ext cx="293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33E"/>
                </a:solidFill>
                <a:latin typeface="Helvetica Neue"/>
                <a:ea typeface="Helvetica Neue"/>
                <a:cs typeface="Helvetica Neue"/>
              </a:defRPr>
            </a:pPr>
            <a:r>
              <a:rPr sz="2325" b="1">
                <a:solidFill>
                  <a:srgbClr val="15333E"/>
                </a:solidFill>
                <a:latin typeface="Helvetica Neue"/>
                <a:ea typeface="Helvetica Neue"/>
                <a:cs typeface="Helvetica Neue"/>
              </a:rPr>
              <a:t>Human workflows</a:t>
            </a:r>
          </a:p>
        </p:txBody>
      </p:sp>
      <p:sp>
        <p:nvSpPr>
          <p:cNvPr id="18" name="people-detail">
            <a:extLst xmlns:a="http://schemas.openxmlformats.org/drawingml/2006/main">
              <a:ext uri="{FF2B5EF4-FFF2-40B4-BE49-F238E27FC236}">
                <a16:creationId xmlns:a16="http://schemas.microsoft.com/office/drawing/2014/main" id="{7B90C740-A79B-4041-B6E3-CD088864FB84}"/>
              </a:ext>
            </a:extLst>
          </p:cNvPr>
          <p:cNvSpPr>
            <a:spLocks xmlns:a="http://schemas.openxmlformats.org/drawingml/2006/main" noGrp="1"/>
          </p:cNvSpPr>
          <p:nvPr/>
        </p:nvSpPr>
        <p:spPr>
          <a:xfrm xmlns:a="http://schemas.openxmlformats.org/drawingml/2006/main">
            <a:off x="11296650" y="56769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Route investigation,</a:t>
            </a:r>
          </a:p>
          <a:p xmlns:a="http://schemas.openxmlformats.org/drawingml/2006/main">
            <a:pPr algn="l">
              <a:defRPr sz="2025" b="0">
                <a:solidFill>
                  <a:srgbClr val="15333E"/>
                </a:solidFill>
                <a:latin typeface="Helvetica Neue"/>
                <a:ea typeface="Helvetica Neue"/>
                <a:cs typeface="Helvetica Neue"/>
              </a:defRPr>
            </a:pPr>
            <a:r>
              <a:rPr sz="2025" b="0">
                <a:solidFill>
                  <a:srgbClr val="15333E"/>
                </a:solidFill>
                <a:latin typeface="Helvetica Neue"/>
                <a:ea typeface="Helvetica Neue"/>
                <a:cs typeface="Helvetica Neue"/>
              </a:rPr>
              <a:t>approval or execution</a:t>
            </a:r>
          </a:p>
        </p:txBody>
      </p:sp>
      <p:cxnSp>
        <p:nvCxnSpPr>
          <p:cNvPr id="41" name=""/>
          <p:cNvCxnSpPr>
            <a:stCxn xmlns:a="http://schemas.openxmlformats.org/drawingml/2006/main" id="7" idx="3"/>
            <a:endCxn xmlns:a="http://schemas.openxmlformats.org/drawingml/2006/main" id="13" idx="1"/>
          </p:cNvCxnSpPr>
          <p:nvPr/>
        </p:nvCxnSpPr>
        <p:spPr>
          <a:xfrm xmlns:a="http://schemas.openxmlformats.org/drawingml/2006/main" flipV="1">
            <a:off x="9858375" y="3448050"/>
            <a:ext cx="1190625" cy="1009650"/>
          </a:xfrm>
          <a:prstGeom xmlns:a="http://schemas.openxmlformats.org/drawingml/2006/main" prst="bentConnector3">
            <a:avLst>
              <a:gd name="adj1" fmla="val 50000"/>
            </a:avLst>
          </a:prstGeom>
          <a:ln xmlns:a="http://schemas.openxmlformats.org/drawingml/2006/main" w="23813">
            <a:solidFill>
              <a:srgbClr val="8B9BA0"/>
            </a:solidFill>
            <a:tailEnd type="triangle" w="sm" len="sm"/>
          </a:ln>
        </p:spPr>
      </p:cxnSp>
      <p:cxnSp>
        <p:nvCxnSpPr>
          <p:cNvPr id="42" name=""/>
          <p:cNvCxnSpPr>
            <a:stCxn xmlns:a="http://schemas.openxmlformats.org/drawingml/2006/main" id="7" idx="3"/>
            <a:endCxn xmlns:a="http://schemas.openxmlformats.org/drawingml/2006/main" id="16" idx="1"/>
          </p:cNvCxnSpPr>
          <p:nvPr/>
        </p:nvCxnSpPr>
        <p:spPr>
          <a:xfrm xmlns:a="http://schemas.openxmlformats.org/drawingml/2006/main">
            <a:off x="9858375" y="4457700"/>
            <a:ext cx="1190625" cy="1219200"/>
          </a:xfrm>
          <a:prstGeom xmlns:a="http://schemas.openxmlformats.org/drawingml/2006/main" prst="bentConnector3">
            <a:avLst>
              <a:gd name="adj1" fmla="val 50000"/>
            </a:avLst>
          </a:prstGeom>
          <a:ln xmlns:a="http://schemas.openxmlformats.org/drawingml/2006/main" w="23813">
            <a:solidFill>
              <a:srgbClr val="8B9BA0"/>
            </a:solidFill>
            <a:tailEnd type="triangle" w="sm" len="sm"/>
          </a:ln>
        </p:spPr>
      </p:cxnSp>
      <p:sp>
        <p:nvSpPr>
          <p:cNvPr id="21" name="reuse-statement">
            <a:extLst xmlns:a="http://schemas.openxmlformats.org/drawingml/2006/main">
              <a:ext uri="{FF2B5EF4-FFF2-40B4-BE49-F238E27FC236}">
                <a16:creationId xmlns:a16="http://schemas.microsoft.com/office/drawing/2014/main" id="{D072DD48-4906-4784-A3A4-96DFDB2BF7AD}"/>
              </a:ext>
            </a:extLst>
          </p:cNvPr>
          <p:cNvSpPr>
            <a:spLocks xmlns:a="http://schemas.openxmlformats.org/drawingml/2006/main" noGrp="1"/>
          </p:cNvSpPr>
          <p:nvPr/>
        </p:nvSpPr>
        <p:spPr>
          <a:xfrm xmlns:a="http://schemas.openxmlformats.org/drawingml/2006/main">
            <a:off x="762000" y="6953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66C"/>
                </a:solidFill>
                <a:latin typeface="Helvetica Neue"/>
                <a:ea typeface="Helvetica Neue"/>
                <a:cs typeface="Helvetica Neue"/>
              </a:defRPr>
            </a:pPr>
            <a:r>
              <a:rPr sz="2325" b="1">
                <a:solidFill>
                  <a:srgbClr val="08766C"/>
                </a:solidFill>
                <a:latin typeface="Helvetica Neue"/>
                <a:ea typeface="Helvetica Neue"/>
                <a:cs typeface="Helvetica Neue"/>
              </a:rPr>
              <a:t>Reuse the platform and API contract. Configure tools and controls for each client.</a:t>
            </a:r>
          </a:p>
        </p:txBody>
      </p:sp>
      <p:sp>
        <p:nvSpPr>
          <p:cNvPr id="22" name="future-status">
            <a:extLst xmlns:a="http://schemas.openxmlformats.org/drawingml/2006/main">
              <a:ext uri="{FF2B5EF4-FFF2-40B4-BE49-F238E27FC236}">
                <a16:creationId xmlns:a16="http://schemas.microsoft.com/office/drawing/2014/main" id="{4694C288-57BD-45E2-BAF8-6199A5C79FD5}"/>
              </a:ext>
            </a:extLst>
          </p:cNvPr>
          <p:cNvSpPr>
            <a:spLocks xmlns:a="http://schemas.openxmlformats.org/drawingml/2006/main" noGrp="1"/>
          </p:cNvSpPr>
          <p:nvPr/>
        </p:nvSpPr>
        <p:spPr>
          <a:xfrm xmlns:a="http://schemas.openxmlformats.org/drawingml/2006/main">
            <a:off x="762000" y="7772400"/>
            <a:ext cx="1371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872"/>
                </a:solidFill>
                <a:latin typeface="Helvetica Neue"/>
                <a:ea typeface="Helvetica Neue"/>
                <a:cs typeface="Helvetica Neue"/>
              </a:defRPr>
            </a:pPr>
            <a:r>
              <a:rPr sz="1800" b="0">
                <a:solidFill>
                  <a:srgbClr val="536872"/>
                </a:solidFill>
                <a:latin typeface="Helvetica Neue"/>
                <a:ea typeface="Helvetica Neue"/>
                <a:cs typeface="Helvetica Neue"/>
              </a:rPr>
              <a:t>Future integration: external API and Joule connection remain to be delivered; each client retains its own data.</a:t>
            </a:r>
          </a:p>
        </p:txBody>
      </p:sp>
    </p:spTree>
    <p:extLst>
      <p:ext uri="{BB962C8B-B14F-4D97-AF65-F5344CB8AC3E}">
        <p14:creationId xmlns:p14="http://schemas.microsoft.com/office/powerpoint/2010/main" val="1192583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2026-10-02T10:28:01.8170000Z</dcterms:created>
  <dcterms:modified xsi:type="dcterms:W3CDTF">2026-10-02T10:28:01.8180000Z</dcterms:modified>
</coreProperties>
</file>