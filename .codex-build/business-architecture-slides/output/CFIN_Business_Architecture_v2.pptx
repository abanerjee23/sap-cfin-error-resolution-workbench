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fe45ebb04f40ee" /><Relationship Type="http://schemas.openxmlformats.org/officeDocument/2006/relationships/extended-properties" Target="/docProps/app.xml" Id="Rb6ac1b124dcf4fb2" /><Relationship Type="http://schemas.openxmlformats.org/officeDocument/2006/relationships/officeDocument" Target="/ppt/presentation.xml" Id="Rdeb90d8e586244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d4da4f0956464a"/>
  </p:sldMasterIdLst>
  <p:notesMasterIdLst>
    <p:notesMasterId xmlns:r="http://schemas.openxmlformats.org/officeDocument/2006/relationships" r:id="Rde62c5628e2646c3"/>
  </p:notesMasterIdLst>
  <p:sldIdLst>
    <p:sldId xmlns:r="http://schemas.openxmlformats.org/officeDocument/2006/relationships" id="256" r:id="Rfa1cea08165e415f"/>
    <p:sldId xmlns:r="http://schemas.openxmlformats.org/officeDocument/2006/relationships" id="257" r:id="R8d84a08d79d644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6382d9c4614f0f" /><Relationship Type="http://schemas.openxmlformats.org/officeDocument/2006/relationships/slideMaster" Target="/ppt/slideMasters/slideMaster1.xml" Id="R65d4da4f0956464a" /><Relationship Type="http://schemas.openxmlformats.org/officeDocument/2006/relationships/notesMaster" Target="/ppt/notesMasters/notesMaster1.xml" Id="Rde62c5628e2646c3" /><Relationship Type="http://schemas.openxmlformats.org/officeDocument/2006/relationships/presProps" Target="/ppt/presProps.xml" Id="Rb8b535a17b3441c8" /><Relationship Type="http://schemas.openxmlformats.org/officeDocument/2006/relationships/tableStyles" Target="/ppt/tableStyles.xml" Id="R26439ef1b03842db" /><Relationship Type="http://schemas.openxmlformats.org/officeDocument/2006/relationships/slide" Target="/ppt/slides/slide1.xml" Id="Rfa1cea08165e415f" /><Relationship Type="http://schemas.openxmlformats.org/officeDocument/2006/relationships/slide" Target="/ppt/slides/slide2.xml" Id="R8d84a08d79d644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4709f4afa240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b5a5e3e315423e" /><Relationship Type="http://schemas.openxmlformats.org/officeDocument/2006/relationships/notesMaster" Target="/ppt/notesMasters/notesMaster1.xml" Id="R1d6394640a9542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d1b1096bb447a4" /><Relationship Type="http://schemas.openxmlformats.org/officeDocument/2006/relationships/notesMaster" Target="/ppt/notesMasters/notesMaster1.xml" Id="Rc51fa9b4a3614f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CFIN technical architecture and agreed leadership design, 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CFIN technical architecture and agreed leadership design, 2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718919fb444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27ace72af04a00" /><Relationship Type="http://schemas.openxmlformats.org/officeDocument/2006/relationships/slideLayout" Target="/ppt/slideLayouts/slideLayout1.xml" Id="R36e380b2d0d64f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e380b2d0d64f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556f444144346" /><Relationship Type="http://schemas.openxmlformats.org/officeDocument/2006/relationships/notesSlide" Target="/ppt/notesSlides/notesSlide1.xml" Id="Rbe4e7b1062994c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52e02ddd644cc" /><Relationship Type="http://schemas.openxmlformats.org/officeDocument/2006/relationships/notesSlide" Target="/ppt/notesSlides/notesSlide2.xml" Id="Rf184acc6fa004f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37C321-2E66-4498-91E9-048298E3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CFIN document error-management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D1E07-0832-41C6-95D4-BB0BE7E2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85825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How an AIF error becomes a reviewable case and a validated CFIN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8AD9C5-13F7-4916-9D10-78066457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5D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D2374-9115-45C3-AAB6-BA0EF9EB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2095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14288">
            <a:solidFill>
              <a:srgbClr val="2D6EA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96D85-1167-48CE-B2C9-964F78F8A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EA3"/>
          </a:solidFill>
          <a:ln xmlns:a="http://schemas.openxmlformats.org/drawingml/2006/main" w="0">
            <a:solidFill>
              <a:srgbClr val="2D6EA3"/>
            </a:solidFill>
          </a:ln>
        </p:spPr>
        <p:txBody>
          <a:bodyPr xmlns:a="http://schemas.openxmlformats.org/drawingml/2006/main">
            <a:normAutofit fontScale="2678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87B54-C87E-46FA-A2D4-F7C58B19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76425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1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6E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6EA3"/>
                </a:solidFill>
                <a:latin typeface="Helvetica Neue"/>
                <a:ea typeface="Helvetica Neue"/>
                <a:cs typeface="Helvetica Neue"/>
              </a:rPr>
              <a:t>Ingestion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233987-0AEB-4B7B-A8D6-75DC2EFD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1752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Code preserves the original AIF log and opens a traceable case.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A5450-6F8D-492E-8346-6FBC9A91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62125"/>
            <a:ext cx="2190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14288">
            <a:solidFill>
              <a:srgbClr val="6A56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74E0A-E29B-4C8E-A59B-2418A482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05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56C8"/>
          </a:solidFill>
          <a:ln xmlns:a="http://schemas.openxmlformats.org/drawingml/2006/main" w="0">
            <a:solidFill>
              <a:srgbClr val="6A56C8"/>
            </a:solidFill>
          </a:ln>
        </p:spPr>
        <p:txBody>
          <a:bodyPr xmlns:a="http://schemas.openxmlformats.org/drawingml/2006/main">
            <a:normAutofit fontScale="2678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E62A6B-A62C-4D2F-BBF7-91E20ABD6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76425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1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A5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A56C8"/>
                </a:solidFill>
                <a:latin typeface="Helvetica Neue"/>
                <a:ea typeface="Helvetica Neue"/>
                <a:cs typeface="Helvetica Neue"/>
              </a:rPr>
              <a:t>Extraction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68510-38B0-48D4-B83C-BBD49E4F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57425"/>
            <a:ext cx="1847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GPT-6 Luna</a:t>
            </a:r>
          </a:p>
          <a:p xmlns:a="http://schemas.openxmlformats.org/drawingml/2006/main">
            <a:pPr>
              <a:def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Captures the log as structured facts with source references.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BA6792-0EAE-4E35-AE91-7D29DC8C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2190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14288">
            <a:solidFill>
              <a:srgbClr val="6A56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5710FD-EE29-429F-A0D9-E645EB7E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56C8"/>
          </a:solidFill>
          <a:ln xmlns:a="http://schemas.openxmlformats.org/drawingml/2006/main" w="0">
            <a:solidFill>
              <a:srgbClr val="6A56C8"/>
            </a:solidFill>
          </a:ln>
        </p:spPr>
        <p:txBody>
          <a:bodyPr xmlns:a="http://schemas.openxmlformats.org/drawingml/2006/main">
            <a:normAutofit fontScale="2678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65757F-CCE6-46C3-8113-720AC16D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76425"/>
            <a:ext cx="1524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1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A5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A56C8"/>
                </a:solidFill>
                <a:latin typeface="Helvetica Neue"/>
                <a:ea typeface="Helvetica Neue"/>
                <a:cs typeface="Helvetica Neue"/>
              </a:rPr>
              <a:t>Error Analysis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8A0732-7C0E-4513-A54D-E5D1C4C5F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57425"/>
            <a:ext cx="1847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GPT-6.1 Sol</a:t>
            </a:r>
          </a:p>
          <a:p xmlns:a="http://schemas.openxmlformats.org/drawingml/2006/main">
            <a:pPr>
              <a:def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Uses structured extraction only to propose type, hypothesis and gaps.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D5E6BD-E3D2-49AA-9BC5-996E7613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62125"/>
            <a:ext cx="2571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14288">
            <a:solidFill>
              <a:srgbClr val="2D6EA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E4C556-DAB4-4C1B-AB98-797B44F1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05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EA3"/>
          </a:solidFill>
          <a:ln xmlns:a="http://schemas.openxmlformats.org/drawingml/2006/main" w="0">
            <a:solidFill>
              <a:srgbClr val="2D6EA3"/>
            </a:solidFill>
          </a:ln>
        </p:spPr>
        <p:txBody>
          <a:bodyPr xmlns:a="http://schemas.openxmlformats.org/drawingml/2006/main">
            <a:normAutofit fontScale="2678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2679DB-3E20-4AC9-9C19-DAB309EB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876425"/>
            <a:ext cx="190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1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6E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6EA3"/>
                </a:solidFill>
                <a:latin typeface="Helvetica Neue"/>
                <a:ea typeface="Helvetica Neue"/>
                <a:cs typeface="Helvetica Neue"/>
              </a:rPr>
              <a:t>Route lookup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6A2838-7312-4023-AF49-0623CBD8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57425"/>
            <a:ext cx="2228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Code returns the maintained owner, approval route and escalation path.</a:t>
            </a:r>
          </a:p>
        </p:txBody>
      </p:sp>
      <p:cxnSp>
        <p:nvCxnSpPr>
          <p:cNvPr id="65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67000" y="24765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292"/>
            </a:solidFill>
            <a:prstDash val="solid"/>
            <a:tailEnd type="arrow" w="med" len="med"/>
          </a:ln>
        </p:spPr>
      </p:cxnSp>
      <p:cxnSp>
        <p:nvCxnSpPr>
          <p:cNvPr id="66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524500" y="24765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292"/>
            </a:solidFill>
            <a:prstDash val="solid"/>
            <a:tailEnd type="arrow" w="med" len="med"/>
          </a:ln>
        </p:spPr>
      </p:cxnSp>
      <p:cxnSp>
        <p:nvCxnSpPr>
          <p:cNvPr id="67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382000" y="24765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292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3DAF25-5D7D-452A-976A-557A9966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52925"/>
            <a:ext cx="20955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DF6F1"/>
          </a:solidFill>
          <a:ln xmlns:a="http://schemas.openxmlformats.org/drawingml/2006/main" w="14288">
            <a:solidFill>
              <a:srgbClr val="0E7C7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224ABE-6471-4BBA-B8F8-77E54ECA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7C72"/>
          </a:solidFill>
          <a:ln xmlns:a="http://schemas.openxmlformats.org/drawingml/2006/main" w="0">
            <a:solidFill>
              <a:srgbClr val="0E7C72"/>
            </a:solidFill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F1C71A-5A62-45A1-BC30-EE1BE3D7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67225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776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E7C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E7C72"/>
                </a:solidFill>
                <a:latin typeface="Helvetica Neue"/>
                <a:ea typeface="Helvetica Neue"/>
                <a:cs typeface="Helvetica Neue"/>
              </a:rPr>
              <a:t>Reviewed case history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0E08FB-7D90-4F3A-8D56-CE393856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48225"/>
            <a:ext cx="1752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Eligible past cases provide bounded, cited context.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B94B24-8724-4969-B41D-94BA937D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95750"/>
            <a:ext cx="27622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EAFE"/>
          </a:solidFill>
          <a:ln xmlns:a="http://schemas.openxmlformats.org/drawingml/2006/main" w="14288">
            <a:solidFill>
              <a:srgbClr val="6A56C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A1112D-FB8C-4FBB-9FFE-6B8FA91C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238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A56C8"/>
          </a:solidFill>
          <a:ln xmlns:a="http://schemas.openxmlformats.org/drawingml/2006/main" w="0">
            <a:solidFill>
              <a:srgbClr val="6A56C8"/>
            </a:solidFill>
          </a:ln>
        </p:spPr>
        <p:txBody>
          <a:bodyPr xmlns:a="http://schemas.openxmlformats.org/drawingml/2006/main">
            <a:normAutofit fontScale="2678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98FB68-46C8-40D3-B708-57416F61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10050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1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A5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A56C8"/>
                </a:solidFill>
                <a:latin typeface="Helvetica Neue"/>
                <a:ea typeface="Helvetica Neue"/>
                <a:cs typeface="Helvetica Neue"/>
              </a:rPr>
              <a:t>Summary Agent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99D572-948A-4BE1-8FA2-BB8B2E6F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591050"/>
            <a:ext cx="24193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GPT-6.1 Sol</a:t>
            </a:r>
          </a:p>
          <a:p xmlns:a="http://schemas.openxmlformats.org/drawingml/2006/main">
            <a:pPr>
              <a:def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Writes the readable case using analysis, cited original-log facts and relevant prior cases.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E09943-2200-49E9-A536-25EB9C39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20955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EFF"/>
          </a:solidFill>
          <a:ln xmlns:a="http://schemas.openxmlformats.org/drawingml/2006/main" w="14288">
            <a:solidFill>
              <a:srgbClr val="2D6EA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E35061-F907-4D5B-B1D6-F1598CB2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238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6EA3"/>
          </a:solidFill>
          <a:ln xmlns:a="http://schemas.openxmlformats.org/drawingml/2006/main" w="0">
            <a:solidFill>
              <a:srgbClr val="2D6EA3"/>
            </a:solidFill>
          </a:ln>
        </p:spPr>
        <p:txBody>
          <a:bodyPr xmlns:a="http://schemas.openxmlformats.org/drawingml/2006/main">
            <a:normAutofit fontScale="2678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46BAE2-1A8A-41E6-83B9-61B03B0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210050"/>
            <a:ext cx="1428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81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6E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6EA3"/>
                </a:solidFill>
                <a:latin typeface="Helvetica Neue"/>
                <a:ea typeface="Helvetica Neue"/>
                <a:cs typeface="Helvetica Neue"/>
              </a:rPr>
              <a:t>Case board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C6EC6D-576A-44CA-AFC2-8BBEA8C7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591050"/>
            <a:ext cx="1752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Shows evidence, owner, route, similar cases and case activity.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9950A1-717E-4FA5-9C20-A64211E0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95750"/>
            <a:ext cx="16192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DB"/>
          </a:solidFill>
          <a:ln xmlns:a="http://schemas.openxmlformats.org/drawingml/2006/main" w="14288">
            <a:solidFill>
              <a:srgbClr val="B85C1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7A73CD-AF9B-4C1C-A859-BBD478C7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238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C10"/>
          </a:solidFill>
          <a:ln xmlns:a="http://schemas.openxmlformats.org/drawingml/2006/main" w="0">
            <a:solidFill>
              <a:srgbClr val="B85C10"/>
            </a:solidFill>
          </a:ln>
        </p:spPr>
        <p:txBody>
          <a:bodyPr xmlns:a="http://schemas.openxmlformats.org/drawingml/2006/main">
            <a:normAutofit fontScale="2678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8A3D86-0229-401E-BB06-C118B119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210050"/>
            <a:ext cx="95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16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5C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85C10"/>
                </a:solidFill>
                <a:latin typeface="Helvetica Neue"/>
                <a:ea typeface="Helvetica Neue"/>
                <a:cs typeface="Helvetica Neue"/>
              </a:rPr>
              <a:t>Human review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31E39F-631C-4AA3-AA43-5A268B1B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591050"/>
            <a:ext cx="12763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Review, remediation and evidence capture.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Successful CFIN posting confirmed.</a:t>
            </a:r>
          </a:p>
        </p:txBody>
      </p:sp>
      <p:cxnSp>
        <p:nvCxnSpPr>
          <p:cNvPr id="84" name=""/>
          <p:cNvCxnSpPr>
            <a:stCxn xmlns:a="http://schemas.openxmlformats.org/drawingml/2006/main" id="1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4953000" y="3190875"/>
            <a:ext cx="5381625" cy="904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F8292"/>
            </a:solidFill>
            <a:prstDash val="solid"/>
            <a:tailEnd type="arrow" w="med" len="med"/>
          </a:ln>
        </p:spPr>
      </p:cxnSp>
      <p:cxnSp>
        <p:nvCxnSpPr>
          <p:cNvPr id="85" name=""/>
          <p:cNvCxnSpPr>
            <a:stCxn xmlns:a="http://schemas.openxmlformats.org/drawingml/2006/main" id="27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6334125" y="485775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292"/>
            </a:solidFill>
            <a:prstDash val="solid"/>
            <a:tailEnd type="arrow" w="med" len="med"/>
          </a:ln>
        </p:spPr>
      </p:cxnSp>
      <p:cxnSp>
        <p:nvCxnSpPr>
          <p:cNvPr id="86" name=""/>
          <p:cNvCxnSpPr>
            <a:stCxn xmlns:a="http://schemas.openxmlformats.org/drawingml/2006/main" id="31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334500" y="48577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F8292"/>
            </a:solidFill>
            <a:prstDash val="solid"/>
            <a:tailEnd type="arrow" w="med" len="med"/>
          </a:ln>
        </p:spPr>
      </p:cxnSp>
      <p:cxnSp>
        <p:nvCxnSpPr>
          <p:cNvPr id="87" name=""/>
          <p:cNvCxnSpPr>
            <a:stCxn xmlns:a="http://schemas.openxmlformats.org/drawingml/2006/main" id="23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2667000" y="4857750"/>
            <a:ext cx="904875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0E7C72"/>
            </a:solidFill>
            <a:prstDash val="dash"/>
            <a:tailEnd type="arrow" w="sm" len="sm"/>
          </a:ln>
        </p:spPr>
      </p:cxnSp>
      <p:cxnSp>
        <p:nvCxnSpPr>
          <p:cNvPr id="88" name=""/>
          <p:cNvCxnSpPr>
            <a:stCxn xmlns:a="http://schemas.openxmlformats.org/drawingml/2006/main" id="4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1619250" y="3190875"/>
            <a:ext cx="3333750" cy="9048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4288">
            <a:solidFill>
              <a:srgbClr val="0E7C72"/>
            </a:solidFill>
            <a:prstDash val="dash"/>
            <a:tailEnd type="arrow" w="sm" len="sm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31338D-928C-4309-9C9B-4FDF520A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8483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7C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0E7C72"/>
                </a:solidFill>
                <a:latin typeface="Helvetica Neue"/>
                <a:ea typeface="Helvetica Neue"/>
                <a:cs typeface="Helvetica Neue"/>
              </a:rPr>
              <a:t>Dotted paths: original evidence and authorised history feed Summary only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8D1E35-C544-44DF-B1C9-0F8F77A8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5732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9D3B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9D3B4A"/>
                </a:solidFill>
                <a:latin typeface="Helvetica Neue"/>
                <a:ea typeface="Helvetica Neue"/>
                <a:cs typeface="Helvetica Neue"/>
              </a:rPr>
              <a:t>Error Analysis cannot access raw logs, case history or SAP</a:t>
            </a:r>
          </a:p>
        </p:txBody>
      </p:sp>
    </p:spTree>
    <p:extLst>
      <p:ext uri="{BB962C8B-B14F-4D97-AF65-F5344CB8AC3E}">
        <p14:creationId xmlns:p14="http://schemas.microsoft.com/office/powerpoint/2010/main" val="1124787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733A2-80F5-4EA6-B6A9-F707BFE4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735"/>
                </a:solidFill>
                <a:latin typeface="Helvetica Neue"/>
                <a:ea typeface="Helvetica Neue"/>
                <a:cs typeface="Helvetica Neue"/>
              </a:rPr>
              <a:t>Flow, responsibilities and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1F13F-F0D1-4DC4-9C43-4EF9F728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95350"/>
            <a:ext cx="962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B6B78"/>
                </a:solidFill>
                <a:latin typeface="Helvetica Neue"/>
                <a:ea typeface="Helvetica Neue"/>
                <a:cs typeface="Helvetica Neue"/>
              </a:rPr>
              <a:t>The model prepares evidence and analysis. Code enforces policy. People own the outcome.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5167A-FFAC-4801-A4D8-D2D23590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5D1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1" firstCol="0" bandRow="1"/>
              <a:tblGrid>
                <a:gridCol w="1734044"/>
                <a:gridCol w="1307639"/>
                <a:gridCol w="2203088"/>
                <a:gridCol w="2629492"/>
                <a:gridCol w="3098537"/>
              </a:tblGrid>
              <a:tr h="4953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Stage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Lead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enters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the stage produces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Control that protects the case</a:t>
                      </a:r>
                    </a:p>
                  </a:txBody>
                  <a:tcPr marL="91440" marR="91440" marT="45720" marB="45720">
                    <a:solidFill>
                      <a:srgbClr val="0D1B2A"/>
                    </a:solidFill>
                  </a:tcPr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 Ingestion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Code</a:t>
                      </a:r>
                    </a:p>
                  </a:txBody>
                  <a:tcPr marL="91440" marR="91440" marT="45720" marB="45720">
                    <a:solidFill>
                      <a:srgbClr val="DCEE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AIF error log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Immutable original and queued case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Hash, source version and duplicate check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 Extraction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GPT-6 Luna</a:t>
                      </a:r>
                    </a:p>
                  </a:txBody>
                  <a:tcPr marL="91440" marR="91440" marT="45720" marB="45720">
                    <a:solidFill>
                      <a:srgbClr val="EEEA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log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Structured facts with source references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Unfamiliar or missing content remains visible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 Error Analysis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GPT-6.1 Sol</a:t>
                      </a:r>
                    </a:p>
                  </a:txBody>
                  <a:tcPr marL="91440" marR="91440" marT="45720" marB="45720">
                    <a:solidFill>
                      <a:srgbClr val="EEEA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Structured extraction 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Error type, tentative hypothesis and gaps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raw log, history, SAP or model-selected remediation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 Route lookup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Code</a:t>
                      </a:r>
                    </a:p>
                  </a:txBody>
                  <a:tcPr marL="91440" marR="91440" marT="45720" marB="45720">
                    <a:solidFill>
                      <a:srgbClr val="DCEE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Active error type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Owner role, approval path and escalation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Versioned policy registry controls the route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5. Summary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GPT-6.1 Sol</a:t>
                      </a:r>
                    </a:p>
                  </a:txBody>
                  <a:tcPr marL="91440" marR="91440" marT="45720" marB="45720">
                    <a:solidFill>
                      <a:srgbClr val="EEEAFE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Analysis, original citations and authorised related cases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Readable, cited investigator case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Similar cases support context, never prove the current cause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 b="1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6. Resolution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People</a:t>
                      </a:r>
                    </a:p>
                  </a:txBody>
                  <a:tcPr marL="91440" marR="91440" marT="45720" marB="45720">
                    <a:solidFill>
                      <a:srgbClr val="FFF0DB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Case evidence and governed route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Approval, change evidence and reprocessing result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975">
                          <a:solidFill>
                            <a:srgbClr val="142735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Successful CFIN posting confirmed by people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CCE05D-420F-4FC0-94CC-A6650F19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24550"/>
            <a:ext cx="1081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27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B85C1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85C10"/>
                </a:solidFill>
                <a:latin typeface="Helvetica Neue"/>
                <a:ea typeface="Helvetica Neue"/>
                <a:cs typeface="Helvetica Neue"/>
              </a:rPr>
              <a:t>Pilot route: only Master Data and Mapping receive a maintained automated route. All other categories go to the CFIN Exception Manager for manual assignment.</a:t>
            </a:r>
          </a:p>
        </p:txBody>
      </p:sp>
    </p:spTree>
    <p:extLst>
      <p:ext uri="{BB962C8B-B14F-4D97-AF65-F5344CB8AC3E}">
        <p14:creationId xmlns:p14="http://schemas.microsoft.com/office/powerpoint/2010/main" val="4051637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2026-10-02T16:22:33.8800000Z</dcterms:created>
  <dcterms:modified xsi:type="dcterms:W3CDTF">2026-10-02T16:22:33.8800000Z</dcterms:modified>
</coreProperties>
</file>