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b8f41667a646d8" /><Relationship Type="http://schemas.openxmlformats.org/officeDocument/2006/relationships/extended-properties" Target="/docProps/app.xml" Id="R161fbcc89e54424d" /><Relationship Type="http://schemas.openxmlformats.org/officeDocument/2006/relationships/officeDocument" Target="/ppt/presentation.xml" Id="R02ad0e9e72a447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dc390ec74c4b4d"/>
  </p:sldMasterIdLst>
  <p:notesMasterIdLst>
    <p:notesMasterId xmlns:r="http://schemas.openxmlformats.org/officeDocument/2006/relationships" r:id="Rc3890d8763284480"/>
  </p:notesMasterIdLst>
  <p:sldIdLst>
    <p:sldId xmlns:r="http://schemas.openxmlformats.org/officeDocument/2006/relationships" id="256" r:id="Rc420842d4f374782"/>
    <p:sldId xmlns:r="http://schemas.openxmlformats.org/officeDocument/2006/relationships" id="257" r:id="Rd35f323b53a046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861402137a4624" /><Relationship Type="http://schemas.openxmlformats.org/officeDocument/2006/relationships/slideMaster" Target="/ppt/slideMasters/slideMaster1.xml" Id="R63dc390ec74c4b4d" /><Relationship Type="http://schemas.openxmlformats.org/officeDocument/2006/relationships/notesMaster" Target="/ppt/notesMasters/notesMaster1.xml" Id="Rc3890d8763284480" /><Relationship Type="http://schemas.openxmlformats.org/officeDocument/2006/relationships/presProps" Target="/ppt/presProps.xml" Id="R98ac9d42524142f9" /><Relationship Type="http://schemas.openxmlformats.org/officeDocument/2006/relationships/tableStyles" Target="/ppt/tableStyles.xml" Id="R8891e3e865c94779" /><Relationship Type="http://schemas.openxmlformats.org/officeDocument/2006/relationships/slide" Target="/ppt/slides/slide1.xml" Id="Rc420842d4f374782" /><Relationship Type="http://schemas.openxmlformats.org/officeDocument/2006/relationships/slide" Target="/ppt/slides/slide2.xml" Id="Rd35f323b53a046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2e5edbf6be41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92955db1904919" /><Relationship Type="http://schemas.openxmlformats.org/officeDocument/2006/relationships/notesMaster" Target="/ppt/notesMasters/notesMaster1.xml" Id="R9a6bacdb1b6641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e4356d0b944533" /><Relationship Type="http://schemas.openxmlformats.org/officeDocument/2006/relationships/notesMaster" Target="/ppt/notesMasters/notesMaster1.xml" Id="Rfd2b404034fa48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 revised architecture and docs/technical-architecture.md, 2 October 2026. Target Error Analysis architecture. Current runtime remains factual-only until implemented and enabled.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 revised architecture and docs/technical-architecture.md, 2 October 2026. The route registry, human approval and saved-case API are code-controlled boundaries.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aa6b7872eb41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596b21a04f4adf" /><Relationship Type="http://schemas.openxmlformats.org/officeDocument/2006/relationships/slideLayout" Target="/ppt/slideLayouts/slideLayout1.xml" Id="R6cb6e60b250f43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b6e60b250f43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e21bc74a04d00" /><Relationship Type="http://schemas.openxmlformats.org/officeDocument/2006/relationships/notesSlide" Target="/ppt/notesSlides/notesSlide1.xml" Id="Re223e177f38c42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dc0f49d2e499a" /><Relationship Type="http://schemas.openxmlformats.org/officeDocument/2006/relationships/notesSlide" Target="/ppt/notesSlides/notesSlide2.xml" Id="R7b19c6e405f54e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D514414-CC98-462A-90C4-654A33D7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885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979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5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53746"/>
                </a:solidFill>
                <a:latin typeface="Helvetica Neue"/>
                <a:ea typeface="Helvetica Neue"/>
                <a:cs typeface="Helvetica Neue"/>
              </a:rPr>
              <a:t>Technical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98531-DBC8-4A18-BA65-B569960F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E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E7B"/>
                </a:solidFill>
                <a:latin typeface="Helvetica Neue"/>
                <a:ea typeface="Helvetica Neue"/>
                <a:cs typeface="Helvetica Neue"/>
              </a:rPr>
              <a:t>The system preserves source evidence, constrains each agent and keeps approvals with people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159302-1157-45E2-B913-0B578EDD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2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2A9A7A-651B-420E-A9BE-D5EE63CE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2238375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92BD9-9751-4210-B5C3-39D6CA33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62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795CD3-9B97-4F97-AA44-7303532A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020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185C4-BF43-4263-8A11-6E2CFFC0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33525"/>
            <a:ext cx="1647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Ingestion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F94BB4-FA7B-47CB-A1EE-6F14B696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43075"/>
            <a:ext cx="1647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rPr>
              <a:t>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A55395-D0E3-46DE-BC97-EDD90732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621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rPr>
              <a:t>Preserves the supplied log, records its version and queues analysis.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5A18B2-30BE-4840-9A75-F1C7121B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447800"/>
            <a:ext cx="2238375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4288">
            <a:solidFill>
              <a:srgbClr val="7C3A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AFED8B-B2B0-4C4B-9BFF-AD6F862A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62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19F2FB-A56B-4FE8-9DDB-8429A571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0020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C006C8-57B9-45EF-90F7-9BC4C827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533525"/>
            <a:ext cx="1647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Extraction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F44DE2-62FA-42F5-8A9D-AEF77C40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743075"/>
            <a:ext cx="1647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rPr>
              <a:t>AGENT 1 · GPT-6 LUNA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10E159-5931-446C-A1A5-1B3CA344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621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rPr>
              <a:t>Captures every supplied entry, field and source reference.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0E2705-26A8-4948-8314-2DD19EF4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47800"/>
            <a:ext cx="2238375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4288">
            <a:solidFill>
              <a:srgbClr val="7C3A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825C9D-48FC-493A-8479-3270B4A1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562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DCBCDE-3B5C-4D14-8601-F9A76EC6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60020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5079A7-6C2B-43CB-B9FA-CF8BDCAC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33525"/>
            <a:ext cx="1647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Error Analysis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BDE086-75EE-425A-968B-4E2F6DDD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43075"/>
            <a:ext cx="1647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rPr>
              <a:t>AGENT 2 · GPT-6.1 SOL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972221-2C30-41D8-B414-22C461BD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9621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rPr>
              <a:t>Classifies the extracted error and forms a supported cause hypothesis.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623F1D-6460-4DCF-861A-4C0A06AB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447800"/>
            <a:ext cx="2238375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7AAB71-A604-4105-8D2B-CE307C86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62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4C48E2-4ACF-43B6-937B-0C93FE9F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0020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0FB42F-392E-47D5-BDC2-CF7A9891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533525"/>
            <a:ext cx="1647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Controlled route lookup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FD8D4F-4A57-433F-8BFE-ED121D25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743075"/>
            <a:ext cx="1647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rPr>
              <a:t>CODE TOOL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6907BB-4D94-4148-A000-D674EE72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621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rPr>
              <a:t>Returns the maintained owner, approval steps, remediation route and escalation.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FD77BE-DBE7-4D2C-BD6B-F7ACA6D2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09950"/>
            <a:ext cx="2238375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54F990-BA71-4B78-837A-60893EAA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24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763D8B-B81D-4DA9-9780-49DF1AB6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623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FFAF4A-13F6-45F1-9E57-A66209D8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95675"/>
            <a:ext cx="1647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Reviewed case history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006B01-DD35-465C-9881-BFDBC946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05225"/>
            <a:ext cx="1647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rPr>
              <a:t>CONTROLLED KNOWLEDGE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42840A-EA1A-41D7-9E50-3ABA3B8F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92430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rPr>
              <a:t>Retains approved findings and supplies eligible prior-case evidence.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D93DCC-9BB4-4C43-8F22-4FC4BDAD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409950"/>
            <a:ext cx="2238375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4288">
            <a:solidFill>
              <a:srgbClr val="7C3AE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CF6BAD-459E-4798-99D7-B928C571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24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F42BFD-AB3B-4DC9-A4CB-2FCD2347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623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8785C6-3A32-4B76-A7F8-6BC93D66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495675"/>
            <a:ext cx="1647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Summary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C1B692-2543-413C-B041-A64DB476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705225"/>
            <a:ext cx="1647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rPr>
              <a:t>AGENT 3 · GPT-6.1 SOL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917ACD-5A59-45F0-9D19-ECCC8A77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92430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rPr>
              <a:t>Writes the cited case brief, uncertainty and relevant historical comparison.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05C073-1A16-498F-AB0F-B55E9DE0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09950"/>
            <a:ext cx="2238375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83BCCB-E5DB-47FD-A647-A02E919C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524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0C71F59-63E3-4774-B89A-7F79F134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5623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5A1C52B-C120-4736-8CC6-E188A894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95675"/>
            <a:ext cx="1647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Case creation and routing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D30D96-2DD9-4D6D-B82E-9F16191B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05225"/>
            <a:ext cx="1647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rPr>
              <a:t>CODE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A2FB2DC-0B9B-40E4-B973-09610C84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92430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rPr>
              <a:t>Compiles the case, embeds the original and assigns the configured owner.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0707857-43FE-4B6F-B82D-7E9152ED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409950"/>
            <a:ext cx="2238375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4288">
            <a:solidFill>
              <a:srgbClr val="B4530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D2D1220-6312-4E45-AA41-0113C9D7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24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D420B86-F702-4B2F-B898-E283C82F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623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42D80FC-D2C2-4B07-AA49-A447547B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495675"/>
            <a:ext cx="1647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rPr>
              <a:t>Human review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50D5F48-FC8E-4EB3-8141-17DE4BD4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705225"/>
            <a:ext cx="1647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rPr>
              <a:t>PEOPLE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6B8649B-9D5C-4FE6-9CF8-A7A4BDC9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92430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rPr>
              <a:t>Reviews the case and records approvals, evidence, findings and outcomes.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A3AF9A6-16C9-4A5B-B300-F5609118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14950"/>
            <a:ext cx="2238375" cy="10001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76084ED-9A07-4EB3-B4FA-82797A5C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429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743DC83-19C3-4DC0-953E-F6D5C697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4673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3E02401-A3B6-4C36-8DCF-7FB5302A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00675"/>
            <a:ext cx="1647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Case JSON API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C47E0F5-556B-4D04-A21B-DA2AB16F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610225"/>
            <a:ext cx="1647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rPr>
              <a:t>CODE · READ ONLY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7A34820-790C-4E7E-A03E-555A006A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5829300"/>
            <a:ext cx="1952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rPr>
              <a:t>Serves authorised saved case facts, state and original logs.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555C139-C8EA-4718-A5DC-6667C5DD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314950"/>
            <a:ext cx="2238375" cy="10001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4288">
            <a:solidFill>
              <a:srgbClr val="64748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BECF5FE-6E49-4662-93EF-707387EB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429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2E39633-F0F0-48A6-8E12-46D6CABA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4673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CC935FA-DB65-435C-8425-AF57022B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5400675"/>
            <a:ext cx="1647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SAP Joule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134979C-FF72-4E4F-ADB2-E4550817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5610225"/>
            <a:ext cx="1647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D6E7B"/>
                </a:solidFill>
                <a:latin typeface="Helvetica Neue"/>
                <a:ea typeface="Helvetica Neue"/>
                <a:cs typeface="Helvetica Neue"/>
              </a:rPr>
              <a:t>FUTURE CONNECTION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A22DDB1-A257-494F-ADF0-920A2785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829300"/>
            <a:ext cx="1952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965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rPr>
              <a:t>Reads the case through a configured tool under customer access controls.</a:t>
            </a:r>
          </a:p>
        </p:txBody>
      </p:sp>
      <p:cxnSp>
        <p:nvCxnSpPr>
          <p:cNvPr id="142" name=""/>
          <p:cNvCxnSpPr>
            <a:stCxn xmlns:a="http://schemas.openxmlformats.org/drawingml/2006/main" id="4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638425" y="20288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569"/>
            </a:solidFill>
            <a:prstDash val="solid"/>
            <a:tailEnd type="arrow" w="sm" len="sm"/>
          </a:ln>
        </p:spPr>
      </p:cxnSp>
      <p:cxnSp>
        <p:nvCxnSpPr>
          <p:cNvPr id="143" name=""/>
          <p:cNvCxnSpPr>
            <a:stCxn xmlns:a="http://schemas.openxmlformats.org/drawingml/2006/main" id="10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448300" y="20288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569"/>
            </a:solidFill>
            <a:prstDash val="solid"/>
            <a:tailEnd type="arrow" w="sm" len="sm"/>
          </a:ln>
        </p:spPr>
      </p:cxnSp>
      <p:cxnSp>
        <p:nvCxnSpPr>
          <p:cNvPr id="144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258175" y="20288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569"/>
            </a:solidFill>
            <a:prstDash val="solid"/>
            <a:tailEnd type="arrow" w="sm" len="sm"/>
          </a:ln>
        </p:spPr>
      </p:cxnSp>
      <p:cxnSp>
        <p:nvCxnSpPr>
          <p:cNvPr id="145" name=""/>
          <p:cNvCxnSpPr>
            <a:stCxn xmlns:a="http://schemas.openxmlformats.org/drawingml/2006/main" id="22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 flipH="1">
            <a:off x="4329113" y="2609850"/>
            <a:ext cx="5619750" cy="800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475569"/>
            </a:solidFill>
            <a:prstDash val="solid"/>
            <a:tailEnd type="arrow" w="sm" len="sm"/>
          </a:ln>
        </p:spPr>
      </p:cxnSp>
      <p:cxnSp>
        <p:nvCxnSpPr>
          <p:cNvPr id="146" name=""/>
          <p:cNvCxnSpPr>
            <a:stCxn xmlns:a="http://schemas.openxmlformats.org/drawingml/2006/main" id="28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2638425" y="39909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F766E"/>
            </a:solidFill>
            <a:prstDash val="dash"/>
            <a:tailEnd type="arrow" w="sm" len="sm"/>
          </a:ln>
        </p:spPr>
      </p:cxnSp>
      <p:cxnSp>
        <p:nvCxnSpPr>
          <p:cNvPr id="147" name=""/>
          <p:cNvCxnSpPr>
            <a:stCxn xmlns:a="http://schemas.openxmlformats.org/drawingml/2006/main" id="34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5448300" y="39909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569"/>
            </a:solidFill>
            <a:prstDash val="solid"/>
            <a:tailEnd type="arrow" w="sm" len="sm"/>
          </a:ln>
        </p:spPr>
      </p:cxnSp>
      <p:cxnSp>
        <p:nvCxnSpPr>
          <p:cNvPr id="148" name=""/>
          <p:cNvCxnSpPr>
            <a:stCxn xmlns:a="http://schemas.openxmlformats.org/drawingml/2006/main" id="40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8258175" y="39909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569"/>
            </a:solidFill>
            <a:prstDash val="solid"/>
            <a:tailEnd type="arrow" w="sm" len="sm"/>
          </a:ln>
        </p:spPr>
      </p:cxnSp>
      <p:cxnSp>
        <p:nvCxnSpPr>
          <p:cNvPr id="149" name=""/>
          <p:cNvCxnSpPr>
            <a:stCxn xmlns:a="http://schemas.openxmlformats.org/drawingml/2006/main" id="46" idx="2"/>
            <a:endCxn xmlns:a="http://schemas.openxmlformats.org/drawingml/2006/main" id="28" idx="2"/>
          </p:cNvCxnSpPr>
          <p:nvPr/>
        </p:nvCxnSpPr>
        <p:spPr>
          <a:xfrm xmlns:a="http://schemas.openxmlformats.org/drawingml/2006/main" flipH="1">
            <a:off x="1519238" y="4572000"/>
            <a:ext cx="8429625" cy="228600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0F766E"/>
            </a:solidFill>
            <a:prstDash val="dash"/>
            <a:tailEnd type="arrow" w="sm" len="sm"/>
          </a:ln>
        </p:spPr>
      </p:cxnSp>
      <p:cxnSp>
        <p:nvCxnSpPr>
          <p:cNvPr id="150" name=""/>
          <p:cNvCxnSpPr>
            <a:stCxn xmlns:a="http://schemas.openxmlformats.org/drawingml/2006/main" id="40" idx="2"/>
            <a:endCxn xmlns:a="http://schemas.openxmlformats.org/drawingml/2006/main" id="52" idx="0"/>
          </p:cNvCxnSpPr>
          <p:nvPr/>
        </p:nvCxnSpPr>
        <p:spPr>
          <a:xfrm xmlns:a="http://schemas.openxmlformats.org/drawingml/2006/main">
            <a:off x="7138988" y="4572000"/>
            <a:ext cx="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569"/>
            </a:solidFill>
            <a:prstDash val="solid"/>
            <a:tailEnd type="arrow" w="sm" len="sm"/>
          </a:ln>
        </p:spPr>
      </p:cxnSp>
      <p:cxnSp>
        <p:nvCxnSpPr>
          <p:cNvPr id="151" name=""/>
          <p:cNvCxnSpPr>
            <a:stCxn xmlns:a="http://schemas.openxmlformats.org/drawingml/2006/main" id="52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8258175" y="58150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dash"/>
            <a:headEnd type="arrow" w="sm" len="sm"/>
            <a:tailEnd type="arrow" w="sm" len="sm"/>
          </a:ln>
        </p:spPr>
      </p:cxn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5465BDF-7D68-4A0E-B359-345273F7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051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D6E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6E7B"/>
                </a:solidFill>
                <a:latin typeface="Helvetica Neue"/>
                <a:ea typeface="Helvetica Neue"/>
                <a:cs typeface="Helvetica Neue"/>
              </a:rPr>
              <a:t>structured extraction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C5B5268-D7C9-4021-A202-6A29ACAB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4800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governed route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CBBFA24-2044-422F-BB65-9454227A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43325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eligible history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87EC01A-756D-44E1-9130-53A04FBE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244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approved learning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4889EEC-D1D2-40BC-8C3E-9EDE9B4A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6673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authorised JSON</a:t>
            </a:r>
          </a:p>
        </p:txBody>
      </p:sp>
    </p:spTree>
    <p:extLst>
      <p:ext uri="{BB962C8B-B14F-4D97-AF65-F5344CB8AC3E}">
        <p14:creationId xmlns:p14="http://schemas.microsoft.com/office/powerpoint/2010/main" val="8332368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6DADF8-4D82-4B74-AF84-239C0796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885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979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5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53746"/>
                </a:solidFill>
                <a:latin typeface="Helvetica Neue"/>
                <a:ea typeface="Helvetica Neue"/>
                <a:cs typeface="Helvetica Neue"/>
              </a:rPr>
              <a:t>What each block receives and produces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F7508B-B18A-4B59-B7C4-7549E244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E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E7B"/>
                </a:solidFill>
                <a:latin typeface="Helvetica Neue"/>
                <a:ea typeface="Helvetica Neue"/>
                <a:cs typeface="Helvetica Neue"/>
              </a:rPr>
              <a:t>Inputs stay bounded. Outputs remain versioned and traceable to the preserved original log.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99755-131B-42BE-9CA6-C5367590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2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51486B-0B4D-4C50-A402-79B8C1E2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62075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Analysis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ADD9F7-49A2-46C0-8C65-167C9D8B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36207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Case lifecycle and access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52450" y="1714500"/>
          <a:ext xmlns:a="http://schemas.openxmlformats.org/drawingml/2006/main" cx="5286375" cy="43624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34592"/>
                <a:gridCol w="3551783"/>
              </a:tblGrid>
              <a:tr h="409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Block and owner</a:t>
                      </a:r>
                    </a:p>
                  </a:txBody>
                  <a:tcPr marL="91440" marR="91440" marT="45720" marB="45720">
                    <a:solidFill>
                      <a:srgbClr val="172554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 flow and result</a:t>
                      </a:r>
                    </a:p>
                  </a:txBody>
                  <a:tcPr marL="91440" marR="91440" marT="45720" marB="45720">
                    <a:solidFill>
                      <a:srgbClr val="172554"/>
                    </a:solidFill>
                  </a:tcPr>
                </a:tc>
              </a:tr>
              <a:tr h="790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 Ingestion</a:t>
                      </a:r>
                    </a:p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Code</a:t>
                      </a:r>
                    </a:p>
                  </a:txBody>
                  <a:tcPr marL="91440" marR="91440" marT="45720" marB="45720">
                    <a:solidFill>
                      <a:srgbClr val="DBEAF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Receives the AIF log. Saves the immutable original and metadata, then queues analysis.</a:t>
                      </a:r>
                    </a:p>
                  </a:txBody>
                  <a:tcPr marL="91440" marR="91440" marT="45720" marB="45720"/>
                </a:tc>
              </a:tr>
              <a:tr h="790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 Extraction</a:t>
                      </a:r>
                    </a:p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Agent 1 · GPT-6 Luna</a:t>
                      </a:r>
                    </a:p>
                  </a:txBody>
                  <a:tcPr marL="91440" marR="91440" marT="45720" marB="45720">
                    <a:solidFill>
                      <a:srgbClr val="EDE9F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Receives original content. Returns a comprehensive structured extraction with source references and limitations.</a:t>
                      </a:r>
                    </a:p>
                  </a:txBody>
                  <a:tcPr marL="91440" marR="91440" marT="45720" marB="45720"/>
                </a:tc>
              </a:tr>
              <a:tr h="790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3. Error Analysis</a:t>
                      </a:r>
                    </a:p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Agent 2 · GPT-6.1 Sol</a:t>
                      </a:r>
                    </a:p>
                  </a:txBody>
                  <a:tcPr marL="91440" marR="91440" marT="45720" marB="45720">
                    <a:solidFill>
                      <a:srgbClr val="EDE9F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Receives structured extraction only. Returns an active category or unclassified, a cause hypothesis, evidence references and gaps.</a:t>
                      </a:r>
                    </a:p>
                  </a:txBody>
                  <a:tcPr marL="91440" marR="91440" marT="45720" marB="45720"/>
                </a:tc>
              </a:tr>
              <a:tr h="790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Route lookup</a:t>
                      </a:r>
                    </a:p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Code tool</a:t>
                      </a:r>
                    </a:p>
                  </a:txBody>
                  <a:tcPr marL="91440" marR="91440" marT="45720" marB="45720">
                    <a:solidFill>
                      <a:srgbClr val="DBEAF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Receives the category. Returns the maintained owner, approval sequence, remediation steps and escalation.</a:t>
                      </a:r>
                    </a:p>
                  </a:txBody>
                  <a:tcPr marL="91440" marR="91440" marT="45720" marB="45720"/>
                </a:tc>
              </a:tr>
              <a:tr h="790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4. Summary</a:t>
                      </a:r>
                    </a:p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Agent 3 · GPT-6.1 Sol</a:t>
                      </a:r>
                    </a:p>
                  </a:txBody>
                  <a:tcPr marL="91440" marR="91440" marT="45720" marB="45720">
                    <a:solidFill>
                      <a:srgbClr val="EDE9F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Receives the analysis and route, original citations and authorised history. Returns the readable case brief.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16" name=""/>
          <p:cNvGraphicFramePr/>
          <p:nvPr/>
        </p:nvGraphicFramePr>
        <p:xfrm>
          <a:off xmlns:a="http://schemas.openxmlformats.org/drawingml/2006/main" x="6267450" y="1714500"/>
          <a:ext xmlns:a="http://schemas.openxmlformats.org/drawingml/2006/main" cx="5372100" cy="43624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62720"/>
                <a:gridCol w="3609380"/>
              </a:tblGrid>
              <a:tr h="409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Block and owner</a:t>
                      </a:r>
                    </a:p>
                  </a:txBody>
                  <a:tcPr marL="91440" marR="91440" marT="45720" marB="45720">
                    <a:solidFill>
                      <a:srgbClr val="172554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 flow and result</a:t>
                      </a:r>
                    </a:p>
                  </a:txBody>
                  <a:tcPr marL="91440" marR="91440" marT="45720" marB="45720">
                    <a:solidFill>
                      <a:srgbClr val="172554"/>
                    </a:solidFill>
                  </a:tcPr>
                </a:tc>
              </a:tr>
              <a:tr h="790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5. Case creation</a:t>
                      </a:r>
                    </a:p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Code</a:t>
                      </a:r>
                    </a:p>
                  </a:txBody>
                  <a:tcPr marL="91440" marR="91440" marT="45720" marB="45720">
                    <a:solidFill>
                      <a:srgbClr val="DBEAF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Receives the brief, analysis, route and original. Saves the case, evidence links and ownership state.</a:t>
                      </a:r>
                    </a:p>
                  </a:txBody>
                  <a:tcPr marL="91440" marR="91440" marT="45720" marB="45720"/>
                </a:tc>
              </a:tr>
              <a:tr h="790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6. Human review</a:t>
                      </a:r>
                    </a:p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People</a:t>
                      </a:r>
                    </a:p>
                  </a:txBody>
                  <a:tcPr marL="91440" marR="91440" marT="45720" marB="45720">
                    <a:solidFill>
                      <a:srgbClr val="FEF3C7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Receives the case and evidence. Records corrections, approvals, implementation evidence and the reprocessing outcome.</a:t>
                      </a:r>
                    </a:p>
                  </a:txBody>
                  <a:tcPr marL="91440" marR="91440" marT="45720" marB="45720"/>
                </a:tc>
              </a:tr>
              <a:tr h="790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7. Reviewed history</a:t>
                      </a:r>
                    </a:p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People and code</a:t>
                      </a:r>
                    </a:p>
                  </a:txBody>
                  <a:tcPr marL="91440" marR="91440" marT="45720" marB="45720">
                    <a:solidFill>
                      <a:srgbClr val="CCFBF1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Receives approved findings. Publishes eligible, versioned evidence for future Summary Agent runs.</a:t>
                      </a:r>
                    </a:p>
                  </a:txBody>
                  <a:tcPr marL="91440" marR="91440" marT="45720" marB="45720"/>
                </a:tc>
              </a:tr>
              <a:tr h="790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8. Case JSON API</a:t>
                      </a:r>
                    </a:p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Code · read only</a:t>
                      </a:r>
                    </a:p>
                  </a:txBody>
                  <a:tcPr marL="91440" marR="91440" marT="45720" marB="45720">
                    <a:solidFill>
                      <a:srgbClr val="DBEAF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Receives an authenticated request. Returns saved case facts and authorised original-log access.</a:t>
                      </a:r>
                    </a:p>
                  </a:txBody>
                  <a:tcPr marL="91440" marR="91440" marT="45720" marB="45720"/>
                </a:tc>
              </a:tr>
              <a:tr h="790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9. SAP Joule</a:t>
                      </a:r>
                    </a:p>
                    <a:p>
                      <a:r>
                        <a:rPr sz="1050" b="1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Future connection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25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Receives permitted JSON through a configured tool. This channel has no SAP write authority.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F0E7F-E98E-4FE5-BC33-ED660CB2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904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25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rPr>
              <a:t>Key 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9F7ADA-8567-4D74-AFA8-70D2DC9D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286500"/>
            <a:ext cx="995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53746"/>
                </a:solidFill>
                <a:latin typeface="Helvetica Neue"/>
                <a:ea typeface="Helvetica Neue"/>
                <a:cs typeface="Helvetica Neue"/>
              </a:rPr>
              <a:t>Error Analysis sees structured extraction only. Summary receives the original for citations and only authorised related cases.</a:t>
            </a:r>
          </a:p>
        </p:txBody>
      </p:sp>
    </p:spTree>
    <p:extLst>
      <p:ext uri="{BB962C8B-B14F-4D97-AF65-F5344CB8AC3E}">
        <p14:creationId xmlns:p14="http://schemas.microsoft.com/office/powerpoint/2010/main" val="20394171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2026-10-02T16:37:52.0170000Z</dcterms:created>
  <dcterms:modified xsi:type="dcterms:W3CDTF">2026-10-02T16:37:52.0170000Z</dcterms:modified>
</coreProperties>
</file>