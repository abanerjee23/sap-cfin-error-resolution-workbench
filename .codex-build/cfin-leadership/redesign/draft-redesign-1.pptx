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41dcef17be44272" /><Relationship Type="http://schemas.openxmlformats.org/officeDocument/2006/relationships/extended-properties" Target="/docProps/app.xml" Id="Rd1d633a4c4154fa4" /><Relationship Type="http://schemas.openxmlformats.org/officeDocument/2006/relationships/officeDocument" Target="/ppt/presentation.xml" Id="R1943275c853c4edd" /></Relationships>
</file>

<file path=ppt/presentation.xml><?xml version="1.0" encoding="utf-8"?>
<p:presentation xmlns:p="http://schemas.openxmlformats.org/presentationml/2006/main">
  <p:sldMasterIdLst>
    <p:sldMasterId xmlns:r="http://schemas.openxmlformats.org/officeDocument/2006/relationships" id="2147483648" r:id="R475324bf6c8f4452"/>
  </p:sldMasterIdLst>
  <p:notesMasterIdLst>
    <p:notesMasterId xmlns:r="http://schemas.openxmlformats.org/officeDocument/2006/relationships" r:id="Rb90fd4b9ba264912"/>
  </p:notesMasterIdLst>
  <p:sldIdLst>
    <p:sldId xmlns:r="http://schemas.openxmlformats.org/officeDocument/2006/relationships" id="256" r:id="R58b86b31395e4626"/>
    <p:sldId xmlns:r="http://schemas.openxmlformats.org/officeDocument/2006/relationships" id="257" r:id="R63bf3a38c6f145c3"/>
    <p:sldId xmlns:r="http://schemas.openxmlformats.org/officeDocument/2006/relationships" id="258" r:id="Rd9e494c42165486c"/>
    <p:sldId xmlns:r="http://schemas.openxmlformats.org/officeDocument/2006/relationships" id="259" r:id="R9a6a25bdf7a3499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edcc6be5064393" /><Relationship Type="http://schemas.openxmlformats.org/officeDocument/2006/relationships/slideMaster" Target="/ppt/slideMasters/slideMaster1.xml" Id="R475324bf6c8f4452" /><Relationship Type="http://schemas.openxmlformats.org/officeDocument/2006/relationships/notesMaster" Target="/ppt/notesMasters/notesMaster1.xml" Id="Rb90fd4b9ba264912" /><Relationship Type="http://schemas.openxmlformats.org/officeDocument/2006/relationships/presProps" Target="/ppt/presProps.xml" Id="R5ee8f4feadf64b90" /><Relationship Type="http://schemas.openxmlformats.org/officeDocument/2006/relationships/tableStyles" Target="/ppt/tableStyles.xml" Id="Rfd6255d5c8674d29" /><Relationship Type="http://schemas.openxmlformats.org/officeDocument/2006/relationships/slide" Target="/ppt/slides/slide1.xml" Id="R58b86b31395e4626" /><Relationship Type="http://schemas.openxmlformats.org/officeDocument/2006/relationships/slide" Target="/ppt/slides/slide2.xml" Id="R63bf3a38c6f145c3" /><Relationship Type="http://schemas.openxmlformats.org/officeDocument/2006/relationships/slide" Target="/ppt/slides/slide3.xml" Id="Rd9e494c42165486c" /><Relationship Type="http://schemas.openxmlformats.org/officeDocument/2006/relationships/slide" Target="/ppt/slides/slide4.xml" Id="R9a6a25bdf7a349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0845e121a74d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9f2fb02c9645eb" /><Relationship Type="http://schemas.openxmlformats.org/officeDocument/2006/relationships/notesMaster" Target="/ppt/notesMasters/notesMaster1.xml" Id="Rd92fc07f4c404f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e8e85ce19e40bc" /><Relationship Type="http://schemas.openxmlformats.org/officeDocument/2006/relationships/notesMaster" Target="/ppt/notesMasters/notesMaster1.xml" Id="R4571088e5c414a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a2ce52e06a4a5b" /><Relationship Type="http://schemas.openxmlformats.org/officeDocument/2006/relationships/notesMaster" Target="/ppt/notesMasters/notesMaster1.xml" Id="R1cda491fd2bc4e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5eb0fcd8c341e4" /><Relationship Type="http://schemas.openxmlformats.org/officeDocument/2006/relationships/notesMaster" Target="/ppt/notesMasters/notesMaster1.xml" Id="Rf95c6941902b4c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helps CFIN support teams understand a reported exception before they investigate it. It prepares a factual brief, preserves complete originals and provides traceable evidence. The AI does not diagnose a root cause, recommend a fix or act inside SAP. People retain investigation and resolution responsibility. The application has been built using synthetic AIF examples, not representative client exports. Customer formats, essential-fact retention, unsupported claims, reading effort, latency and cost need representative data and analyst review. Missing uploaded content stays unknown.</a:t>
            </a:r>
          </a:p>
          <a:p xmlns:a="http://schemas.openxmlformats.org/drawingml/2006/main">
            <a:r>
              <a:t/>
            </a:r>
          </a:p>
          <a:p xmlns:a="http://schemas.openxmlformats.org/drawingml/2006/main">
            <a:r>
              <a:t>Sources: current README.md, docs/mvp-brief.md, BUILD.md and synthetic fixture materials,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is supplied UTF-8 AIF evidence, not live SAP data. The initial envelope is one to eight originals, at most 8,192 aggregate bytes and 64 lines; unsupported inputs are rejected without silent truncation. Code preserves originals and source versions. GPT-6 Luna extracts the full supplied content. GPT-6.1 Sol selects evidence, then a separate Sol stage writes the factual brief and reads eligible reviewed history. History reaches Agent 3 only. Code compiles the case, builds source links and applies valid ownership configuration; an unmatched owner remains visibly unassigned. The case page and scoped versioned JSON API serve saved records. API reads do not invoke models or mutate business state. Full originals and extraction remain available. The current factual workflow, portal, history access and machine reads are implemented and locally verified. Intended-environment release checks, semantic/model-quality acceptance and hosted recovery remain distinct gates.</a:t>
            </a:r>
          </a:p>
          <a:p xmlns:a="http://schemas.openxmlformats.org/drawingml/2006/main">
            <a:r>
              <a:t/>
            </a:r>
          </a:p>
          <a:p xmlns:a="http://schemas.openxmlformats.org/drawingml/2006/main">
            <a:r>
              <a:t>Sources: current README.md architecture/model baseline/case JSON API, BUILD.md delivered implementation and verification ledger, reviewed 2 October 2026. The models are a starting benchmark, not proven quality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reusable asset is the app core, case schema, evidence controls, evaluation framework and versioned API. The read API is implemented and locally verified; it is the customer Joule connection that remains future integration work. A client-specific Joule agent could read authorised case context and combine it with current SAP checks and customer business rules. Its permitted tools could execute SAP steps or route work to a human for investigation, approval or execution. SAP changes require separate authority and current-state validation. We reuse software and contracts across clients, while each deployment configures its connectors, permissions, ownership, approval rules and reviewed history. Each client retains its own data. This is a proposed integration pattern, not a claim of a working Joule deployment.</a:t>
            </a:r>
          </a:p>
          <a:p xmlns:a="http://schemas.openxmlformats.org/drawingml/2006/main">
            <a:r>
              <a:t/>
            </a:r>
          </a:p>
          <a:p xmlns:a="http://schemas.openxmlformats.org/drawingml/2006/main">
            <a:r>
              <a:t>Sources: current README.md, "Case data as a JSON API" and "How SAP Joule could use it"; BUILD.md delivered machine reads and release gates. SAP documents agents using skills as tools backed by actions and destinations: https://developers.sap.com/tutorials/joulestudio-agent-create/ (reviewed 2 October 2026). Customer-supported edition, entitlements and connection setup determine the exact skill/action or MCP adapter.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SAP Application Interface Framework, or AIF, presents processing evidence across several views. A data message is a processing record; a log message is an entry emitted while processing it. Several entries do not establish several affected accounting documents. Data Structure locates nested structures and fields, and Data Content shows supplied values. Message details preserve technical identity and variables when present. Error details is a convenient label for metadata associated with a message, not a guaranteed fifth tab. The example here is exactly the fictional teaching scenario in README.md, not the distinct MD-01 fixture. All values, codes, layouts and field paths are fictional. The account/company association is supplied by the example; we do not invent the literal template or MSGV1/MSGV2 order. The evidence supports a reported account-maintenance error and stopped posting for attempt 1. It does not prove root cause, mapping correctness, a suitable fix, current SAP state or later outcome. No returned target reference does not establish that no target document exists. Customer layouts may hide or relabel content; a restart may display only the latest restart messages. The app analyses only the uploaded evidence.</a:t>
            </a:r>
          </a:p>
          <a:p xmlns:a="http://schemas.openxmlformats.org/drawingml/2006/main">
            <a:r>
              <a:t/>
            </a:r>
          </a:p>
          <a:p xmlns:a="http://schemas.openxmlformats.org/drawingml/2006/main">
            <a:r>
              <a:t>Local source: README.md, "How the views fit together: one fictional error" and "Understanding the AIF log". Official SAP source links (definitions verified 2 October 2026; sources span releases):</a:t>
            </a:r>
          </a:p>
          <a:p xmlns:a="http://schemas.openxmlformats.org/drawingml/2006/main">
            <a:r>
              <a:t>Data Messages: https://help.sap.com/docs/ABAP_PLATFORM_NEW/4db1676c3f114f119b500bd80ccd944d/4ff5e0047b0a4351bd963640c680caec.html?version=latest</a:t>
            </a:r>
          </a:p>
          <a:p xmlns:a="http://schemas.openxmlformats.org/drawingml/2006/main">
            <a:r>
              <a:t>Log Messages: https://help.sap.com/docs/SAP_APPLICATION_INTERFACE_FRAMEWORK/1cefaed5b7a3471cb08564e54d5ba866/2e733c049ad7445584ae7adbc7900c69.html</a:t>
            </a:r>
          </a:p>
          <a:p xmlns:a="http://schemas.openxmlformats.org/drawingml/2006/main">
            <a:r>
              <a:t>Data Structure: https://help.sap.com/docs/ABAP_PLATFORM_NEW/4db1676c3f114f119b500bd80ccd944d/ed18d1cc52c447f78a2e26195f7cb450.html?locale=en-US&amp;state=PRODUCTION&amp;version=202110.002</a:t>
            </a:r>
          </a:p>
          <a:p xmlns:a="http://schemas.openxmlformats.org/drawingml/2006/main">
            <a:r>
              <a:t>Data Content: https://help.sap.com/docs/ABAP_PLATFORM_NEW/4db1676c3f114f119b500bd80ccd944d/73ac69e929734790ab6c554c30f14e0f.html?locale=en-US&amp;state=PRODUCTION&amp;version=202310.002</a:t>
            </a:r>
          </a:p>
          <a:p xmlns:a="http://schemas.openxmlformats.org/drawingml/2006/main">
            <a:r>
              <a:t>Message metadata: https://help.sap.com/docs/SAP_NETWEAVER_750/addb96cd90c945dfb3182865363bbc47/4e2106b735d44180e10000000a15822b.html?locale=en-US&amp;state=PRODUCTION&amp;version=7.5.27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9adde9f01540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ca83dca74e4197" /><Relationship Type="http://schemas.openxmlformats.org/officeDocument/2006/relationships/slideLayout" Target="/ppt/slideLayouts/slideLayout1.xml" Id="R99d7a159c9af42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d7a159c9af422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35fb16c88f4dcc" /><Relationship Type="http://schemas.openxmlformats.org/officeDocument/2006/relationships/notesSlide" Target="/ppt/notesSlides/notesSlide1.xml" Id="R5def7affd8c04c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193c8c5eb84c90" /><Relationship Type="http://schemas.openxmlformats.org/officeDocument/2006/relationships/notesSlide" Target="/ppt/notesSlides/notesSlide2.xml" Id="R16c15b0ed74a4d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ebd782dea0498c" /><Relationship Type="http://schemas.openxmlformats.org/officeDocument/2006/relationships/notesSlide" Target="/ppt/notesSlides/notesSlide3.xml" Id="Rf47efb37544c45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92e3993fdc4f3f" /><Relationship Type="http://schemas.openxmlformats.org/officeDocument/2006/relationships/notesSlide" Target="/ppt/notesSlides/notesSlide4.xml" Id="R6cbec7f571c2494d" /></Relationships>
</file>

<file path=ppt/slides/slide1.xml><?xml version="1.0" encoding="utf-8"?>
<p:sld xmlns:p="http://schemas.openxmlformats.org/presentationml/2006/main">
  <p:cSld>
    <p:bg>
      <p:bgPr>
        <a:solidFill xmlns:a="http://schemas.openxmlformats.org/drawingml/2006/main">
          <a:srgbClr val="F3F5FA"/>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27A3B981-6B02-4463-A7E2-2FE00729C178}"/>
              </a:ext>
            </a:extLst>
          </p:cNvPr>
          <p:cNvSpPr>
            <a:spLocks xmlns:a="http://schemas.openxmlformats.org/drawingml/2006/main" noGrp="1"/>
          </p:cNvSpPr>
          <p:nvPr/>
        </p:nvSpPr>
        <p:spPr>
          <a:xfrm xmlns:a="http://schemas.openxmlformats.org/drawingml/2006/main">
            <a:off x="533400" y="381000"/>
            <a:ext cx="1417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52E49"/>
                </a:solidFill>
                <a:latin typeface="Helvetica Neue"/>
                <a:ea typeface="Helvetica Neue"/>
                <a:cs typeface="Helvetica Neue"/>
              </a:defRPr>
            </a:pPr>
            <a:r>
              <a:rPr sz="4050" b="1">
                <a:solidFill>
                  <a:srgbClr val="152E49"/>
                </a:solidFill>
                <a:latin typeface="Helvetica Neue"/>
                <a:ea typeface="Helvetica Neue"/>
                <a:cs typeface="Helvetica Neue"/>
              </a:rPr>
              <a:t>CFIN exception management</a:t>
            </a:r>
          </a:p>
        </p:txBody>
      </p:sp>
      <p:sp>
        <p:nvSpPr>
          <p:cNvPr id="2" name="subtitle">
            <a:extLst xmlns:a="http://schemas.openxmlformats.org/drawingml/2006/main">
              <a:ext uri="{FF2B5EF4-FFF2-40B4-BE49-F238E27FC236}">
                <a16:creationId xmlns:a16="http://schemas.microsoft.com/office/drawing/2014/main" id="{17CF74ED-306E-46B7-8CD0-C226A1B342B5}"/>
              </a:ext>
            </a:extLst>
          </p:cNvPr>
          <p:cNvSpPr>
            <a:spLocks xmlns:a="http://schemas.openxmlformats.org/drawingml/2006/main" noGrp="1"/>
          </p:cNvSpPr>
          <p:nvPr/>
        </p:nvSpPr>
        <p:spPr>
          <a:xfrm xmlns:a="http://schemas.openxmlformats.org/drawingml/2006/main">
            <a:off x="533400" y="1152525"/>
            <a:ext cx="1417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57C"/>
                </a:solidFill>
                <a:latin typeface="Helvetica Neue"/>
                <a:ea typeface="Helvetica Neue"/>
                <a:cs typeface="Helvetica Neue"/>
              </a:defRPr>
            </a:pPr>
            <a:r>
              <a:rPr sz="2100" b="0">
                <a:solidFill>
                  <a:srgbClr val="53657C"/>
                </a:solidFill>
                <a:latin typeface="Helvetica Neue"/>
                <a:ea typeface="Helvetica Neue"/>
                <a:cs typeface="Helvetica Neue"/>
              </a:rPr>
              <a:t>Factual case briefs that help support teams understand the reported exception</a:t>
            </a:r>
          </a:p>
        </p:txBody>
      </p:sp>
      <p:graphicFrame>
        <p:nvGraphicFramePr>
          <p:cNvPr id="14" name=""/>
          <p:cNvGraphicFramePr/>
          <p:nvPr/>
        </p:nvGraphicFramePr>
        <p:xfrm>
          <a:off xmlns:a="http://schemas.openxmlformats.org/drawingml/2006/main" x="533400" y="1933575"/>
          <a:ext xmlns:a="http://schemas.openxmlformats.org/drawingml/2006/main" cx="14173200" cy="4000500"/>
        </p:xfrm>
        <a:graphic xmlns:a="http://schemas.openxmlformats.org/drawingml/2006/main">
          <a:graphicData uri="http://schemas.openxmlformats.org/drawingml/2006/table">
            <a:tbl>
              <a:tblPr firstRow="0" firstCol="0" bandRow="0"/>
              <a:tblGrid>
                <a:gridCol w="2800350"/>
                <a:gridCol w="11372850"/>
              </a:tblGrid>
              <a:tr h="933450">
                <a:tc>
                  <a:txBody>
                    <a:bodyPr wrap="square">
                      <a:noAutofit/>
                    </a:bodyPr>
                    <a:lstStyle/>
                    <a:p>
                      <a:r>
                        <a:rPr sz="2175" b="1">
                          <a:solidFill>
                            <a:srgbClr val="FFFFFF"/>
                          </a:solidFill>
                          <a:latin typeface="Helvetica Neue"/>
                          <a:ea typeface="Helvetica Neue"/>
                          <a:cs typeface="Helvetica Neue"/>
                        </a:rPr>
                        <a:t>Purpose and users</a:t>
                      </a:r>
                    </a:p>
                  </a:txBody>
                  <a:tcPr marL="209550" marR="209550" marT="133350" marB="133350" anchor="ctr">
                    <a:solidFill>
                      <a:srgbClr val="152E49"/>
                    </a:solidFill>
                  </a:tcPr>
                </a:tc>
                <a:tc>
                  <a:txBody>
                    <a:bodyPr wrap="square">
                      <a:noAutofit/>
                    </a:bodyPr>
                    <a:lstStyle/>
                    <a:p>
                      <a:r>
                        <a:rPr sz="2100">
                          <a:solidFill>
                            <a:srgbClr val="152E49"/>
                          </a:solidFill>
                          <a:latin typeface="Helvetica Neue"/>
                          <a:ea typeface="Helvetica Neue"/>
                          <a:cs typeface="Helvetica Neue"/>
                        </a:rPr>
                        <a:t>Help CFIN support analysts and process owners understand supplied logs before investigation.</a:t>
                      </a:r>
                    </a:p>
                  </a:txBody>
                  <a:tcPr marL="209550" marR="209550" marT="133350" marB="133350" anchor="ctr">
                    <a:solidFill>
                      <a:srgbClr val="EAF0F8"/>
                    </a:solidFill>
                  </a:tcPr>
                </a:tc>
              </a:tr>
              <a:tr h="1123950">
                <a:tc>
                  <a:txBody>
                    <a:bodyPr wrap="square">
                      <a:noAutofit/>
                    </a:bodyPr>
                    <a:lstStyle/>
                    <a:p>
                      <a:r>
                        <a:rPr sz="2175" b="1">
                          <a:solidFill>
                            <a:srgbClr val="FFFFFF"/>
                          </a:solidFill>
                          <a:latin typeface="Helvetica Neue"/>
                          <a:ea typeface="Helvetica Neue"/>
                          <a:cs typeface="Helvetica Neue"/>
                        </a:rPr>
                        <a:t>What the app does</a:t>
                      </a:r>
                    </a:p>
                  </a:txBody>
                  <a:tcPr marL="209550" marR="209550" marT="133350" marB="133350" anchor="ctr">
                    <a:solidFill>
                      <a:srgbClr val="152E49"/>
                    </a:solidFill>
                  </a:tcPr>
                </a:tc>
                <a:tc>
                  <a:txBody>
                    <a:bodyPr wrap="square">
                      <a:noAutofit/>
                    </a:bodyPr>
                    <a:lstStyle/>
                    <a:p>
                      <a:r>
                        <a:rPr sz="2100">
                          <a:solidFill>
                            <a:srgbClr val="152E49"/>
                          </a:solidFill>
                          <a:latin typeface="Helvetica Neue"/>
                          <a:ea typeface="Helvetica Neue"/>
                          <a:cs typeface="Helvetica Neue"/>
                        </a:rPr>
                        <a:t>Extracts facts, selects key evidence and summarises reported errors, outcomes and uncertainty. Keeps originals and cites reviewed related cases separately.</a:t>
                      </a:r>
                    </a:p>
                  </a:txBody>
                  <a:tcPr marL="209550" marR="209550" marT="133350" marB="133350" anchor="ctr">
                    <a:solidFill>
                      <a:srgbClr val="FFFFFF"/>
                    </a:solidFill>
                  </a:tcPr>
                </a:tc>
              </a:tr>
              <a:tr h="952500">
                <a:tc>
                  <a:txBody>
                    <a:bodyPr wrap="square">
                      <a:noAutofit/>
                    </a:bodyPr>
                    <a:lstStyle/>
                    <a:p>
                      <a:r>
                        <a:rPr sz="2175" b="1">
                          <a:solidFill>
                            <a:srgbClr val="FFFFFF"/>
                          </a:solidFill>
                          <a:latin typeface="Helvetica Neue"/>
                          <a:ea typeface="Helvetica Neue"/>
                          <a:cs typeface="Helvetica Neue"/>
                        </a:rPr>
                        <a:t>What it does not do</a:t>
                      </a:r>
                    </a:p>
                  </a:txBody>
                  <a:tcPr marL="209550" marR="209550" marT="133350" marB="133350" anchor="ctr">
                    <a:solidFill>
                      <a:srgbClr val="152E49"/>
                    </a:solidFill>
                  </a:tcPr>
                </a:tc>
                <a:tc>
                  <a:txBody>
                    <a:bodyPr wrap="square">
                      <a:noAutofit/>
                    </a:bodyPr>
                    <a:lstStyle/>
                    <a:p>
                      <a:r>
                        <a:rPr sz="2100">
                          <a:solidFill>
                            <a:srgbClr val="152E49"/>
                          </a:solidFill>
                          <a:latin typeface="Helvetica Neue"/>
                          <a:ea typeface="Helvetica Neue"/>
                          <a:cs typeface="Helvetica Neue"/>
                        </a:rPr>
                        <a:t>Does not diagnose root causes, recommend fixes, read live SAP data, change records or reprocess documents.</a:t>
                      </a:r>
                    </a:p>
                  </a:txBody>
                  <a:tcPr marL="209550" marR="209550" marT="133350" marB="133350" anchor="ctr">
                    <a:solidFill>
                      <a:srgbClr val="EAF0F8"/>
                    </a:solidFill>
                  </a:tcPr>
                </a:tc>
              </a:tr>
              <a:tr h="990600">
                <a:tc>
                  <a:txBody>
                    <a:bodyPr wrap="square">
                      <a:noAutofit/>
                    </a:bodyPr>
                    <a:lstStyle/>
                    <a:p>
                      <a:r>
                        <a:rPr sz="2175" b="1">
                          <a:solidFill>
                            <a:srgbClr val="FFFFFF"/>
                          </a:solidFill>
                          <a:latin typeface="Helvetica Neue"/>
                          <a:ea typeface="Helvetica Neue"/>
                          <a:cs typeface="Helvetica Neue"/>
                        </a:rPr>
                        <a:t>Human controls</a:t>
                      </a:r>
                    </a:p>
                  </a:txBody>
                  <a:tcPr marL="209550" marR="209550" marT="133350" marB="133350" anchor="ctr">
                    <a:solidFill>
                      <a:srgbClr val="152E49"/>
                    </a:solidFill>
                  </a:tcPr>
                </a:tc>
                <a:tc>
                  <a:txBody>
                    <a:bodyPr wrap="square">
                      <a:noAutofit/>
                    </a:bodyPr>
                    <a:lstStyle/>
                    <a:p>
                      <a:r>
                        <a:rPr sz="2100">
                          <a:solidFill>
                            <a:srgbClr val="152E49"/>
                          </a:solidFill>
                          <a:latin typeface="Helvetica Neue"/>
                          <a:ea typeface="Helvetica Neue"/>
                          <a:cs typeface="Helvetica Neue"/>
                        </a:rPr>
                        <a:t>People review the brief, record investigation findings and outcomes, and approve what becomes reusable case history.</a:t>
                      </a:r>
                    </a:p>
                  </a:txBody>
                  <a:tcPr marL="209550" marR="209550" marT="133350" marB="133350" anchor="ctr">
                    <a:solidFill>
                      <a:srgbClr val="FFFFFF"/>
                    </a:solidFill>
                  </a:tcPr>
                </a:tc>
              </a:tr>
            </a:tbl>
          </a:graphicData>
        </a:graphic>
      </p:graphicFrame>
      <p:sp>
        <p:nvSpPr>
          <p:cNvPr id="4" name="assumptions-block">
            <a:extLst xmlns:a="http://schemas.openxmlformats.org/drawingml/2006/main">
              <a:ext uri="{FF2B5EF4-FFF2-40B4-BE49-F238E27FC236}">
                <a16:creationId xmlns:a16="http://schemas.microsoft.com/office/drawing/2014/main" id="{289B8615-67B8-4985-AF74-89E53E6C2B3F}"/>
              </a:ext>
            </a:extLst>
          </p:cNvPr>
          <p:cNvSpPr>
            <a:spLocks xmlns:a="http://schemas.openxmlformats.org/drawingml/2006/main" noGrp="1"/>
          </p:cNvSpPr>
          <p:nvPr/>
        </p:nvSpPr>
        <p:spPr>
          <a:xfrm xmlns:a="http://schemas.openxmlformats.org/drawingml/2006/main">
            <a:off x="533400" y="6267450"/>
            <a:ext cx="14173200" cy="1847850"/>
          </a:xfrm>
          <a:prstGeom xmlns:a="http://schemas.openxmlformats.org/drawingml/2006/main" prst="roundRect">
            <a:avLst>
              <a:gd name="adj" fmla="val 6186"/>
            </a:avLst>
          </a:prstGeom>
          <a:solidFill xmlns:a="http://schemas.openxmlformats.org/drawingml/2006/main">
            <a:srgbClr val="E0F0EF"/>
          </a:solidFill>
          <a:ln xmlns:a="http://schemas.openxmlformats.org/drawingml/2006/main" w="0">
            <a:noFill/>
          </a:ln>
        </p:spPr>
      </p:sp>
      <p:sp>
        <p:nvSpPr>
          <p:cNvPr id="5" name="assumptions-heading">
            <a:extLst xmlns:a="http://schemas.openxmlformats.org/drawingml/2006/main">
              <a:ext uri="{FF2B5EF4-FFF2-40B4-BE49-F238E27FC236}">
                <a16:creationId xmlns:a16="http://schemas.microsoft.com/office/drawing/2014/main" id="{942F868E-C8E9-4768-99A0-BEFF3D0643C3}"/>
              </a:ext>
            </a:extLst>
          </p:cNvPr>
          <p:cNvSpPr>
            <a:spLocks xmlns:a="http://schemas.openxmlformats.org/drawingml/2006/main" noGrp="1"/>
          </p:cNvSpPr>
          <p:nvPr/>
        </p:nvSpPr>
        <p:spPr>
          <a:xfrm xmlns:a="http://schemas.openxmlformats.org/drawingml/2006/main">
            <a:off x="781050" y="6448425"/>
            <a:ext cx="13677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A79"/>
                </a:solidFill>
                <a:latin typeface="Helvetica Neue"/>
                <a:ea typeface="Helvetica Neue"/>
                <a:cs typeface="Helvetica Neue"/>
              </a:defRPr>
            </a:pPr>
            <a:r>
              <a:rPr sz="2100" b="1">
                <a:solidFill>
                  <a:srgbClr val="087A79"/>
                </a:solidFill>
                <a:latin typeface="Helvetica Neue"/>
                <a:ea typeface="Helvetica Neue"/>
                <a:cs typeface="Helvetica Neue"/>
              </a:rPr>
              <a:t>Assumptions and validation</a:t>
            </a:r>
          </a:p>
        </p:txBody>
      </p:sp>
      <p:sp>
        <p:nvSpPr>
          <p:cNvPr id="6" name="assumption-82-title">
            <a:extLst xmlns:a="http://schemas.openxmlformats.org/drawingml/2006/main">
              <a:ext uri="{FF2B5EF4-FFF2-40B4-BE49-F238E27FC236}">
                <a16:creationId xmlns:a16="http://schemas.microsoft.com/office/drawing/2014/main" id="{900601AD-2C2D-46E0-9883-9B4E77FE0DD3}"/>
              </a:ext>
            </a:extLst>
          </p:cNvPr>
          <p:cNvSpPr>
            <a:spLocks xmlns:a="http://schemas.openxmlformats.org/drawingml/2006/main" noGrp="1"/>
          </p:cNvSpPr>
          <p:nvPr/>
        </p:nvSpPr>
        <p:spPr>
          <a:xfrm xmlns:a="http://schemas.openxmlformats.org/drawingml/2006/main">
            <a:off x="781050" y="6962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2E49"/>
                </a:solidFill>
                <a:latin typeface="Helvetica Neue"/>
                <a:ea typeface="Helvetica Neue"/>
                <a:cs typeface="Helvetica Neue"/>
              </a:defRPr>
            </a:pPr>
            <a:r>
              <a:rPr sz="1875" b="1">
                <a:solidFill>
                  <a:srgbClr val="152E49"/>
                </a:solidFill>
                <a:latin typeface="Helvetica Neue"/>
                <a:ea typeface="Helvetica Neue"/>
                <a:cs typeface="Helvetica Neue"/>
              </a:rPr>
              <a:t>Built on synthetic AIF data</a:t>
            </a:r>
          </a:p>
        </p:txBody>
      </p:sp>
      <p:sp>
        <p:nvSpPr>
          <p:cNvPr id="7" name="assumption-82-detail">
            <a:extLst xmlns:a="http://schemas.openxmlformats.org/drawingml/2006/main">
              <a:ext uri="{FF2B5EF4-FFF2-40B4-BE49-F238E27FC236}">
                <a16:creationId xmlns:a16="http://schemas.microsoft.com/office/drawing/2014/main" id="{12BDA6DE-00B9-4978-A64B-96784D7E253E}"/>
              </a:ext>
            </a:extLst>
          </p:cNvPr>
          <p:cNvSpPr>
            <a:spLocks xmlns:a="http://schemas.openxmlformats.org/drawingml/2006/main" noGrp="1"/>
          </p:cNvSpPr>
          <p:nvPr/>
        </p:nvSpPr>
        <p:spPr>
          <a:xfrm xmlns:a="http://schemas.openxmlformats.org/drawingml/2006/main">
            <a:off x="781050" y="7353300"/>
            <a:ext cx="428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Representative client logs and analyst</a:t>
            </a:r>
          </a:p>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review must validate fidelity and value.</a:t>
            </a:r>
          </a:p>
        </p:txBody>
      </p:sp>
      <p:sp>
        <p:nvSpPr>
          <p:cNvPr id="8" name="assumption-565-title">
            <a:extLst xmlns:a="http://schemas.openxmlformats.org/drawingml/2006/main">
              <a:ext uri="{FF2B5EF4-FFF2-40B4-BE49-F238E27FC236}">
                <a16:creationId xmlns:a16="http://schemas.microsoft.com/office/drawing/2014/main" id="{8CB3F53D-125B-4C23-8593-142C4748650D}"/>
              </a:ext>
            </a:extLst>
          </p:cNvPr>
          <p:cNvSpPr>
            <a:spLocks xmlns:a="http://schemas.openxmlformats.org/drawingml/2006/main" noGrp="1"/>
          </p:cNvSpPr>
          <p:nvPr/>
        </p:nvSpPr>
        <p:spPr>
          <a:xfrm xmlns:a="http://schemas.openxmlformats.org/drawingml/2006/main">
            <a:off x="5381625" y="6962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2E49"/>
                </a:solidFill>
                <a:latin typeface="Helvetica Neue"/>
                <a:ea typeface="Helvetica Neue"/>
                <a:cs typeface="Helvetica Neue"/>
              </a:defRPr>
            </a:pPr>
            <a:r>
              <a:rPr sz="1875" b="1">
                <a:solidFill>
                  <a:srgbClr val="152E49"/>
                </a:solidFill>
                <a:latin typeface="Helvetica Neue"/>
                <a:ea typeface="Helvetica Neue"/>
                <a:cs typeface="Helvetica Neue"/>
              </a:rPr>
              <a:t>Supplied evidence sets the scope</a:t>
            </a:r>
          </a:p>
        </p:txBody>
      </p:sp>
      <p:sp>
        <p:nvSpPr>
          <p:cNvPr id="9" name="assumption-565-detail">
            <a:extLst xmlns:a="http://schemas.openxmlformats.org/drawingml/2006/main">
              <a:ext uri="{FF2B5EF4-FFF2-40B4-BE49-F238E27FC236}">
                <a16:creationId xmlns:a16="http://schemas.microsoft.com/office/drawing/2014/main" id="{BC1D5A3F-5142-481C-974F-28769365875C}"/>
              </a:ext>
            </a:extLst>
          </p:cNvPr>
          <p:cNvSpPr>
            <a:spLocks xmlns:a="http://schemas.openxmlformats.org/drawingml/2006/main" noGrp="1"/>
          </p:cNvSpPr>
          <p:nvPr/>
        </p:nvSpPr>
        <p:spPr>
          <a:xfrm xmlns:a="http://schemas.openxmlformats.org/drawingml/2006/main">
            <a:off x="5381625" y="7353300"/>
            <a:ext cx="428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Missing views and later processing</a:t>
            </a:r>
          </a:p>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attempts remain unknown.</a:t>
            </a:r>
          </a:p>
        </p:txBody>
      </p:sp>
      <p:sp>
        <p:nvSpPr>
          <p:cNvPr id="10" name="assumption-1048-title">
            <a:extLst xmlns:a="http://schemas.openxmlformats.org/drawingml/2006/main">
              <a:ext uri="{FF2B5EF4-FFF2-40B4-BE49-F238E27FC236}">
                <a16:creationId xmlns:a16="http://schemas.microsoft.com/office/drawing/2014/main" id="{4134A544-D071-4765-BA20-A682142BF901}"/>
              </a:ext>
            </a:extLst>
          </p:cNvPr>
          <p:cNvSpPr>
            <a:spLocks xmlns:a="http://schemas.openxmlformats.org/drawingml/2006/main" noGrp="1"/>
          </p:cNvSpPr>
          <p:nvPr/>
        </p:nvSpPr>
        <p:spPr>
          <a:xfrm xmlns:a="http://schemas.openxmlformats.org/drawingml/2006/main">
            <a:off x="9982200" y="696277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2E49"/>
                </a:solidFill>
                <a:latin typeface="Helvetica Neue"/>
                <a:ea typeface="Helvetica Neue"/>
                <a:cs typeface="Helvetica Neue"/>
              </a:defRPr>
            </a:pPr>
            <a:r>
              <a:rPr sz="1875" b="1">
                <a:solidFill>
                  <a:srgbClr val="152E49"/>
                </a:solidFill>
                <a:latin typeface="Helvetica Neue"/>
                <a:ea typeface="Helvetica Neue"/>
                <a:cs typeface="Helvetica Neue"/>
              </a:rPr>
              <a:t>Client formats can vary</a:t>
            </a:r>
          </a:p>
        </p:txBody>
      </p:sp>
      <p:sp>
        <p:nvSpPr>
          <p:cNvPr id="11" name="assumption-1048-detail">
            <a:extLst xmlns:a="http://schemas.openxmlformats.org/drawingml/2006/main">
              <a:ext uri="{FF2B5EF4-FFF2-40B4-BE49-F238E27FC236}">
                <a16:creationId xmlns:a16="http://schemas.microsoft.com/office/drawing/2014/main" id="{06EDAD82-3750-4C61-A4B8-93D2A3DEBFDA}"/>
              </a:ext>
            </a:extLst>
          </p:cNvPr>
          <p:cNvSpPr>
            <a:spLocks xmlns:a="http://schemas.openxmlformats.org/drawingml/2006/main" noGrp="1"/>
          </p:cNvSpPr>
          <p:nvPr/>
        </p:nvSpPr>
        <p:spPr>
          <a:xfrm xmlns:a="http://schemas.openxmlformats.org/drawingml/2006/main">
            <a:off x="9982200" y="7353300"/>
            <a:ext cx="428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Customer wording, layouts and fields</a:t>
            </a:r>
          </a:p>
          <a:p xmlns:a="http://schemas.openxmlformats.org/drawingml/2006/main">
            <a:pPr algn="l">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will shape input support and evaluations.</a:t>
            </a:r>
          </a:p>
        </p:txBody>
      </p:sp>
    </p:spTree>
    <p:extLst>
      <p:ext uri="{BB962C8B-B14F-4D97-AF65-F5344CB8AC3E}">
        <p14:creationId xmlns:p14="http://schemas.microsoft.com/office/powerpoint/2010/main" val="816495978"/>
      </p:ext>
    </p:extLst>
  </p:cSld>
</p:sld>
</file>

<file path=ppt/slides/slide2.xml><?xml version="1.0" encoding="utf-8"?>
<p:sld xmlns:p="http://schemas.openxmlformats.org/presentationml/2006/main">
  <p:cSld>
    <p:bg>
      <p:bgPr>
        <a:solidFill xmlns:a="http://schemas.openxmlformats.org/drawingml/2006/main">
          <a:srgbClr val="F3F5FA"/>
        </a:solidFill>
      </p:bgPr>
    </p:bg>
    <p:spTree>
      <p:nvGrpSpPr>
        <p:cNvPr id="1" name=""/>
        <p:cNvGrpSpPr/>
        <p:nvPr/>
      </p:nvGrpSpPr>
      <p:grpSpPr>
        <a:xfrm xmlns:a="http://schemas.openxmlformats.org/drawingml/2006/main"/>
      </p:grpSpPr>
      <p:sp>
        <p:nvSpPr>
          <p:cNvPr id="52" name="slide-title">
            <a:extLst xmlns:a="http://schemas.openxmlformats.org/drawingml/2006/main">
              <a:ext uri="{FF2B5EF4-FFF2-40B4-BE49-F238E27FC236}">
                <a16:creationId xmlns:a16="http://schemas.microsoft.com/office/drawing/2014/main" id="{C6C619D9-71F9-4F1F-BFA0-6B73C9E4AF71}"/>
              </a:ext>
            </a:extLst>
          </p:cNvPr>
          <p:cNvSpPr>
            <a:spLocks xmlns:a="http://schemas.openxmlformats.org/drawingml/2006/main" noGrp="1"/>
          </p:cNvSpPr>
          <p:nvPr/>
        </p:nvSpPr>
        <p:spPr>
          <a:xfrm xmlns:a="http://schemas.openxmlformats.org/drawingml/2006/main">
            <a:off x="533400" y="381000"/>
            <a:ext cx="1417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52E49"/>
                </a:solidFill>
                <a:latin typeface="Helvetica Neue"/>
                <a:ea typeface="Helvetica Neue"/>
                <a:cs typeface="Helvetica Neue"/>
              </a:defRPr>
            </a:pPr>
            <a:r>
              <a:rPr sz="4050" b="1">
                <a:solidFill>
                  <a:srgbClr val="152E49"/>
                </a:solidFill>
                <a:latin typeface="Helvetica Neue"/>
                <a:ea typeface="Helvetica Neue"/>
                <a:cs typeface="Helvetica Neue"/>
              </a:rPr>
              <a:t>Architecture: supplied evidence to a reusable case</a:t>
            </a:r>
          </a:p>
        </p:txBody>
      </p:sp>
      <p:sp>
        <p:nvSpPr>
          <p:cNvPr id="2" name="subtitle">
            <a:extLst xmlns:a="http://schemas.openxmlformats.org/drawingml/2006/main">
              <a:ext uri="{FF2B5EF4-FFF2-40B4-BE49-F238E27FC236}">
                <a16:creationId xmlns:a16="http://schemas.microsoft.com/office/drawing/2014/main" id="{308CE944-3237-4D95-90B0-FAEF99CC028C}"/>
              </a:ext>
            </a:extLst>
          </p:cNvPr>
          <p:cNvSpPr>
            <a:spLocks xmlns:a="http://schemas.openxmlformats.org/drawingml/2006/main" noGrp="1"/>
          </p:cNvSpPr>
          <p:nvPr/>
        </p:nvSpPr>
        <p:spPr>
          <a:xfrm xmlns:a="http://schemas.openxmlformats.org/drawingml/2006/main">
            <a:off x="533400" y="1152525"/>
            <a:ext cx="1417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57C"/>
                </a:solidFill>
                <a:latin typeface="Helvetica Neue"/>
                <a:ea typeface="Helvetica Neue"/>
                <a:cs typeface="Helvetica Neue"/>
              </a:defRPr>
            </a:pPr>
            <a:r>
              <a:rPr sz="2100" b="0">
                <a:solidFill>
                  <a:srgbClr val="53657C"/>
                </a:solidFill>
                <a:latin typeface="Helvetica Neue"/>
                <a:ea typeface="Helvetica Neue"/>
                <a:cs typeface="Helvetica Neue"/>
              </a:rPr>
              <a:t>Three AI stages work within code-managed intake, storage, routing and access controls</a:t>
            </a:r>
          </a:p>
        </p:txBody>
      </p:sp>
      <p:sp>
        <p:nvSpPr>
          <p:cNvPr id="3" name="architecture-input">
            <a:extLst xmlns:a="http://schemas.openxmlformats.org/drawingml/2006/main">
              <a:ext uri="{FF2B5EF4-FFF2-40B4-BE49-F238E27FC236}">
                <a16:creationId xmlns:a16="http://schemas.microsoft.com/office/drawing/2014/main" id="{7D1D96B5-8431-40F6-B6C0-9E7597069C95}"/>
              </a:ext>
            </a:extLst>
          </p:cNvPr>
          <p:cNvSpPr>
            <a:spLocks xmlns:a="http://schemas.openxmlformats.org/drawingml/2006/main" noGrp="1"/>
          </p:cNvSpPr>
          <p:nvPr/>
        </p:nvSpPr>
        <p:spPr>
          <a:xfrm xmlns:a="http://schemas.openxmlformats.org/drawingml/2006/main">
            <a:off x="533400" y="1781175"/>
            <a:ext cx="14173200" cy="952500"/>
          </a:xfrm>
          <a:prstGeom xmlns:a="http://schemas.openxmlformats.org/drawingml/2006/main" prst="roundRect">
            <a:avLst>
              <a:gd name="adj" fmla="val 12000"/>
            </a:avLst>
          </a:prstGeom>
          <a:solidFill xmlns:a="http://schemas.openxmlformats.org/drawingml/2006/main">
            <a:srgbClr val="E4ECFA"/>
          </a:solidFill>
          <a:ln xmlns:a="http://schemas.openxmlformats.org/drawingml/2006/main" w="0">
            <a:noFill/>
          </a:ln>
        </p:spPr>
      </p:sp>
      <p:sp>
        <p:nvSpPr>
          <p:cNvPr id="4" name="input-label">
            <a:extLst xmlns:a="http://schemas.openxmlformats.org/drawingml/2006/main">
              <a:ext uri="{FF2B5EF4-FFF2-40B4-BE49-F238E27FC236}">
                <a16:creationId xmlns:a16="http://schemas.microsoft.com/office/drawing/2014/main" id="{4BA1E9BB-5172-46E5-A2BF-18D388A5936F}"/>
              </a:ext>
            </a:extLst>
          </p:cNvPr>
          <p:cNvSpPr>
            <a:spLocks xmlns:a="http://schemas.openxmlformats.org/drawingml/2006/main" noGrp="1"/>
          </p:cNvSpPr>
          <p:nvPr/>
        </p:nvSpPr>
        <p:spPr>
          <a:xfrm xmlns:a="http://schemas.openxmlformats.org/drawingml/2006/main">
            <a:off x="762000" y="2000250"/>
            <a:ext cx="2362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305B92"/>
                </a:solidFill>
                <a:latin typeface="Helvetica Neue"/>
                <a:ea typeface="Helvetica Neue"/>
                <a:cs typeface="Helvetica Neue"/>
              </a:defRPr>
            </a:pPr>
            <a:r>
              <a:rPr sz="1875" b="1">
                <a:solidFill>
                  <a:srgbClr val="305B92"/>
                </a:solidFill>
                <a:latin typeface="Helvetica Neue"/>
                <a:ea typeface="Helvetica Neue"/>
                <a:cs typeface="Helvetica Neue"/>
              </a:rPr>
              <a:t>WHAT GOES IN</a:t>
            </a:r>
          </a:p>
        </p:txBody>
      </p:sp>
      <p:sp>
        <p:nvSpPr>
          <p:cNvPr id="5" name="input-details">
            <a:extLst xmlns:a="http://schemas.openxmlformats.org/drawingml/2006/main">
              <a:ext uri="{FF2B5EF4-FFF2-40B4-BE49-F238E27FC236}">
                <a16:creationId xmlns:a16="http://schemas.microsoft.com/office/drawing/2014/main" id="{7CA58A86-4BCC-4706-99E3-0F431E30BA94}"/>
              </a:ext>
            </a:extLst>
          </p:cNvPr>
          <p:cNvSpPr>
            <a:spLocks xmlns:a="http://schemas.openxmlformats.org/drawingml/2006/main" noGrp="1"/>
          </p:cNvSpPr>
          <p:nvPr/>
        </p:nvSpPr>
        <p:spPr>
          <a:xfrm xmlns:a="http://schemas.openxmlformats.org/drawingml/2006/main">
            <a:off x="3276600" y="1962150"/>
            <a:ext cx="1116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Supplied AIF text logs: messages, identifiers, payload fields and processing context.</a:t>
            </a:r>
          </a:p>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Initial envelope: 1–8 originals, 8,192 total bytes and 64 lines. Unsupported input is rejected.</a:t>
            </a:r>
          </a:p>
        </p:txBody>
      </p:sp>
      <p:sp>
        <p:nvSpPr>
          <p:cNvPr id="6" name="architecture-stage-1">
            <a:extLst xmlns:a="http://schemas.openxmlformats.org/drawingml/2006/main">
              <a:ext uri="{FF2B5EF4-FFF2-40B4-BE49-F238E27FC236}">
                <a16:creationId xmlns:a16="http://schemas.microsoft.com/office/drawing/2014/main" id="{0AA26F4E-D0AC-4FE5-A172-526970FD9F05}"/>
              </a:ext>
            </a:extLst>
          </p:cNvPr>
          <p:cNvSpPr>
            <a:spLocks xmlns:a="http://schemas.openxmlformats.org/drawingml/2006/main" noGrp="1"/>
          </p:cNvSpPr>
          <p:nvPr/>
        </p:nvSpPr>
        <p:spPr>
          <a:xfrm xmlns:a="http://schemas.openxmlformats.org/drawingml/2006/main">
            <a:off x="533400" y="3009900"/>
            <a:ext cx="2667000" cy="3067050"/>
          </a:xfrm>
          <a:prstGeom xmlns:a="http://schemas.openxmlformats.org/drawingml/2006/main" prst="roundRect">
            <a:avLst>
              <a:gd name="adj" fmla="val 4286"/>
            </a:avLst>
          </a:prstGeom>
          <a:solidFill xmlns:a="http://schemas.openxmlformats.org/drawingml/2006/main">
            <a:srgbClr val="E4ECFA"/>
          </a:solidFill>
          <a:ln xmlns:a="http://schemas.openxmlformats.org/drawingml/2006/main" w="0">
            <a:noFill/>
          </a:ln>
        </p:spPr>
      </p:sp>
      <p:sp>
        <p:nvSpPr>
          <p:cNvPr id="7" name="stage-1-heading">
            <a:extLst xmlns:a="http://schemas.openxmlformats.org/drawingml/2006/main">
              <a:ext uri="{FF2B5EF4-FFF2-40B4-BE49-F238E27FC236}">
                <a16:creationId xmlns:a16="http://schemas.microsoft.com/office/drawing/2014/main" id="{1CD97288-B81D-4A35-B138-A758CAA0FB4A}"/>
              </a:ext>
            </a:extLst>
          </p:cNvPr>
          <p:cNvSpPr>
            <a:spLocks xmlns:a="http://schemas.openxmlformats.org/drawingml/2006/main" noGrp="1"/>
          </p:cNvSpPr>
          <p:nvPr/>
        </p:nvSpPr>
        <p:spPr>
          <a:xfrm xmlns:a="http://schemas.openxmlformats.org/drawingml/2006/main">
            <a:off x="72390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05B92"/>
                </a:solidFill>
                <a:latin typeface="Helvetica Neue"/>
                <a:ea typeface="Helvetica Neue"/>
                <a:cs typeface="Helvetica Neue"/>
              </a:defRPr>
            </a:pPr>
            <a:r>
              <a:rPr sz="2100" b="1">
                <a:solidFill>
                  <a:srgbClr val="305B92"/>
                </a:solidFill>
                <a:latin typeface="Helvetica Neue"/>
                <a:ea typeface="Helvetica Neue"/>
                <a:cs typeface="Helvetica Neue"/>
              </a:rPr>
              <a:t>1  Intake</a:t>
            </a:r>
          </a:p>
        </p:txBody>
      </p:sp>
      <p:sp>
        <p:nvSpPr>
          <p:cNvPr id="8" name="stage-1-owner">
            <a:extLst xmlns:a="http://schemas.openxmlformats.org/drawingml/2006/main">
              <a:ext uri="{FF2B5EF4-FFF2-40B4-BE49-F238E27FC236}">
                <a16:creationId xmlns:a16="http://schemas.microsoft.com/office/drawing/2014/main" id="{FF2D32F6-AC7B-4BCF-B00C-EEA0F0812F0C}"/>
              </a:ext>
            </a:extLst>
          </p:cNvPr>
          <p:cNvSpPr>
            <a:spLocks xmlns:a="http://schemas.openxmlformats.org/drawingml/2006/main" noGrp="1"/>
          </p:cNvSpPr>
          <p:nvPr/>
        </p:nvSpPr>
        <p:spPr>
          <a:xfrm xmlns:a="http://schemas.openxmlformats.org/drawingml/2006/main">
            <a:off x="72390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05B92"/>
                </a:solidFill>
                <a:latin typeface="Helvetica Neue"/>
                <a:ea typeface="Helvetica Neue"/>
                <a:cs typeface="Helvetica Neue"/>
              </a:defRPr>
            </a:pPr>
            <a:r>
              <a:rPr sz="1725" b="0">
                <a:solidFill>
                  <a:srgbClr val="305B92"/>
                </a:solidFill>
                <a:latin typeface="Helvetica Neue"/>
                <a:ea typeface="Helvetica Neue"/>
                <a:cs typeface="Helvetica Neue"/>
              </a:rPr>
              <a:t>Code</a:t>
            </a:r>
          </a:p>
        </p:txBody>
      </p:sp>
      <p:sp>
        <p:nvSpPr>
          <p:cNvPr id="9" name="stage-1-action">
            <a:extLst xmlns:a="http://schemas.openxmlformats.org/drawingml/2006/main">
              <a:ext uri="{FF2B5EF4-FFF2-40B4-BE49-F238E27FC236}">
                <a16:creationId xmlns:a16="http://schemas.microsoft.com/office/drawing/2014/main" id="{1CD820FB-4B61-4AD0-B93E-005A6FD31F7C}"/>
              </a:ext>
            </a:extLst>
          </p:cNvPr>
          <p:cNvSpPr>
            <a:spLocks xmlns:a="http://schemas.openxmlformats.org/drawingml/2006/main" noGrp="1"/>
          </p:cNvSpPr>
          <p:nvPr/>
        </p:nvSpPr>
        <p:spPr>
          <a:xfrm xmlns:a="http://schemas.openxmlformats.org/drawingml/2006/main">
            <a:off x="72390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Preserve exact originals;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record source versions;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queue processing.</a:t>
            </a:r>
          </a:p>
        </p:txBody>
      </p:sp>
      <p:sp>
        <p:nvSpPr>
          <p:cNvPr id="10" name="stage-1-outlabel">
            <a:extLst xmlns:a="http://schemas.openxmlformats.org/drawingml/2006/main">
              <a:ext uri="{FF2B5EF4-FFF2-40B4-BE49-F238E27FC236}">
                <a16:creationId xmlns:a16="http://schemas.microsoft.com/office/drawing/2014/main" id="{1A20A851-7E1A-4CB6-91BC-402F1D7ED826}"/>
              </a:ext>
            </a:extLst>
          </p:cNvPr>
          <p:cNvSpPr>
            <a:spLocks xmlns:a="http://schemas.openxmlformats.org/drawingml/2006/main" noGrp="1"/>
          </p:cNvSpPr>
          <p:nvPr/>
        </p:nvSpPr>
        <p:spPr>
          <a:xfrm xmlns:a="http://schemas.openxmlformats.org/drawingml/2006/main">
            <a:off x="72390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05B92"/>
                </a:solidFill>
                <a:latin typeface="Helvetica Neue"/>
                <a:ea typeface="Helvetica Neue"/>
                <a:cs typeface="Helvetica Neue"/>
              </a:defRPr>
            </a:pPr>
            <a:r>
              <a:rPr sz="1650" b="1">
                <a:solidFill>
                  <a:srgbClr val="305B92"/>
                </a:solidFill>
                <a:latin typeface="Helvetica Neue"/>
                <a:ea typeface="Helvetica Neue"/>
                <a:cs typeface="Helvetica Neue"/>
              </a:rPr>
              <a:t>OUT</a:t>
            </a:r>
          </a:p>
        </p:txBody>
      </p:sp>
      <p:sp>
        <p:nvSpPr>
          <p:cNvPr id="11" name="stage-1-output">
            <a:extLst xmlns:a="http://schemas.openxmlformats.org/drawingml/2006/main">
              <a:ext uri="{FF2B5EF4-FFF2-40B4-BE49-F238E27FC236}">
                <a16:creationId xmlns:a16="http://schemas.microsoft.com/office/drawing/2014/main" id="{F83792D9-F988-4611-8446-BF160F5E0A77}"/>
              </a:ext>
            </a:extLst>
          </p:cNvPr>
          <p:cNvSpPr>
            <a:spLocks xmlns:a="http://schemas.openxmlformats.org/drawingml/2006/main" noGrp="1"/>
          </p:cNvSpPr>
          <p:nvPr/>
        </p:nvSpPr>
        <p:spPr>
          <a:xfrm xmlns:a="http://schemas.openxmlformats.org/drawingml/2006/main">
            <a:off x="72390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Unchanged originals</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and source references</a:t>
            </a:r>
          </a:p>
        </p:txBody>
      </p:sp>
      <p:sp>
        <p:nvSpPr>
          <p:cNvPr id="12" name="architecture-stage-2">
            <a:extLst xmlns:a="http://schemas.openxmlformats.org/drawingml/2006/main">
              <a:ext uri="{FF2B5EF4-FFF2-40B4-BE49-F238E27FC236}">
                <a16:creationId xmlns:a16="http://schemas.microsoft.com/office/drawing/2014/main" id="{6665EA58-7ABB-48EF-A374-EFE1E0297ED7}"/>
              </a:ext>
            </a:extLst>
          </p:cNvPr>
          <p:cNvSpPr>
            <a:spLocks xmlns:a="http://schemas.openxmlformats.org/drawingml/2006/main" noGrp="1"/>
          </p:cNvSpPr>
          <p:nvPr/>
        </p:nvSpPr>
        <p:spPr>
          <a:xfrm xmlns:a="http://schemas.openxmlformats.org/drawingml/2006/main">
            <a:off x="3409950" y="3009900"/>
            <a:ext cx="2667000" cy="3067050"/>
          </a:xfrm>
          <a:prstGeom xmlns:a="http://schemas.openxmlformats.org/drawingml/2006/main" prst="roundRect">
            <a:avLst>
              <a:gd name="adj" fmla="val 4286"/>
            </a:avLst>
          </a:prstGeom>
          <a:solidFill xmlns:a="http://schemas.openxmlformats.org/drawingml/2006/main">
            <a:srgbClr val="EEE8F9"/>
          </a:solidFill>
          <a:ln xmlns:a="http://schemas.openxmlformats.org/drawingml/2006/main" w="0">
            <a:noFill/>
          </a:ln>
        </p:spPr>
      </p:sp>
      <p:sp>
        <p:nvSpPr>
          <p:cNvPr id="13" name="stage-2-heading">
            <a:extLst xmlns:a="http://schemas.openxmlformats.org/drawingml/2006/main">
              <a:ext uri="{FF2B5EF4-FFF2-40B4-BE49-F238E27FC236}">
                <a16:creationId xmlns:a16="http://schemas.microsoft.com/office/drawing/2014/main" id="{5553A8DC-3709-45B9-A751-E2DCFA21BC72}"/>
              </a:ext>
            </a:extLst>
          </p:cNvPr>
          <p:cNvSpPr>
            <a:spLocks xmlns:a="http://schemas.openxmlformats.org/drawingml/2006/main" noGrp="1"/>
          </p:cNvSpPr>
          <p:nvPr/>
        </p:nvSpPr>
        <p:spPr>
          <a:xfrm xmlns:a="http://schemas.openxmlformats.org/drawingml/2006/main">
            <a:off x="360045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44E94"/>
                </a:solidFill>
                <a:latin typeface="Helvetica Neue"/>
                <a:ea typeface="Helvetica Neue"/>
                <a:cs typeface="Helvetica Neue"/>
              </a:defRPr>
            </a:pPr>
            <a:r>
              <a:rPr sz="2100" b="1">
                <a:solidFill>
                  <a:srgbClr val="644E94"/>
                </a:solidFill>
                <a:latin typeface="Helvetica Neue"/>
                <a:ea typeface="Helvetica Neue"/>
                <a:cs typeface="Helvetica Neue"/>
              </a:rPr>
              <a:t>2  Extract</a:t>
            </a:r>
          </a:p>
        </p:txBody>
      </p:sp>
      <p:sp>
        <p:nvSpPr>
          <p:cNvPr id="14" name="stage-2-owner">
            <a:extLst xmlns:a="http://schemas.openxmlformats.org/drawingml/2006/main">
              <a:ext uri="{FF2B5EF4-FFF2-40B4-BE49-F238E27FC236}">
                <a16:creationId xmlns:a16="http://schemas.microsoft.com/office/drawing/2014/main" id="{2A35AA5D-C9F8-4DCE-A081-21028A2BF79D}"/>
              </a:ext>
            </a:extLst>
          </p:cNvPr>
          <p:cNvSpPr>
            <a:spLocks xmlns:a="http://schemas.openxmlformats.org/drawingml/2006/main" noGrp="1"/>
          </p:cNvSpPr>
          <p:nvPr/>
        </p:nvSpPr>
        <p:spPr>
          <a:xfrm xmlns:a="http://schemas.openxmlformats.org/drawingml/2006/main">
            <a:off x="360045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4E94"/>
                </a:solidFill>
                <a:latin typeface="Helvetica Neue"/>
                <a:ea typeface="Helvetica Neue"/>
                <a:cs typeface="Helvetica Neue"/>
              </a:defRPr>
            </a:pPr>
            <a:r>
              <a:rPr sz="1725" b="0">
                <a:solidFill>
                  <a:srgbClr val="644E94"/>
                </a:solidFill>
                <a:latin typeface="Helvetica Neue"/>
                <a:ea typeface="Helvetica Neue"/>
                <a:cs typeface="Helvetica Neue"/>
              </a:rPr>
              <a:t>Agent 1 · GPT-6 Luna</a:t>
            </a:r>
          </a:p>
        </p:txBody>
      </p:sp>
      <p:sp>
        <p:nvSpPr>
          <p:cNvPr id="15" name="stage-2-action">
            <a:extLst xmlns:a="http://schemas.openxmlformats.org/drawingml/2006/main">
              <a:ext uri="{FF2B5EF4-FFF2-40B4-BE49-F238E27FC236}">
                <a16:creationId xmlns:a16="http://schemas.microsoft.com/office/drawing/2014/main" id="{24B31A0E-F83F-48E5-9455-0576001563F1}"/>
              </a:ext>
            </a:extLst>
          </p:cNvPr>
          <p:cNvSpPr>
            <a:spLocks xmlns:a="http://schemas.openxmlformats.org/drawingml/2006/main" noGrp="1"/>
          </p:cNvSpPr>
          <p:nvPr/>
        </p:nvSpPr>
        <p:spPr>
          <a:xfrm xmlns:a="http://schemas.openxmlformats.org/drawingml/2006/main">
            <a:off x="360045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Capture every entry,</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field, exact value</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and limitation.</a:t>
            </a:r>
          </a:p>
        </p:txBody>
      </p:sp>
      <p:sp>
        <p:nvSpPr>
          <p:cNvPr id="16" name="stage-2-outlabel">
            <a:extLst xmlns:a="http://schemas.openxmlformats.org/drawingml/2006/main">
              <a:ext uri="{FF2B5EF4-FFF2-40B4-BE49-F238E27FC236}">
                <a16:creationId xmlns:a16="http://schemas.microsoft.com/office/drawing/2014/main" id="{8B64CB0B-14CD-4F10-B340-29DD5AA339D0}"/>
              </a:ext>
            </a:extLst>
          </p:cNvPr>
          <p:cNvSpPr>
            <a:spLocks xmlns:a="http://schemas.openxmlformats.org/drawingml/2006/main" noGrp="1"/>
          </p:cNvSpPr>
          <p:nvPr/>
        </p:nvSpPr>
        <p:spPr>
          <a:xfrm xmlns:a="http://schemas.openxmlformats.org/drawingml/2006/main">
            <a:off x="360045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44E94"/>
                </a:solidFill>
                <a:latin typeface="Helvetica Neue"/>
                <a:ea typeface="Helvetica Neue"/>
                <a:cs typeface="Helvetica Neue"/>
              </a:defRPr>
            </a:pPr>
            <a:r>
              <a:rPr sz="1650" b="1">
                <a:solidFill>
                  <a:srgbClr val="644E94"/>
                </a:solidFill>
                <a:latin typeface="Helvetica Neue"/>
                <a:ea typeface="Helvetica Neue"/>
                <a:cs typeface="Helvetica Neue"/>
              </a:rPr>
              <a:t>OUT</a:t>
            </a:r>
          </a:p>
        </p:txBody>
      </p:sp>
      <p:sp>
        <p:nvSpPr>
          <p:cNvPr id="17" name="stage-2-output">
            <a:extLst xmlns:a="http://schemas.openxmlformats.org/drawingml/2006/main">
              <a:ext uri="{FF2B5EF4-FFF2-40B4-BE49-F238E27FC236}">
                <a16:creationId xmlns:a16="http://schemas.microsoft.com/office/drawing/2014/main" id="{639968B2-4226-4590-8BD1-F620B64AA3B7}"/>
              </a:ext>
            </a:extLst>
          </p:cNvPr>
          <p:cNvSpPr>
            <a:spLocks xmlns:a="http://schemas.openxmlformats.org/drawingml/2006/main" noGrp="1"/>
          </p:cNvSpPr>
          <p:nvPr/>
        </p:nvSpPr>
        <p:spPr>
          <a:xfrm xmlns:a="http://schemas.openxmlformats.org/drawingml/2006/main">
            <a:off x="360045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Structured extraction</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with source references</a:t>
            </a:r>
          </a:p>
        </p:txBody>
      </p:sp>
      <p:sp>
        <p:nvSpPr>
          <p:cNvPr id="18" name="architecture-stage-3">
            <a:extLst xmlns:a="http://schemas.openxmlformats.org/drawingml/2006/main">
              <a:ext uri="{FF2B5EF4-FFF2-40B4-BE49-F238E27FC236}">
                <a16:creationId xmlns:a16="http://schemas.microsoft.com/office/drawing/2014/main" id="{8366C6D8-FD96-4F90-AF2B-3D219CBE8FD3}"/>
              </a:ext>
            </a:extLst>
          </p:cNvPr>
          <p:cNvSpPr>
            <a:spLocks xmlns:a="http://schemas.openxmlformats.org/drawingml/2006/main" noGrp="1"/>
          </p:cNvSpPr>
          <p:nvPr/>
        </p:nvSpPr>
        <p:spPr>
          <a:xfrm xmlns:a="http://schemas.openxmlformats.org/drawingml/2006/main">
            <a:off x="6286500" y="3009900"/>
            <a:ext cx="2667000" cy="3067050"/>
          </a:xfrm>
          <a:prstGeom xmlns:a="http://schemas.openxmlformats.org/drawingml/2006/main" prst="roundRect">
            <a:avLst>
              <a:gd name="adj" fmla="val 4286"/>
            </a:avLst>
          </a:prstGeom>
          <a:solidFill xmlns:a="http://schemas.openxmlformats.org/drawingml/2006/main">
            <a:srgbClr val="EEE8F9"/>
          </a:solidFill>
          <a:ln xmlns:a="http://schemas.openxmlformats.org/drawingml/2006/main" w="0">
            <a:noFill/>
          </a:ln>
        </p:spPr>
      </p:sp>
      <p:sp>
        <p:nvSpPr>
          <p:cNvPr id="19" name="stage-3-heading">
            <a:extLst xmlns:a="http://schemas.openxmlformats.org/drawingml/2006/main">
              <a:ext uri="{FF2B5EF4-FFF2-40B4-BE49-F238E27FC236}">
                <a16:creationId xmlns:a16="http://schemas.microsoft.com/office/drawing/2014/main" id="{25155C0E-337A-4B14-881C-4E4A6B042E7B}"/>
              </a:ext>
            </a:extLst>
          </p:cNvPr>
          <p:cNvSpPr>
            <a:spLocks xmlns:a="http://schemas.openxmlformats.org/drawingml/2006/main" noGrp="1"/>
          </p:cNvSpPr>
          <p:nvPr/>
        </p:nvSpPr>
        <p:spPr>
          <a:xfrm xmlns:a="http://schemas.openxmlformats.org/drawingml/2006/main">
            <a:off x="647700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44E94"/>
                </a:solidFill>
                <a:latin typeface="Helvetica Neue"/>
                <a:ea typeface="Helvetica Neue"/>
                <a:cs typeface="Helvetica Neue"/>
              </a:defRPr>
            </a:pPr>
            <a:r>
              <a:rPr sz="2100" b="1">
                <a:solidFill>
                  <a:srgbClr val="644E94"/>
                </a:solidFill>
                <a:latin typeface="Helvetica Neue"/>
                <a:ea typeface="Helvetica Neue"/>
                <a:cs typeface="Helvetica Neue"/>
              </a:rPr>
              <a:t>3  Select evidence</a:t>
            </a:r>
          </a:p>
        </p:txBody>
      </p:sp>
      <p:sp>
        <p:nvSpPr>
          <p:cNvPr id="20" name="stage-3-owner">
            <a:extLst xmlns:a="http://schemas.openxmlformats.org/drawingml/2006/main">
              <a:ext uri="{FF2B5EF4-FFF2-40B4-BE49-F238E27FC236}">
                <a16:creationId xmlns:a16="http://schemas.microsoft.com/office/drawing/2014/main" id="{DD9DA8E7-10A6-445B-9F8A-CA0170E09FF7}"/>
              </a:ext>
            </a:extLst>
          </p:cNvPr>
          <p:cNvSpPr>
            <a:spLocks xmlns:a="http://schemas.openxmlformats.org/drawingml/2006/main" noGrp="1"/>
          </p:cNvSpPr>
          <p:nvPr/>
        </p:nvSpPr>
        <p:spPr>
          <a:xfrm xmlns:a="http://schemas.openxmlformats.org/drawingml/2006/main">
            <a:off x="647700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4E94"/>
                </a:solidFill>
                <a:latin typeface="Helvetica Neue"/>
                <a:ea typeface="Helvetica Neue"/>
                <a:cs typeface="Helvetica Neue"/>
              </a:defRPr>
            </a:pPr>
            <a:r>
              <a:rPr sz="1725" b="0">
                <a:solidFill>
                  <a:srgbClr val="644E94"/>
                </a:solidFill>
                <a:latin typeface="Helvetica Neue"/>
                <a:ea typeface="Helvetica Neue"/>
                <a:cs typeface="Helvetica Neue"/>
              </a:rPr>
              <a:t>Agent 2 · GPT-6.1 Sol</a:t>
            </a:r>
          </a:p>
        </p:txBody>
      </p:sp>
      <p:sp>
        <p:nvSpPr>
          <p:cNvPr id="21" name="stage-3-action">
            <a:extLst xmlns:a="http://schemas.openxmlformats.org/drawingml/2006/main">
              <a:ext uri="{FF2B5EF4-FFF2-40B4-BE49-F238E27FC236}">
                <a16:creationId xmlns:a16="http://schemas.microsoft.com/office/drawing/2014/main" id="{747D70A2-E0EC-4E92-958B-8567EEAA7E5E}"/>
              </a:ext>
            </a:extLst>
          </p:cNvPr>
          <p:cNvSpPr>
            <a:spLocks xmlns:a="http://schemas.openxmlformats.org/drawingml/2006/main" noGrp="1"/>
          </p:cNvSpPr>
          <p:nvPr/>
        </p:nvSpPr>
        <p:spPr>
          <a:xfrm xmlns:a="http://schemas.openxmlformats.org/drawingml/2006/main">
            <a:off x="647700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Select essential errors,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context, outcomes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and unresolved gaps.</a:t>
            </a:r>
          </a:p>
        </p:txBody>
      </p:sp>
      <p:sp>
        <p:nvSpPr>
          <p:cNvPr id="22" name="stage-3-outlabel">
            <a:extLst xmlns:a="http://schemas.openxmlformats.org/drawingml/2006/main">
              <a:ext uri="{FF2B5EF4-FFF2-40B4-BE49-F238E27FC236}">
                <a16:creationId xmlns:a16="http://schemas.microsoft.com/office/drawing/2014/main" id="{A62FFC69-6293-42F7-94C4-A63501229404}"/>
              </a:ext>
            </a:extLst>
          </p:cNvPr>
          <p:cNvSpPr>
            <a:spLocks xmlns:a="http://schemas.openxmlformats.org/drawingml/2006/main" noGrp="1"/>
          </p:cNvSpPr>
          <p:nvPr/>
        </p:nvSpPr>
        <p:spPr>
          <a:xfrm xmlns:a="http://schemas.openxmlformats.org/drawingml/2006/main">
            <a:off x="647700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44E94"/>
                </a:solidFill>
                <a:latin typeface="Helvetica Neue"/>
                <a:ea typeface="Helvetica Neue"/>
                <a:cs typeface="Helvetica Neue"/>
              </a:defRPr>
            </a:pPr>
            <a:r>
              <a:rPr sz="1650" b="1">
                <a:solidFill>
                  <a:srgbClr val="644E94"/>
                </a:solidFill>
                <a:latin typeface="Helvetica Neue"/>
                <a:ea typeface="Helvetica Neue"/>
                <a:cs typeface="Helvetica Neue"/>
              </a:rPr>
              <a:t>OUT</a:t>
            </a:r>
          </a:p>
        </p:txBody>
      </p:sp>
      <p:sp>
        <p:nvSpPr>
          <p:cNvPr id="23" name="stage-3-output">
            <a:extLst xmlns:a="http://schemas.openxmlformats.org/drawingml/2006/main">
              <a:ext uri="{FF2B5EF4-FFF2-40B4-BE49-F238E27FC236}">
                <a16:creationId xmlns:a16="http://schemas.microsoft.com/office/drawing/2014/main" id="{155A0CEC-5E23-4361-8976-C213F5D4CBE5}"/>
              </a:ext>
            </a:extLst>
          </p:cNvPr>
          <p:cNvSpPr>
            <a:spLocks xmlns:a="http://schemas.openxmlformats.org/drawingml/2006/main" noGrp="1"/>
          </p:cNvSpPr>
          <p:nvPr/>
        </p:nvSpPr>
        <p:spPr>
          <a:xfrm xmlns:a="http://schemas.openxmlformats.org/drawingml/2006/main">
            <a:off x="647700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Selected evidence</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with cited locations</a:t>
            </a:r>
          </a:p>
        </p:txBody>
      </p:sp>
      <p:sp>
        <p:nvSpPr>
          <p:cNvPr id="24" name="architecture-stage-4">
            <a:extLst xmlns:a="http://schemas.openxmlformats.org/drawingml/2006/main">
              <a:ext uri="{FF2B5EF4-FFF2-40B4-BE49-F238E27FC236}">
                <a16:creationId xmlns:a16="http://schemas.microsoft.com/office/drawing/2014/main" id="{23D5E4C3-A6AC-464A-9780-F0F260A4C9B4}"/>
              </a:ext>
            </a:extLst>
          </p:cNvPr>
          <p:cNvSpPr>
            <a:spLocks xmlns:a="http://schemas.openxmlformats.org/drawingml/2006/main" noGrp="1"/>
          </p:cNvSpPr>
          <p:nvPr/>
        </p:nvSpPr>
        <p:spPr>
          <a:xfrm xmlns:a="http://schemas.openxmlformats.org/drawingml/2006/main">
            <a:off x="9163050" y="3009900"/>
            <a:ext cx="2667000" cy="3067050"/>
          </a:xfrm>
          <a:prstGeom xmlns:a="http://schemas.openxmlformats.org/drawingml/2006/main" prst="roundRect">
            <a:avLst>
              <a:gd name="adj" fmla="val 4286"/>
            </a:avLst>
          </a:prstGeom>
          <a:solidFill xmlns:a="http://schemas.openxmlformats.org/drawingml/2006/main">
            <a:srgbClr val="EEE8F9"/>
          </a:solidFill>
          <a:ln xmlns:a="http://schemas.openxmlformats.org/drawingml/2006/main" w="0">
            <a:noFill/>
          </a:ln>
        </p:spPr>
      </p:sp>
      <p:sp>
        <p:nvSpPr>
          <p:cNvPr id="25" name="stage-4-heading">
            <a:extLst xmlns:a="http://schemas.openxmlformats.org/drawingml/2006/main">
              <a:ext uri="{FF2B5EF4-FFF2-40B4-BE49-F238E27FC236}">
                <a16:creationId xmlns:a16="http://schemas.microsoft.com/office/drawing/2014/main" id="{5165EF95-57FD-4965-8C2E-767422106D79}"/>
              </a:ext>
            </a:extLst>
          </p:cNvPr>
          <p:cNvSpPr>
            <a:spLocks xmlns:a="http://schemas.openxmlformats.org/drawingml/2006/main" noGrp="1"/>
          </p:cNvSpPr>
          <p:nvPr/>
        </p:nvSpPr>
        <p:spPr>
          <a:xfrm xmlns:a="http://schemas.openxmlformats.org/drawingml/2006/main">
            <a:off x="935355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644E94"/>
                </a:solidFill>
                <a:latin typeface="Helvetica Neue"/>
                <a:ea typeface="Helvetica Neue"/>
                <a:cs typeface="Helvetica Neue"/>
              </a:defRPr>
            </a:pPr>
            <a:r>
              <a:rPr sz="2100" b="1">
                <a:solidFill>
                  <a:srgbClr val="644E94"/>
                </a:solidFill>
                <a:latin typeface="Helvetica Neue"/>
                <a:ea typeface="Helvetica Neue"/>
                <a:cs typeface="Helvetica Neue"/>
              </a:rPr>
              <a:t>4  Summarise</a:t>
            </a:r>
          </a:p>
        </p:txBody>
      </p:sp>
      <p:sp>
        <p:nvSpPr>
          <p:cNvPr id="26" name="stage-4-owner">
            <a:extLst xmlns:a="http://schemas.openxmlformats.org/drawingml/2006/main">
              <a:ext uri="{FF2B5EF4-FFF2-40B4-BE49-F238E27FC236}">
                <a16:creationId xmlns:a16="http://schemas.microsoft.com/office/drawing/2014/main" id="{1E3C664E-8669-4C2B-852A-F8ECD940F37B}"/>
              </a:ext>
            </a:extLst>
          </p:cNvPr>
          <p:cNvSpPr>
            <a:spLocks xmlns:a="http://schemas.openxmlformats.org/drawingml/2006/main" noGrp="1"/>
          </p:cNvSpPr>
          <p:nvPr/>
        </p:nvSpPr>
        <p:spPr>
          <a:xfrm xmlns:a="http://schemas.openxmlformats.org/drawingml/2006/main">
            <a:off x="935355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44E94"/>
                </a:solidFill>
                <a:latin typeface="Helvetica Neue"/>
                <a:ea typeface="Helvetica Neue"/>
                <a:cs typeface="Helvetica Neue"/>
              </a:defRPr>
            </a:pPr>
            <a:r>
              <a:rPr sz="1725" b="0">
                <a:solidFill>
                  <a:srgbClr val="644E94"/>
                </a:solidFill>
                <a:latin typeface="Helvetica Neue"/>
                <a:ea typeface="Helvetica Neue"/>
                <a:cs typeface="Helvetica Neue"/>
              </a:rPr>
              <a:t>Agent 3 · GPT-6.1 Sol</a:t>
            </a:r>
          </a:p>
        </p:txBody>
      </p:sp>
      <p:sp>
        <p:nvSpPr>
          <p:cNvPr id="27" name="stage-4-action">
            <a:extLst xmlns:a="http://schemas.openxmlformats.org/drawingml/2006/main">
              <a:ext uri="{FF2B5EF4-FFF2-40B4-BE49-F238E27FC236}">
                <a16:creationId xmlns:a16="http://schemas.microsoft.com/office/drawing/2014/main" id="{577A6467-3344-40D6-80EE-8CCC5BB0B700}"/>
              </a:ext>
            </a:extLst>
          </p:cNvPr>
          <p:cNvSpPr>
            <a:spLocks xmlns:a="http://schemas.openxmlformats.org/drawingml/2006/main" noGrp="1"/>
          </p:cNvSpPr>
          <p:nvPr/>
        </p:nvSpPr>
        <p:spPr>
          <a:xfrm xmlns:a="http://schemas.openxmlformats.org/drawingml/2006/main">
            <a:off x="935355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Write factual bullets;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read reviewed history;</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keep cases separate.</a:t>
            </a:r>
          </a:p>
        </p:txBody>
      </p:sp>
      <p:sp>
        <p:nvSpPr>
          <p:cNvPr id="28" name="stage-4-outlabel">
            <a:extLst xmlns:a="http://schemas.openxmlformats.org/drawingml/2006/main">
              <a:ext uri="{FF2B5EF4-FFF2-40B4-BE49-F238E27FC236}">
                <a16:creationId xmlns:a16="http://schemas.microsoft.com/office/drawing/2014/main" id="{7389BEF6-1D82-41FE-BEE3-6BBCCE62B071}"/>
              </a:ext>
            </a:extLst>
          </p:cNvPr>
          <p:cNvSpPr>
            <a:spLocks xmlns:a="http://schemas.openxmlformats.org/drawingml/2006/main" noGrp="1"/>
          </p:cNvSpPr>
          <p:nvPr/>
        </p:nvSpPr>
        <p:spPr>
          <a:xfrm xmlns:a="http://schemas.openxmlformats.org/drawingml/2006/main">
            <a:off x="935355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644E94"/>
                </a:solidFill>
                <a:latin typeface="Helvetica Neue"/>
                <a:ea typeface="Helvetica Neue"/>
                <a:cs typeface="Helvetica Neue"/>
              </a:defRPr>
            </a:pPr>
            <a:r>
              <a:rPr sz="1650" b="1">
                <a:solidFill>
                  <a:srgbClr val="644E94"/>
                </a:solidFill>
                <a:latin typeface="Helvetica Neue"/>
                <a:ea typeface="Helvetica Neue"/>
                <a:cs typeface="Helvetica Neue"/>
              </a:rPr>
              <a:t>OUT</a:t>
            </a:r>
          </a:p>
        </p:txBody>
      </p:sp>
      <p:sp>
        <p:nvSpPr>
          <p:cNvPr id="29" name="stage-4-output">
            <a:extLst xmlns:a="http://schemas.openxmlformats.org/drawingml/2006/main">
              <a:ext uri="{FF2B5EF4-FFF2-40B4-BE49-F238E27FC236}">
                <a16:creationId xmlns:a16="http://schemas.microsoft.com/office/drawing/2014/main" id="{1D33724F-2CC5-4B05-BE2B-9C6D691CF544}"/>
              </a:ext>
            </a:extLst>
          </p:cNvPr>
          <p:cNvSpPr>
            <a:spLocks xmlns:a="http://schemas.openxmlformats.org/drawingml/2006/main" noGrp="1"/>
          </p:cNvSpPr>
          <p:nvPr/>
        </p:nvSpPr>
        <p:spPr>
          <a:xfrm xmlns:a="http://schemas.openxmlformats.org/drawingml/2006/main">
            <a:off x="935355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Brief, uncertainty</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and related cases</a:t>
            </a:r>
          </a:p>
        </p:txBody>
      </p:sp>
      <p:sp>
        <p:nvSpPr>
          <p:cNvPr id="30" name="architecture-stage-5">
            <a:extLst xmlns:a="http://schemas.openxmlformats.org/drawingml/2006/main">
              <a:ext uri="{FF2B5EF4-FFF2-40B4-BE49-F238E27FC236}">
                <a16:creationId xmlns:a16="http://schemas.microsoft.com/office/drawing/2014/main" id="{E77D1F29-66C1-461A-9E1F-91BFDDC0E0B7}"/>
              </a:ext>
            </a:extLst>
          </p:cNvPr>
          <p:cNvSpPr>
            <a:spLocks xmlns:a="http://schemas.openxmlformats.org/drawingml/2006/main" noGrp="1"/>
          </p:cNvSpPr>
          <p:nvPr/>
        </p:nvSpPr>
        <p:spPr>
          <a:xfrm xmlns:a="http://schemas.openxmlformats.org/drawingml/2006/main">
            <a:off x="12039600" y="3009900"/>
            <a:ext cx="2667000" cy="3067050"/>
          </a:xfrm>
          <a:prstGeom xmlns:a="http://schemas.openxmlformats.org/drawingml/2006/main" prst="roundRect">
            <a:avLst>
              <a:gd name="adj" fmla="val 4286"/>
            </a:avLst>
          </a:prstGeom>
          <a:solidFill xmlns:a="http://schemas.openxmlformats.org/drawingml/2006/main">
            <a:srgbClr val="E4ECFA"/>
          </a:solidFill>
          <a:ln xmlns:a="http://schemas.openxmlformats.org/drawingml/2006/main" w="0">
            <a:noFill/>
          </a:ln>
        </p:spPr>
      </p:sp>
      <p:sp>
        <p:nvSpPr>
          <p:cNvPr id="31" name="stage-5-heading">
            <a:extLst xmlns:a="http://schemas.openxmlformats.org/drawingml/2006/main">
              <a:ext uri="{FF2B5EF4-FFF2-40B4-BE49-F238E27FC236}">
                <a16:creationId xmlns:a16="http://schemas.microsoft.com/office/drawing/2014/main" id="{D5366295-F0C0-4BD7-9DFA-FB4184D6628C}"/>
              </a:ext>
            </a:extLst>
          </p:cNvPr>
          <p:cNvSpPr>
            <a:spLocks xmlns:a="http://schemas.openxmlformats.org/drawingml/2006/main" noGrp="1"/>
          </p:cNvSpPr>
          <p:nvPr/>
        </p:nvSpPr>
        <p:spPr>
          <a:xfrm xmlns:a="http://schemas.openxmlformats.org/drawingml/2006/main">
            <a:off x="12230100" y="31718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305B92"/>
                </a:solidFill>
                <a:latin typeface="Helvetica Neue"/>
                <a:ea typeface="Helvetica Neue"/>
                <a:cs typeface="Helvetica Neue"/>
              </a:defRPr>
            </a:pPr>
            <a:r>
              <a:rPr sz="2100" b="1">
                <a:solidFill>
                  <a:srgbClr val="305B92"/>
                </a:solidFill>
                <a:latin typeface="Helvetica Neue"/>
                <a:ea typeface="Helvetica Neue"/>
                <a:cs typeface="Helvetica Neue"/>
              </a:rPr>
              <a:t>5  Save and route</a:t>
            </a:r>
          </a:p>
        </p:txBody>
      </p:sp>
      <p:sp>
        <p:nvSpPr>
          <p:cNvPr id="32" name="stage-5-owner">
            <a:extLst xmlns:a="http://schemas.openxmlformats.org/drawingml/2006/main">
              <a:ext uri="{FF2B5EF4-FFF2-40B4-BE49-F238E27FC236}">
                <a16:creationId xmlns:a16="http://schemas.microsoft.com/office/drawing/2014/main" id="{074D94D3-25E3-460D-8413-FAE5E90A587D}"/>
              </a:ext>
            </a:extLst>
          </p:cNvPr>
          <p:cNvSpPr>
            <a:spLocks xmlns:a="http://schemas.openxmlformats.org/drawingml/2006/main" noGrp="1"/>
          </p:cNvSpPr>
          <p:nvPr/>
        </p:nvSpPr>
        <p:spPr>
          <a:xfrm xmlns:a="http://schemas.openxmlformats.org/drawingml/2006/main">
            <a:off x="12230100" y="3648075"/>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305B92"/>
                </a:solidFill>
                <a:latin typeface="Helvetica Neue"/>
                <a:ea typeface="Helvetica Neue"/>
                <a:cs typeface="Helvetica Neue"/>
              </a:defRPr>
            </a:pPr>
            <a:r>
              <a:rPr sz="1725" b="0">
                <a:solidFill>
                  <a:srgbClr val="305B92"/>
                </a:solidFill>
                <a:latin typeface="Helvetica Neue"/>
                <a:ea typeface="Helvetica Neue"/>
                <a:cs typeface="Helvetica Neue"/>
              </a:rPr>
              <a:t>Code</a:t>
            </a:r>
          </a:p>
        </p:txBody>
      </p:sp>
      <p:sp>
        <p:nvSpPr>
          <p:cNvPr id="33" name="stage-5-action">
            <a:extLst xmlns:a="http://schemas.openxmlformats.org/drawingml/2006/main">
              <a:ext uri="{FF2B5EF4-FFF2-40B4-BE49-F238E27FC236}">
                <a16:creationId xmlns:a16="http://schemas.microsoft.com/office/drawing/2014/main" id="{B33B0F8C-3C3D-478A-B09C-B25265D7A652}"/>
              </a:ext>
            </a:extLst>
          </p:cNvPr>
          <p:cNvSpPr>
            <a:spLocks xmlns:a="http://schemas.openxmlformats.org/drawingml/2006/main" noGrp="1"/>
          </p:cNvSpPr>
          <p:nvPr/>
        </p:nvSpPr>
        <p:spPr>
          <a:xfrm xmlns:a="http://schemas.openxmlformats.org/drawingml/2006/main">
            <a:off x="12230100" y="4076700"/>
            <a:ext cx="2286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Compile case and links;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apply owner rules;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retain full originals.</a:t>
            </a:r>
          </a:p>
        </p:txBody>
      </p:sp>
      <p:sp>
        <p:nvSpPr>
          <p:cNvPr id="34" name="stage-5-outlabel">
            <a:extLst xmlns:a="http://schemas.openxmlformats.org/drawingml/2006/main">
              <a:ext uri="{FF2B5EF4-FFF2-40B4-BE49-F238E27FC236}">
                <a16:creationId xmlns:a16="http://schemas.microsoft.com/office/drawing/2014/main" id="{FF6254EB-CFFA-4A0E-9906-CE9EE153F9C8}"/>
              </a:ext>
            </a:extLst>
          </p:cNvPr>
          <p:cNvSpPr>
            <a:spLocks xmlns:a="http://schemas.openxmlformats.org/drawingml/2006/main" noGrp="1"/>
          </p:cNvSpPr>
          <p:nvPr/>
        </p:nvSpPr>
        <p:spPr>
          <a:xfrm xmlns:a="http://schemas.openxmlformats.org/drawingml/2006/main">
            <a:off x="12230100" y="507682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305B92"/>
                </a:solidFill>
                <a:latin typeface="Helvetica Neue"/>
                <a:ea typeface="Helvetica Neue"/>
                <a:cs typeface="Helvetica Neue"/>
              </a:defRPr>
            </a:pPr>
            <a:r>
              <a:rPr sz="1650" b="1">
                <a:solidFill>
                  <a:srgbClr val="305B92"/>
                </a:solidFill>
                <a:latin typeface="Helvetica Neue"/>
                <a:ea typeface="Helvetica Neue"/>
                <a:cs typeface="Helvetica Neue"/>
              </a:rPr>
              <a:t>OUT</a:t>
            </a:r>
          </a:p>
        </p:txBody>
      </p:sp>
      <p:sp>
        <p:nvSpPr>
          <p:cNvPr id="35" name="stage-5-output">
            <a:extLst xmlns:a="http://schemas.openxmlformats.org/drawingml/2006/main">
              <a:ext uri="{FF2B5EF4-FFF2-40B4-BE49-F238E27FC236}">
                <a16:creationId xmlns:a16="http://schemas.microsoft.com/office/drawing/2014/main" id="{51FBCABD-8F2A-41B1-B4FE-989B80A92946}"/>
              </a:ext>
            </a:extLst>
          </p:cNvPr>
          <p:cNvSpPr>
            <a:spLocks xmlns:a="http://schemas.openxmlformats.org/drawingml/2006/main" noGrp="1"/>
          </p:cNvSpPr>
          <p:nvPr/>
        </p:nvSpPr>
        <p:spPr>
          <a:xfrm xmlns:a="http://schemas.openxmlformats.org/drawingml/2006/main">
            <a:off x="12230100" y="5372100"/>
            <a:ext cx="2286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Saved case and</a:t>
            </a:r>
          </a:p>
          <a:p xmlns:a="http://schemas.openxmlformats.org/drawingml/2006/main">
            <a:pPr algn="l">
              <a:defRPr sz="1800" b="0">
                <a:solidFill>
                  <a:srgbClr val="152E49"/>
                </a:solidFill>
                <a:latin typeface="Helvetica Neue"/>
                <a:ea typeface="Helvetica Neue"/>
                <a:cs typeface="Helvetica Neue"/>
              </a:defRPr>
            </a:pPr>
            <a:r>
              <a:rPr sz="1800" b="0">
                <a:solidFill>
                  <a:srgbClr val="152E49"/>
                </a:solidFill>
                <a:latin typeface="Helvetica Neue"/>
                <a:ea typeface="Helvetica Neue"/>
                <a:cs typeface="Helvetica Neue"/>
              </a:rPr>
              <a:t>versioned JSON reads</a:t>
            </a:r>
          </a:p>
        </p:txBody>
      </p:sp>
      <p:cxnSp>
        <p:nvCxnSpPr>
          <p:cNvPr id="87" name=""/>
          <p:cNvCxnSpPr>
            <a:stCxn xmlns:a="http://schemas.openxmlformats.org/drawingml/2006/main" id="6" idx="3"/>
            <a:endCxn xmlns:a="http://schemas.openxmlformats.org/drawingml/2006/main" id="12" idx="1"/>
          </p:cNvCxnSpPr>
          <p:nvPr/>
        </p:nvCxnSpPr>
        <p:spPr>
          <a:xfrm xmlns:a="http://schemas.openxmlformats.org/drawingml/2006/main">
            <a:off x="3200400" y="4543425"/>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cxnSp>
        <p:nvCxnSpPr>
          <p:cNvPr id="88" name=""/>
          <p:cNvCxnSpPr>
            <a:stCxn xmlns:a="http://schemas.openxmlformats.org/drawingml/2006/main" id="12" idx="3"/>
            <a:endCxn xmlns:a="http://schemas.openxmlformats.org/drawingml/2006/main" id="18" idx="1"/>
          </p:cNvCxnSpPr>
          <p:nvPr/>
        </p:nvCxnSpPr>
        <p:spPr>
          <a:xfrm xmlns:a="http://schemas.openxmlformats.org/drawingml/2006/main">
            <a:off x="6076950" y="4543425"/>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cxnSp>
        <p:nvCxnSpPr>
          <p:cNvPr id="89" name=""/>
          <p:cNvCxnSpPr>
            <a:stCxn xmlns:a="http://schemas.openxmlformats.org/drawingml/2006/main" id="18" idx="3"/>
            <a:endCxn xmlns:a="http://schemas.openxmlformats.org/drawingml/2006/main" id="24" idx="1"/>
          </p:cNvCxnSpPr>
          <p:nvPr/>
        </p:nvCxnSpPr>
        <p:spPr>
          <a:xfrm xmlns:a="http://schemas.openxmlformats.org/drawingml/2006/main">
            <a:off x="8953500" y="4543425"/>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cxnSp>
        <p:nvCxnSpPr>
          <p:cNvPr id="90" name=""/>
          <p:cNvCxnSpPr>
            <a:stCxn xmlns:a="http://schemas.openxmlformats.org/drawingml/2006/main" id="24" idx="3"/>
            <a:endCxn xmlns:a="http://schemas.openxmlformats.org/drawingml/2006/main" id="30" idx="1"/>
          </p:cNvCxnSpPr>
          <p:nvPr/>
        </p:nvCxnSpPr>
        <p:spPr>
          <a:xfrm xmlns:a="http://schemas.openxmlformats.org/drawingml/2006/main">
            <a:off x="11830050" y="4543425"/>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sp>
        <p:nvSpPr>
          <p:cNvPr id="40" name="history-explanation">
            <a:extLst xmlns:a="http://schemas.openxmlformats.org/drawingml/2006/main">
              <a:ext uri="{FF2B5EF4-FFF2-40B4-BE49-F238E27FC236}">
                <a16:creationId xmlns:a16="http://schemas.microsoft.com/office/drawing/2014/main" id="{E28A7186-E047-4593-A814-2FA1DE79B154}"/>
              </a:ext>
            </a:extLst>
          </p:cNvPr>
          <p:cNvSpPr>
            <a:spLocks xmlns:a="http://schemas.openxmlformats.org/drawingml/2006/main" noGrp="1"/>
          </p:cNvSpPr>
          <p:nvPr/>
        </p:nvSpPr>
        <p:spPr>
          <a:xfrm xmlns:a="http://schemas.openxmlformats.org/drawingml/2006/main">
            <a:off x="533400" y="64198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3657C"/>
                </a:solidFill>
                <a:latin typeface="Helvetica Neue"/>
                <a:ea typeface="Helvetica Neue"/>
                <a:cs typeface="Helvetica Neue"/>
              </a:defRPr>
            </a:pPr>
            <a:r>
              <a:rPr sz="1950" b="0">
                <a:solidFill>
                  <a:srgbClr val="53657C"/>
                </a:solidFill>
                <a:latin typeface="Helvetica Neue"/>
                <a:ea typeface="Helvetica Neue"/>
                <a:cs typeface="Helvetica Neue"/>
              </a:rPr>
              <a:t>Human findings enter reusable history</a:t>
            </a:r>
          </a:p>
          <a:p xmlns:a="http://schemas.openxmlformats.org/drawingml/2006/main">
            <a:pPr algn="l">
              <a:defRPr sz="1950" b="0">
                <a:solidFill>
                  <a:srgbClr val="53657C"/>
                </a:solidFill>
                <a:latin typeface="Helvetica Neue"/>
                <a:ea typeface="Helvetica Neue"/>
                <a:cs typeface="Helvetica Neue"/>
              </a:defRPr>
            </a:pPr>
            <a:r>
              <a:rPr sz="1950" b="0">
                <a:solidFill>
                  <a:srgbClr val="53657C"/>
                </a:solidFill>
                <a:latin typeface="Helvetica Neue"/>
                <a:ea typeface="Helvetica Neue"/>
                <a:cs typeface="Helvetica Neue"/>
              </a:rPr>
              <a:t>through review and approval.</a:t>
            </a:r>
          </a:p>
        </p:txBody>
      </p:sp>
      <p:sp>
        <p:nvSpPr>
          <p:cNvPr id="41" name="human-review">
            <a:extLst xmlns:a="http://schemas.openxmlformats.org/drawingml/2006/main">
              <a:ext uri="{FF2B5EF4-FFF2-40B4-BE49-F238E27FC236}">
                <a16:creationId xmlns:a16="http://schemas.microsoft.com/office/drawing/2014/main" id="{A08BD998-F735-4135-AEF1-9DDC81456598}"/>
              </a:ext>
            </a:extLst>
          </p:cNvPr>
          <p:cNvSpPr>
            <a:spLocks xmlns:a="http://schemas.openxmlformats.org/drawingml/2006/main" noGrp="1"/>
          </p:cNvSpPr>
          <p:nvPr/>
        </p:nvSpPr>
        <p:spPr>
          <a:xfrm xmlns:a="http://schemas.openxmlformats.org/drawingml/2006/main">
            <a:off x="6286500" y="6381750"/>
            <a:ext cx="2667000" cy="723900"/>
          </a:xfrm>
          <a:prstGeom xmlns:a="http://schemas.openxmlformats.org/drawingml/2006/main" prst="roundRect">
            <a:avLst>
              <a:gd name="adj" fmla="val 15789"/>
            </a:avLst>
          </a:prstGeom>
          <a:solidFill xmlns:a="http://schemas.openxmlformats.org/drawingml/2006/main">
            <a:srgbClr val="FFF0DC"/>
          </a:solidFill>
          <a:ln xmlns:a="http://schemas.openxmlformats.org/drawingml/2006/main" w="0">
            <a:noFill/>
          </a:ln>
        </p:spPr>
      </p:sp>
      <p:sp>
        <p:nvSpPr>
          <p:cNvPr id="42" name="human-review-text">
            <a:extLst xmlns:a="http://schemas.openxmlformats.org/drawingml/2006/main">
              <a:ext uri="{FF2B5EF4-FFF2-40B4-BE49-F238E27FC236}">
                <a16:creationId xmlns:a16="http://schemas.microsoft.com/office/drawing/2014/main" id="{A3878C60-E1A5-4287-8072-7BC3B613EE2D}"/>
              </a:ext>
            </a:extLst>
          </p:cNvPr>
          <p:cNvSpPr>
            <a:spLocks xmlns:a="http://schemas.openxmlformats.org/drawingml/2006/main" noGrp="1"/>
          </p:cNvSpPr>
          <p:nvPr/>
        </p:nvSpPr>
        <p:spPr>
          <a:xfrm xmlns:a="http://schemas.openxmlformats.org/drawingml/2006/main">
            <a:off x="6477000" y="65913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906525"/>
                </a:solidFill>
                <a:latin typeface="Helvetica Neue"/>
                <a:ea typeface="Helvetica Neue"/>
                <a:cs typeface="Helvetica Neue"/>
              </a:defRPr>
            </a:pPr>
            <a:r>
              <a:rPr sz="2025" b="1">
                <a:solidFill>
                  <a:srgbClr val="906525"/>
                </a:solidFill>
                <a:latin typeface="Helvetica Neue"/>
                <a:ea typeface="Helvetica Neue"/>
                <a:cs typeface="Helvetica Neue"/>
              </a:rPr>
              <a:t>Human review</a:t>
            </a:r>
          </a:p>
        </p:txBody>
      </p:sp>
      <p:sp>
        <p:nvSpPr>
          <p:cNvPr id="43" name="reviewed-history">
            <a:extLst xmlns:a="http://schemas.openxmlformats.org/drawingml/2006/main">
              <a:ext uri="{FF2B5EF4-FFF2-40B4-BE49-F238E27FC236}">
                <a16:creationId xmlns:a16="http://schemas.microsoft.com/office/drawing/2014/main" id="{597C95F7-1697-4AA8-B0C7-2CA0C99C9889}"/>
              </a:ext>
            </a:extLst>
          </p:cNvPr>
          <p:cNvSpPr>
            <a:spLocks xmlns:a="http://schemas.openxmlformats.org/drawingml/2006/main" noGrp="1"/>
          </p:cNvSpPr>
          <p:nvPr/>
        </p:nvSpPr>
        <p:spPr>
          <a:xfrm xmlns:a="http://schemas.openxmlformats.org/drawingml/2006/main">
            <a:off x="9163050" y="6381750"/>
            <a:ext cx="2667000" cy="723900"/>
          </a:xfrm>
          <a:prstGeom xmlns:a="http://schemas.openxmlformats.org/drawingml/2006/main" prst="roundRect">
            <a:avLst>
              <a:gd name="adj" fmla="val 15789"/>
            </a:avLst>
          </a:prstGeom>
          <a:solidFill xmlns:a="http://schemas.openxmlformats.org/drawingml/2006/main">
            <a:srgbClr val="E0F0EF"/>
          </a:solidFill>
          <a:ln xmlns:a="http://schemas.openxmlformats.org/drawingml/2006/main" w="0">
            <a:noFill/>
          </a:ln>
        </p:spPr>
      </p:sp>
      <p:sp>
        <p:nvSpPr>
          <p:cNvPr id="44" name="reviewed-history-text">
            <a:extLst xmlns:a="http://schemas.openxmlformats.org/drawingml/2006/main">
              <a:ext uri="{FF2B5EF4-FFF2-40B4-BE49-F238E27FC236}">
                <a16:creationId xmlns:a16="http://schemas.microsoft.com/office/drawing/2014/main" id="{6532E5E1-9932-4B88-906F-937832D46556}"/>
              </a:ext>
            </a:extLst>
          </p:cNvPr>
          <p:cNvSpPr>
            <a:spLocks xmlns:a="http://schemas.openxmlformats.org/drawingml/2006/main" noGrp="1"/>
          </p:cNvSpPr>
          <p:nvPr/>
        </p:nvSpPr>
        <p:spPr>
          <a:xfrm xmlns:a="http://schemas.openxmlformats.org/drawingml/2006/main">
            <a:off x="9353550" y="6477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A79"/>
                </a:solidFill>
                <a:latin typeface="Helvetica Neue"/>
                <a:ea typeface="Helvetica Neue"/>
                <a:cs typeface="Helvetica Neue"/>
              </a:defRPr>
            </a:pPr>
            <a:r>
              <a:rPr sz="2025" b="1">
                <a:solidFill>
                  <a:srgbClr val="087A79"/>
                </a:solidFill>
                <a:latin typeface="Helvetica Neue"/>
                <a:ea typeface="Helvetica Neue"/>
                <a:cs typeface="Helvetica Neue"/>
              </a:rPr>
              <a:t>Reviewed history</a:t>
            </a:r>
          </a:p>
        </p:txBody>
      </p:sp>
      <p:sp>
        <p:nvSpPr>
          <p:cNvPr id="45" name="history-agent3-only">
            <a:extLst xmlns:a="http://schemas.openxmlformats.org/drawingml/2006/main">
              <a:ext uri="{FF2B5EF4-FFF2-40B4-BE49-F238E27FC236}">
                <a16:creationId xmlns:a16="http://schemas.microsoft.com/office/drawing/2014/main" id="{2AA8AA57-76AA-4FC2-BBD3-1EE5E0BE804E}"/>
              </a:ext>
            </a:extLst>
          </p:cNvPr>
          <p:cNvSpPr>
            <a:spLocks xmlns:a="http://schemas.openxmlformats.org/drawingml/2006/main" noGrp="1"/>
          </p:cNvSpPr>
          <p:nvPr/>
        </p:nvSpPr>
        <p:spPr>
          <a:xfrm xmlns:a="http://schemas.openxmlformats.org/drawingml/2006/main">
            <a:off x="9353550" y="6800850"/>
            <a:ext cx="2286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087A79"/>
                </a:solidFill>
                <a:latin typeface="Helvetica Neue"/>
                <a:ea typeface="Helvetica Neue"/>
                <a:cs typeface="Helvetica Neue"/>
              </a:defRPr>
            </a:pPr>
            <a:r>
              <a:rPr sz="1650" b="0">
                <a:solidFill>
                  <a:srgbClr val="087A79"/>
                </a:solidFill>
                <a:latin typeface="Helvetica Neue"/>
                <a:ea typeface="Helvetica Neue"/>
                <a:cs typeface="Helvetica Neue"/>
              </a:rPr>
              <a:t>Agent 3 only</a:t>
            </a:r>
          </a:p>
        </p:txBody>
      </p:sp>
      <p:cxnSp>
        <p:nvCxnSpPr>
          <p:cNvPr id="97" name=""/>
          <p:cNvCxnSpPr>
            <a:stCxn xmlns:a="http://schemas.openxmlformats.org/drawingml/2006/main" id="41" idx="3"/>
            <a:endCxn xmlns:a="http://schemas.openxmlformats.org/drawingml/2006/main" id="43" idx="1"/>
          </p:cNvCxnSpPr>
          <p:nvPr/>
        </p:nvCxnSpPr>
        <p:spPr>
          <a:xfrm xmlns:a="http://schemas.openxmlformats.org/drawingml/2006/main">
            <a:off x="8953500" y="6743700"/>
            <a:ext cx="209550" cy="0"/>
          </a:xfrm>
          <a:prstGeom xmlns:a="http://schemas.openxmlformats.org/drawingml/2006/main" prst="straightConnector1">
            <a:avLst/>
          </a:prstGeom>
          <a:ln xmlns:a="http://schemas.openxmlformats.org/drawingml/2006/main" w="28575">
            <a:solidFill>
              <a:srgbClr val="8C9FB8"/>
            </a:solidFill>
            <a:tailEnd type="triangle" w="med" len="sm"/>
          </a:ln>
        </p:spPr>
      </p:cxnSp>
      <p:cxnSp>
        <p:nvCxnSpPr>
          <p:cNvPr id="98" name=""/>
          <p:cNvCxnSpPr>
            <a:stCxn xmlns:a="http://schemas.openxmlformats.org/drawingml/2006/main" id="43" idx="0"/>
            <a:endCxn xmlns:a="http://schemas.openxmlformats.org/drawingml/2006/main" id="24" idx="2"/>
          </p:cNvCxnSpPr>
          <p:nvPr/>
        </p:nvCxnSpPr>
        <p:spPr>
          <a:xfrm xmlns:a="http://schemas.openxmlformats.org/drawingml/2006/main" flipV="1">
            <a:off x="10496550" y="6076950"/>
            <a:ext cx="0" cy="304800"/>
          </a:xfrm>
          <a:prstGeom xmlns:a="http://schemas.openxmlformats.org/drawingml/2006/main" prst="straightConnector1">
            <a:avLst/>
          </a:prstGeom>
          <a:ln xmlns:a="http://schemas.openxmlformats.org/drawingml/2006/main" w="28575">
            <a:solidFill>
              <a:srgbClr val="8C9FB8"/>
            </a:solidFill>
            <a:tailEnd type="triangle" w="med" len="sm"/>
          </a:ln>
        </p:spPr>
      </p:cxnSp>
      <p:sp>
        <p:nvSpPr>
          <p:cNvPr id="48" name="original-access">
            <a:extLst xmlns:a="http://schemas.openxmlformats.org/drawingml/2006/main">
              <a:ext uri="{FF2B5EF4-FFF2-40B4-BE49-F238E27FC236}">
                <a16:creationId xmlns:a16="http://schemas.microsoft.com/office/drawing/2014/main" id="{BBB3A613-8FE1-4009-A3B0-A2BB4B28FDD9}"/>
              </a:ext>
            </a:extLst>
          </p:cNvPr>
          <p:cNvSpPr>
            <a:spLocks xmlns:a="http://schemas.openxmlformats.org/drawingml/2006/main" noGrp="1"/>
          </p:cNvSpPr>
          <p:nvPr/>
        </p:nvSpPr>
        <p:spPr>
          <a:xfrm xmlns:a="http://schemas.openxmlformats.org/drawingml/2006/main">
            <a:off x="12039600" y="6419850"/>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3657C"/>
                </a:solidFill>
                <a:latin typeface="Helvetica Neue"/>
                <a:ea typeface="Helvetica Neue"/>
                <a:cs typeface="Helvetica Neue"/>
              </a:defRPr>
            </a:pPr>
            <a:r>
              <a:rPr sz="1875" b="0">
                <a:solidFill>
                  <a:srgbClr val="53657C"/>
                </a:solidFill>
                <a:latin typeface="Helvetica Neue"/>
                <a:ea typeface="Helvetica Neue"/>
                <a:cs typeface="Helvetica Neue"/>
              </a:rPr>
              <a:t>Complete originals and</a:t>
            </a:r>
          </a:p>
          <a:p xmlns:a="http://schemas.openxmlformats.org/drawingml/2006/main">
            <a:pPr algn="l">
              <a:defRPr sz="1875" b="0">
                <a:solidFill>
                  <a:srgbClr val="53657C"/>
                </a:solidFill>
                <a:latin typeface="Helvetica Neue"/>
                <a:ea typeface="Helvetica Neue"/>
                <a:cs typeface="Helvetica Neue"/>
              </a:defRPr>
            </a:pPr>
            <a:r>
              <a:rPr sz="1875" b="0">
                <a:solidFill>
                  <a:srgbClr val="53657C"/>
                </a:solidFill>
                <a:latin typeface="Helvetica Neue"/>
                <a:ea typeface="Helvetica Neue"/>
                <a:cs typeface="Helvetica Neue"/>
              </a:rPr>
              <a:t>full extraction stay available.</a:t>
            </a:r>
          </a:p>
        </p:txBody>
      </p:sp>
      <p:sp>
        <p:nvSpPr>
          <p:cNvPr id="49" name="architecture-output">
            <a:extLst xmlns:a="http://schemas.openxmlformats.org/drawingml/2006/main">
              <a:ext uri="{FF2B5EF4-FFF2-40B4-BE49-F238E27FC236}">
                <a16:creationId xmlns:a16="http://schemas.microsoft.com/office/drawing/2014/main" id="{5BDDDBD6-676C-459B-93F1-91B88E120580}"/>
              </a:ext>
            </a:extLst>
          </p:cNvPr>
          <p:cNvSpPr>
            <a:spLocks xmlns:a="http://schemas.openxmlformats.org/drawingml/2006/main" noGrp="1"/>
          </p:cNvSpPr>
          <p:nvPr/>
        </p:nvSpPr>
        <p:spPr>
          <a:xfrm xmlns:a="http://schemas.openxmlformats.org/drawingml/2006/main">
            <a:off x="533400" y="7400925"/>
            <a:ext cx="14173200" cy="857250"/>
          </a:xfrm>
          <a:prstGeom xmlns:a="http://schemas.openxmlformats.org/drawingml/2006/main" prst="roundRect">
            <a:avLst>
              <a:gd name="adj" fmla="val 13333"/>
            </a:avLst>
          </a:prstGeom>
          <a:solidFill xmlns:a="http://schemas.openxmlformats.org/drawingml/2006/main">
            <a:srgbClr val="E0F0EF"/>
          </a:solidFill>
          <a:ln xmlns:a="http://schemas.openxmlformats.org/drawingml/2006/main" w="0">
            <a:noFill/>
          </a:ln>
        </p:spPr>
      </p:sp>
      <p:sp>
        <p:nvSpPr>
          <p:cNvPr id="50" name="output-label">
            <a:extLst xmlns:a="http://schemas.openxmlformats.org/drawingml/2006/main">
              <a:ext uri="{FF2B5EF4-FFF2-40B4-BE49-F238E27FC236}">
                <a16:creationId xmlns:a16="http://schemas.microsoft.com/office/drawing/2014/main" id="{F2F3B7AF-02EB-48DB-A086-A5601DA1A2F8}"/>
              </a:ext>
            </a:extLst>
          </p:cNvPr>
          <p:cNvSpPr>
            <a:spLocks xmlns:a="http://schemas.openxmlformats.org/drawingml/2006/main" noGrp="1"/>
          </p:cNvSpPr>
          <p:nvPr/>
        </p:nvSpPr>
        <p:spPr>
          <a:xfrm xmlns:a="http://schemas.openxmlformats.org/drawingml/2006/main">
            <a:off x="762000" y="7600950"/>
            <a:ext cx="2419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A79"/>
                </a:solidFill>
                <a:latin typeface="Helvetica Neue"/>
                <a:ea typeface="Helvetica Neue"/>
                <a:cs typeface="Helvetica Neue"/>
              </a:defRPr>
            </a:pPr>
            <a:r>
              <a:rPr sz="1875" b="1">
                <a:solidFill>
                  <a:srgbClr val="087A79"/>
                </a:solidFill>
                <a:latin typeface="Helvetica Neue"/>
                <a:ea typeface="Helvetica Neue"/>
                <a:cs typeface="Helvetica Neue"/>
              </a:rPr>
              <a:t>WHAT COMES OUT</a:t>
            </a:r>
          </a:p>
        </p:txBody>
      </p:sp>
      <p:sp>
        <p:nvSpPr>
          <p:cNvPr id="51" name="output-details">
            <a:extLst xmlns:a="http://schemas.openxmlformats.org/drawingml/2006/main">
              <a:ext uri="{FF2B5EF4-FFF2-40B4-BE49-F238E27FC236}">
                <a16:creationId xmlns:a16="http://schemas.microsoft.com/office/drawing/2014/main" id="{C82299A0-E3C2-43FA-99A8-8C36213BE00C}"/>
              </a:ext>
            </a:extLst>
          </p:cNvPr>
          <p:cNvSpPr>
            <a:spLocks xmlns:a="http://schemas.openxmlformats.org/drawingml/2006/main" noGrp="1"/>
          </p:cNvSpPr>
          <p:nvPr/>
        </p:nvSpPr>
        <p:spPr>
          <a:xfrm xmlns:a="http://schemas.openxmlformats.org/drawingml/2006/main">
            <a:off x="3276600" y="7562850"/>
            <a:ext cx="111633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Factual brief, source links, uncertainties, reviewed related cases and complete originals.</a:t>
            </a:r>
          </a:p>
          <a:p xmlns:a="http://schemas.openxmlformats.org/drawingml/2006/main">
            <a:pPr algn="l">
              <a:defRPr sz="1875" b="0">
                <a:solidFill>
                  <a:srgbClr val="152E49"/>
                </a:solidFill>
                <a:latin typeface="Helvetica Neue"/>
                <a:ea typeface="Helvetica Neue"/>
                <a:cs typeface="Helvetica Neue"/>
              </a:defRPr>
            </a:pPr>
            <a:r>
              <a:rPr sz="1875" b="0">
                <a:solidFill>
                  <a:srgbClr val="152E49"/>
                </a:solidFill>
                <a:latin typeface="Helvetica Neue"/>
                <a:ea typeface="Helvetica Neue"/>
                <a:cs typeface="Helvetica Neue"/>
              </a:rPr>
              <a:t>People use the case page; authorised tools consume the same saved data through the JSON API.</a:t>
            </a:r>
          </a:p>
        </p:txBody>
      </p:sp>
    </p:spTree>
    <p:extLst>
      <p:ext uri="{BB962C8B-B14F-4D97-AF65-F5344CB8AC3E}">
        <p14:creationId xmlns:p14="http://schemas.microsoft.com/office/powerpoint/2010/main" val="1607286213"/>
      </p:ext>
    </p:extLst>
  </p:cSld>
</p:sld>
</file>

<file path=ppt/slides/slide3.xml><?xml version="1.0" encoding="utf-8"?>
<p:sld xmlns:p="http://schemas.openxmlformats.org/presentationml/2006/main">
  <p:cSld>
    <p:bg>
      <p:bgPr>
        <a:solidFill xmlns:a="http://schemas.openxmlformats.org/drawingml/2006/main">
          <a:srgbClr val="F3F5FA"/>
        </a:solidFill>
      </p:bgPr>
    </p:bg>
    <p:spTree>
      <p:nvGrpSpPr>
        <p:cNvPr id="1" name=""/>
        <p:cNvGrpSpPr/>
        <p:nvPr/>
      </p:nvGrpSpPr>
      <p:grpSpPr>
        <a:xfrm xmlns:a="http://schemas.openxmlformats.org/drawingml/2006/main"/>
      </p:grpSpPr>
      <p:sp>
        <p:nvSpPr>
          <p:cNvPr id="33" name="slide-title">
            <a:extLst xmlns:a="http://schemas.openxmlformats.org/drawingml/2006/main">
              <a:ext uri="{FF2B5EF4-FFF2-40B4-BE49-F238E27FC236}">
                <a16:creationId xmlns:a16="http://schemas.microsoft.com/office/drawing/2014/main" id="{22950088-4D34-471F-81D9-FCF6191C06AF}"/>
              </a:ext>
            </a:extLst>
          </p:cNvPr>
          <p:cNvSpPr>
            <a:spLocks xmlns:a="http://schemas.openxmlformats.org/drawingml/2006/main" noGrp="1"/>
          </p:cNvSpPr>
          <p:nvPr/>
        </p:nvSpPr>
        <p:spPr>
          <a:xfrm xmlns:a="http://schemas.openxmlformats.org/drawingml/2006/main">
            <a:off x="533400" y="381000"/>
            <a:ext cx="1417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52E49"/>
                </a:solidFill>
                <a:latin typeface="Helvetica Neue"/>
                <a:ea typeface="Helvetica Neue"/>
                <a:cs typeface="Helvetica Neue"/>
              </a:defRPr>
            </a:pPr>
            <a:r>
              <a:rPr sz="4050" b="1">
                <a:solidFill>
                  <a:srgbClr val="152E49"/>
                </a:solidFill>
                <a:latin typeface="Helvetica Neue"/>
                <a:ea typeface="Helvetica Neue"/>
                <a:cs typeface="Helvetica Neue"/>
              </a:rPr>
              <a:t>Future direction: reusable core, client-specific Joule</a:t>
            </a:r>
          </a:p>
        </p:txBody>
      </p:sp>
      <p:sp>
        <p:nvSpPr>
          <p:cNvPr id="2" name="subtitle">
            <a:extLst xmlns:a="http://schemas.openxmlformats.org/drawingml/2006/main">
              <a:ext uri="{FF2B5EF4-FFF2-40B4-BE49-F238E27FC236}">
                <a16:creationId xmlns:a16="http://schemas.microsoft.com/office/drawing/2014/main" id="{861D3741-57AB-40AE-B8F1-0CD2CD72F60A}"/>
              </a:ext>
            </a:extLst>
          </p:cNvPr>
          <p:cNvSpPr>
            <a:spLocks xmlns:a="http://schemas.openxmlformats.org/drawingml/2006/main" noGrp="1"/>
          </p:cNvSpPr>
          <p:nvPr/>
        </p:nvSpPr>
        <p:spPr>
          <a:xfrm xmlns:a="http://schemas.openxmlformats.org/drawingml/2006/main">
            <a:off x="533400" y="1152525"/>
            <a:ext cx="1417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3657C"/>
                </a:solidFill>
                <a:latin typeface="Helvetica Neue"/>
                <a:ea typeface="Helvetica Neue"/>
                <a:cs typeface="Helvetica Neue"/>
              </a:defRPr>
            </a:pPr>
            <a:r>
              <a:rPr sz="2100" b="0">
                <a:solidFill>
                  <a:srgbClr val="53657C"/>
                </a:solidFill>
                <a:latin typeface="Helvetica Neue"/>
                <a:ea typeface="Helvetica Neue"/>
                <a:cs typeface="Helvetica Neue"/>
              </a:rPr>
              <a:t>A shared app and API supply case evidence for each customer’s SAP workflows</a:t>
            </a:r>
          </a:p>
        </p:txBody>
      </p:sp>
      <p:sp>
        <p:nvSpPr>
          <p:cNvPr id="3" name="reusable-core">
            <a:extLst xmlns:a="http://schemas.openxmlformats.org/drawingml/2006/main">
              <a:ext uri="{FF2B5EF4-FFF2-40B4-BE49-F238E27FC236}">
                <a16:creationId xmlns:a16="http://schemas.microsoft.com/office/drawing/2014/main" id="{174CED08-0DDB-4AA2-8A86-8C9F99318565}"/>
              </a:ext>
            </a:extLst>
          </p:cNvPr>
          <p:cNvSpPr>
            <a:spLocks xmlns:a="http://schemas.openxmlformats.org/drawingml/2006/main" noGrp="1"/>
          </p:cNvSpPr>
          <p:nvPr/>
        </p:nvSpPr>
        <p:spPr>
          <a:xfrm xmlns:a="http://schemas.openxmlformats.org/drawingml/2006/main">
            <a:off x="533400" y="2038350"/>
            <a:ext cx="4191000" cy="3943350"/>
          </a:xfrm>
          <a:prstGeom xmlns:a="http://schemas.openxmlformats.org/drawingml/2006/main" prst="roundRect">
            <a:avLst>
              <a:gd name="adj" fmla="val 2899"/>
            </a:avLst>
          </a:prstGeom>
          <a:solidFill xmlns:a="http://schemas.openxmlformats.org/drawingml/2006/main">
            <a:srgbClr val="152E49"/>
          </a:solidFill>
          <a:ln xmlns:a="http://schemas.openxmlformats.org/drawingml/2006/main" w="0">
            <a:noFill/>
          </a:ln>
        </p:spPr>
      </p:sp>
      <p:sp>
        <p:nvSpPr>
          <p:cNvPr id="4" name="reusable-core-label">
            <a:extLst xmlns:a="http://schemas.openxmlformats.org/drawingml/2006/main">
              <a:ext uri="{FF2B5EF4-FFF2-40B4-BE49-F238E27FC236}">
                <a16:creationId xmlns:a16="http://schemas.microsoft.com/office/drawing/2014/main" id="{197A43F3-C18B-49BB-814B-F011B012C15D}"/>
              </a:ext>
            </a:extLst>
          </p:cNvPr>
          <p:cNvSpPr>
            <a:spLocks xmlns:a="http://schemas.openxmlformats.org/drawingml/2006/main" noGrp="1"/>
          </p:cNvSpPr>
          <p:nvPr/>
        </p:nvSpPr>
        <p:spPr>
          <a:xfrm xmlns:a="http://schemas.openxmlformats.org/drawingml/2006/main">
            <a:off x="781050" y="2257425"/>
            <a:ext cx="3695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B3E7E0"/>
                </a:solidFill>
                <a:latin typeface="Helvetica Neue"/>
                <a:ea typeface="Helvetica Neue"/>
                <a:cs typeface="Helvetica Neue"/>
              </a:defRPr>
            </a:pPr>
            <a:r>
              <a:rPr sz="1725" b="1">
                <a:solidFill>
                  <a:srgbClr val="B3E7E0"/>
                </a:solidFill>
                <a:latin typeface="Helvetica Neue"/>
                <a:ea typeface="Helvetica Neue"/>
                <a:cs typeface="Helvetica Neue"/>
              </a:rPr>
              <a:t>REUSABLE CORE</a:t>
            </a:r>
          </a:p>
        </p:txBody>
      </p:sp>
      <p:sp>
        <p:nvSpPr>
          <p:cNvPr id="5" name="reusable-core-title">
            <a:extLst xmlns:a="http://schemas.openxmlformats.org/drawingml/2006/main">
              <a:ext uri="{FF2B5EF4-FFF2-40B4-BE49-F238E27FC236}">
                <a16:creationId xmlns:a16="http://schemas.microsoft.com/office/drawing/2014/main" id="{87209595-387F-440D-81B5-D45190E06870}"/>
              </a:ext>
            </a:extLst>
          </p:cNvPr>
          <p:cNvSpPr>
            <a:spLocks xmlns:a="http://schemas.openxmlformats.org/drawingml/2006/main" noGrp="1"/>
          </p:cNvSpPr>
          <p:nvPr/>
        </p:nvSpPr>
        <p:spPr>
          <a:xfrm xmlns:a="http://schemas.openxmlformats.org/drawingml/2006/main">
            <a:off x="781050" y="2714625"/>
            <a:ext cx="36957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CFIN case platform</a:t>
            </a:r>
          </a:p>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and read API</a:t>
            </a:r>
          </a:p>
        </p:txBody>
      </p:sp>
      <p:sp>
        <p:nvSpPr>
          <p:cNvPr id="6" name="core-feature-0">
            <a:extLst xmlns:a="http://schemas.openxmlformats.org/drawingml/2006/main">
              <a:ext uri="{FF2B5EF4-FFF2-40B4-BE49-F238E27FC236}">
                <a16:creationId xmlns:a16="http://schemas.microsoft.com/office/drawing/2014/main" id="{E0ED18A1-0C87-4038-B632-46CE8D64B63A}"/>
              </a:ext>
            </a:extLst>
          </p:cNvPr>
          <p:cNvSpPr>
            <a:spLocks xmlns:a="http://schemas.openxmlformats.org/drawingml/2006/main" noGrp="1"/>
          </p:cNvSpPr>
          <p:nvPr/>
        </p:nvSpPr>
        <p:spPr>
          <a:xfrm xmlns:a="http://schemas.openxmlformats.org/drawingml/2006/main">
            <a:off x="781050" y="3905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Case briefs and source links</a:t>
            </a:r>
          </a:p>
        </p:txBody>
      </p:sp>
      <p:sp>
        <p:nvSpPr>
          <p:cNvPr id="7" name="core-feature-1">
            <a:extLst xmlns:a="http://schemas.openxmlformats.org/drawingml/2006/main">
              <a:ext uri="{FF2B5EF4-FFF2-40B4-BE49-F238E27FC236}">
                <a16:creationId xmlns:a16="http://schemas.microsoft.com/office/drawing/2014/main" id="{2C686F4B-B15D-46E4-A9B6-85D37837CD38}"/>
              </a:ext>
            </a:extLst>
          </p:cNvPr>
          <p:cNvSpPr>
            <a:spLocks xmlns:a="http://schemas.openxmlformats.org/drawingml/2006/main" noGrp="1"/>
          </p:cNvSpPr>
          <p:nvPr/>
        </p:nvSpPr>
        <p:spPr>
          <a:xfrm xmlns:a="http://schemas.openxmlformats.org/drawingml/2006/main">
            <a:off x="781050" y="4286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Originals and full extraction</a:t>
            </a:r>
          </a:p>
        </p:txBody>
      </p:sp>
      <p:sp>
        <p:nvSpPr>
          <p:cNvPr id="8" name="core-feature-2">
            <a:extLst xmlns:a="http://schemas.openxmlformats.org/drawingml/2006/main">
              <a:ext uri="{FF2B5EF4-FFF2-40B4-BE49-F238E27FC236}">
                <a16:creationId xmlns:a16="http://schemas.microsoft.com/office/drawing/2014/main" id="{FDB61968-ECF9-4B25-93CB-6CDFB26D5BDE}"/>
              </a:ext>
            </a:extLst>
          </p:cNvPr>
          <p:cNvSpPr>
            <a:spLocks xmlns:a="http://schemas.openxmlformats.org/drawingml/2006/main" noGrp="1"/>
          </p:cNvSpPr>
          <p:nvPr/>
        </p:nvSpPr>
        <p:spPr>
          <a:xfrm xmlns:a="http://schemas.openxmlformats.org/drawingml/2006/main">
            <a:off x="781050" y="4667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Uncertainty and case state</a:t>
            </a:r>
          </a:p>
        </p:txBody>
      </p:sp>
      <p:sp>
        <p:nvSpPr>
          <p:cNvPr id="9" name="core-feature-3">
            <a:extLst xmlns:a="http://schemas.openxmlformats.org/drawingml/2006/main">
              <a:ext uri="{FF2B5EF4-FFF2-40B4-BE49-F238E27FC236}">
                <a16:creationId xmlns:a16="http://schemas.microsoft.com/office/drawing/2014/main" id="{058E183E-05DE-49F8-94E9-34B0831F3C48}"/>
              </a:ext>
            </a:extLst>
          </p:cNvPr>
          <p:cNvSpPr>
            <a:spLocks xmlns:a="http://schemas.openxmlformats.org/drawingml/2006/main" noGrp="1"/>
          </p:cNvSpPr>
          <p:nvPr/>
        </p:nvSpPr>
        <p:spPr>
          <a:xfrm xmlns:a="http://schemas.openxmlformats.org/drawingml/2006/main">
            <a:off x="781050" y="5048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Reviewed historical references</a:t>
            </a:r>
          </a:p>
        </p:txBody>
      </p:sp>
      <p:sp>
        <p:nvSpPr>
          <p:cNvPr id="10" name="core-feature-4">
            <a:extLst xmlns:a="http://schemas.openxmlformats.org/drawingml/2006/main">
              <a:ext uri="{FF2B5EF4-FFF2-40B4-BE49-F238E27FC236}">
                <a16:creationId xmlns:a16="http://schemas.microsoft.com/office/drawing/2014/main" id="{F7E0102A-B853-4F6E-A012-9CBECD3B26C7}"/>
              </a:ext>
            </a:extLst>
          </p:cNvPr>
          <p:cNvSpPr>
            <a:spLocks xmlns:a="http://schemas.openxmlformats.org/drawingml/2006/main" noGrp="1"/>
          </p:cNvSpPr>
          <p:nvPr/>
        </p:nvSpPr>
        <p:spPr>
          <a:xfrm xmlns:a="http://schemas.openxmlformats.org/drawingml/2006/main">
            <a:off x="781050" y="5429250"/>
            <a:ext cx="3695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E7F0F8"/>
                </a:solidFill>
                <a:latin typeface="Helvetica Neue"/>
                <a:ea typeface="Helvetica Neue"/>
                <a:cs typeface="Helvetica Neue"/>
              </a:defRPr>
            </a:pPr>
            <a:r>
              <a:rPr sz="1950" b="0">
                <a:solidFill>
                  <a:srgbClr val="E7F0F8"/>
                </a:solidFill>
                <a:latin typeface="Helvetica Neue"/>
                <a:ea typeface="Helvetica Neue"/>
                <a:cs typeface="Helvetica Neue"/>
              </a:rPr>
              <a:t>Human records and audit</a:t>
            </a:r>
          </a:p>
        </p:txBody>
      </p:sp>
      <p:sp>
        <p:nvSpPr>
          <p:cNvPr id="11" name="client-joule">
            <a:extLst xmlns:a="http://schemas.openxmlformats.org/drawingml/2006/main">
              <a:ext uri="{FF2B5EF4-FFF2-40B4-BE49-F238E27FC236}">
                <a16:creationId xmlns:a16="http://schemas.microsoft.com/office/drawing/2014/main" id="{E19ADAC2-3B84-4BFF-805B-FCB239F97EBA}"/>
              </a:ext>
            </a:extLst>
          </p:cNvPr>
          <p:cNvSpPr>
            <a:spLocks xmlns:a="http://schemas.openxmlformats.org/drawingml/2006/main" noGrp="1"/>
          </p:cNvSpPr>
          <p:nvPr/>
        </p:nvSpPr>
        <p:spPr>
          <a:xfrm xmlns:a="http://schemas.openxmlformats.org/drawingml/2006/main">
            <a:off x="5353050" y="2038350"/>
            <a:ext cx="4362450" cy="3943350"/>
          </a:xfrm>
          <a:prstGeom xmlns:a="http://schemas.openxmlformats.org/drawingml/2006/main" prst="roundRect">
            <a:avLst>
              <a:gd name="adj" fmla="val 2899"/>
            </a:avLst>
          </a:prstGeom>
          <a:solidFill xmlns:a="http://schemas.openxmlformats.org/drawingml/2006/main">
            <a:srgbClr val="EEE8F9"/>
          </a:solidFill>
          <a:ln xmlns:a="http://schemas.openxmlformats.org/drawingml/2006/main" w="0">
            <a:noFill/>
          </a:ln>
        </p:spPr>
      </p:sp>
      <p:sp>
        <p:nvSpPr>
          <p:cNvPr id="12" name="client-joule-label">
            <a:extLst xmlns:a="http://schemas.openxmlformats.org/drawingml/2006/main">
              <a:ext uri="{FF2B5EF4-FFF2-40B4-BE49-F238E27FC236}">
                <a16:creationId xmlns:a16="http://schemas.microsoft.com/office/drawing/2014/main" id="{064AD16A-98CD-4BF2-AA06-87EFD134C5E8}"/>
              </a:ext>
            </a:extLst>
          </p:cNvPr>
          <p:cNvSpPr>
            <a:spLocks xmlns:a="http://schemas.openxmlformats.org/drawingml/2006/main" noGrp="1"/>
          </p:cNvSpPr>
          <p:nvPr/>
        </p:nvSpPr>
        <p:spPr>
          <a:xfrm xmlns:a="http://schemas.openxmlformats.org/drawingml/2006/main">
            <a:off x="5619750" y="2257425"/>
            <a:ext cx="3829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644E94"/>
                </a:solidFill>
                <a:latin typeface="Helvetica Neue"/>
                <a:ea typeface="Helvetica Neue"/>
                <a:cs typeface="Helvetica Neue"/>
              </a:defRPr>
            </a:pPr>
            <a:r>
              <a:rPr sz="1725" b="1">
                <a:solidFill>
                  <a:srgbClr val="644E94"/>
                </a:solidFill>
                <a:latin typeface="Helvetica Neue"/>
                <a:ea typeface="Helvetica Neue"/>
                <a:cs typeface="Helvetica Neue"/>
              </a:rPr>
              <a:t>CUSTOMER CONFIGURATION</a:t>
            </a:r>
          </a:p>
        </p:txBody>
      </p:sp>
      <p:sp>
        <p:nvSpPr>
          <p:cNvPr id="13" name="client-joule-title">
            <a:extLst xmlns:a="http://schemas.openxmlformats.org/drawingml/2006/main">
              <a:ext uri="{FF2B5EF4-FFF2-40B4-BE49-F238E27FC236}">
                <a16:creationId xmlns:a16="http://schemas.microsoft.com/office/drawing/2014/main" id="{0596C1D7-BA2F-47E3-970A-6A335A63DD6E}"/>
              </a:ext>
            </a:extLst>
          </p:cNvPr>
          <p:cNvSpPr>
            <a:spLocks xmlns:a="http://schemas.openxmlformats.org/drawingml/2006/main" noGrp="1"/>
          </p:cNvSpPr>
          <p:nvPr/>
        </p:nvSpPr>
        <p:spPr>
          <a:xfrm xmlns:a="http://schemas.openxmlformats.org/drawingml/2006/main">
            <a:off x="5619750" y="2752725"/>
            <a:ext cx="38290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52E49"/>
                </a:solidFill>
                <a:latin typeface="Helvetica Neue"/>
                <a:ea typeface="Helvetica Neue"/>
                <a:cs typeface="Helvetica Neue"/>
              </a:defRPr>
            </a:pPr>
            <a:r>
              <a:rPr sz="2850" b="1">
                <a:solidFill>
                  <a:srgbClr val="152E49"/>
                </a:solidFill>
                <a:latin typeface="Helvetica Neue"/>
                <a:ea typeface="Helvetica Neue"/>
                <a:cs typeface="Helvetica Neue"/>
              </a:rPr>
              <a:t>Joule agents</a:t>
            </a:r>
          </a:p>
        </p:txBody>
      </p:sp>
      <p:sp>
        <p:nvSpPr>
          <p:cNvPr id="14" name="joule-feature-0">
            <a:extLst xmlns:a="http://schemas.openxmlformats.org/drawingml/2006/main">
              <a:ext uri="{FF2B5EF4-FFF2-40B4-BE49-F238E27FC236}">
                <a16:creationId xmlns:a16="http://schemas.microsoft.com/office/drawing/2014/main" id="{074AF8BA-A295-4FE2-90BE-D00ACCCC473E}"/>
              </a:ext>
            </a:extLst>
          </p:cNvPr>
          <p:cNvSpPr>
            <a:spLocks xmlns:a="http://schemas.openxmlformats.org/drawingml/2006/main" noGrp="1"/>
          </p:cNvSpPr>
          <p:nvPr/>
        </p:nvSpPr>
        <p:spPr>
          <a:xfrm xmlns:a="http://schemas.openxmlformats.org/drawingml/2006/main">
            <a:off x="5619750" y="353377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Retrieve case context via API</a:t>
            </a:r>
          </a:p>
        </p:txBody>
      </p:sp>
      <p:sp>
        <p:nvSpPr>
          <p:cNvPr id="15" name="joule-feature-1">
            <a:extLst xmlns:a="http://schemas.openxmlformats.org/drawingml/2006/main">
              <a:ext uri="{FF2B5EF4-FFF2-40B4-BE49-F238E27FC236}">
                <a16:creationId xmlns:a16="http://schemas.microsoft.com/office/drawing/2014/main" id="{B46B10EC-9761-421F-B082-99CC80D9982A}"/>
              </a:ext>
            </a:extLst>
          </p:cNvPr>
          <p:cNvSpPr>
            <a:spLocks xmlns:a="http://schemas.openxmlformats.org/drawingml/2006/main" noGrp="1"/>
          </p:cNvSpPr>
          <p:nvPr/>
        </p:nvSpPr>
        <p:spPr>
          <a:xfrm xmlns:a="http://schemas.openxmlformats.org/drawingml/2006/main">
            <a:off x="5619750" y="397192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Check current SAP state</a:t>
            </a:r>
          </a:p>
        </p:txBody>
      </p:sp>
      <p:sp>
        <p:nvSpPr>
          <p:cNvPr id="16" name="joule-feature-2">
            <a:extLst xmlns:a="http://schemas.openxmlformats.org/drawingml/2006/main">
              <a:ext uri="{FF2B5EF4-FFF2-40B4-BE49-F238E27FC236}">
                <a16:creationId xmlns:a16="http://schemas.microsoft.com/office/drawing/2014/main" id="{A57E5675-DC9D-4D51-8AB0-8D50F5D00057}"/>
              </a:ext>
            </a:extLst>
          </p:cNvPr>
          <p:cNvSpPr>
            <a:spLocks xmlns:a="http://schemas.openxmlformats.org/drawingml/2006/main" noGrp="1"/>
          </p:cNvSpPr>
          <p:nvPr/>
        </p:nvSpPr>
        <p:spPr>
          <a:xfrm xmlns:a="http://schemas.openxmlformats.org/drawingml/2006/main">
            <a:off x="5619750" y="441007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Apply customer business rules</a:t>
            </a:r>
          </a:p>
        </p:txBody>
      </p:sp>
      <p:sp>
        <p:nvSpPr>
          <p:cNvPr id="17" name="joule-feature-3">
            <a:extLst xmlns:a="http://schemas.openxmlformats.org/drawingml/2006/main">
              <a:ext uri="{FF2B5EF4-FFF2-40B4-BE49-F238E27FC236}">
                <a16:creationId xmlns:a16="http://schemas.microsoft.com/office/drawing/2014/main" id="{B212854B-965A-4830-AA31-5E873F0D7B42}"/>
              </a:ext>
            </a:extLst>
          </p:cNvPr>
          <p:cNvSpPr>
            <a:spLocks xmlns:a="http://schemas.openxmlformats.org/drawingml/2006/main" noGrp="1"/>
          </p:cNvSpPr>
          <p:nvPr/>
        </p:nvSpPr>
        <p:spPr>
          <a:xfrm xmlns:a="http://schemas.openxmlformats.org/drawingml/2006/main">
            <a:off x="5619750" y="484822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Use permitted SAP tools</a:t>
            </a:r>
          </a:p>
        </p:txBody>
      </p:sp>
      <p:sp>
        <p:nvSpPr>
          <p:cNvPr id="18" name="joule-feature-4">
            <a:extLst xmlns:a="http://schemas.openxmlformats.org/drawingml/2006/main">
              <a:ext uri="{FF2B5EF4-FFF2-40B4-BE49-F238E27FC236}">
                <a16:creationId xmlns:a16="http://schemas.microsoft.com/office/drawing/2014/main" id="{FE077412-216E-439A-85F3-56A7A5ABC2AC}"/>
              </a:ext>
            </a:extLst>
          </p:cNvPr>
          <p:cNvSpPr>
            <a:spLocks xmlns:a="http://schemas.openxmlformats.org/drawingml/2006/main" noGrp="1"/>
          </p:cNvSpPr>
          <p:nvPr/>
        </p:nvSpPr>
        <p:spPr>
          <a:xfrm xmlns:a="http://schemas.openxmlformats.org/drawingml/2006/main">
            <a:off x="5619750" y="5286375"/>
            <a:ext cx="38290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Escalate for human approval</a:t>
            </a:r>
          </a:p>
        </p:txBody>
      </p:sp>
      <p:cxnSp>
        <p:nvCxnSpPr>
          <p:cNvPr id="51" name=""/>
          <p:cNvCxnSpPr>
            <a:stCxn xmlns:a="http://schemas.openxmlformats.org/drawingml/2006/main" id="3" idx="3"/>
            <a:endCxn xmlns:a="http://schemas.openxmlformats.org/drawingml/2006/main" id="11" idx="1"/>
          </p:cNvCxnSpPr>
          <p:nvPr/>
        </p:nvCxnSpPr>
        <p:spPr>
          <a:xfrm xmlns:a="http://schemas.openxmlformats.org/drawingml/2006/main">
            <a:off x="4724400" y="4010025"/>
            <a:ext cx="628650" cy="0"/>
          </a:xfrm>
          <a:prstGeom xmlns:a="http://schemas.openxmlformats.org/drawingml/2006/main" prst="straightConnector1">
            <a:avLst/>
          </a:prstGeom>
          <a:ln xmlns:a="http://schemas.openxmlformats.org/drawingml/2006/main" w="28575">
            <a:solidFill>
              <a:srgbClr val="8C9FB8"/>
            </a:solidFill>
            <a:headEnd type="triangle" w="med" len="sm"/>
            <a:tailEnd type="triangle" w="med" len="sm"/>
          </a:ln>
        </p:spPr>
      </p:cxnSp>
      <p:sp>
        <p:nvSpPr>
          <p:cNvPr id="20" name="sap-outcome">
            <a:extLst xmlns:a="http://schemas.openxmlformats.org/drawingml/2006/main">
              <a:ext uri="{FF2B5EF4-FFF2-40B4-BE49-F238E27FC236}">
                <a16:creationId xmlns:a16="http://schemas.microsoft.com/office/drawing/2014/main" id="{1C0FD2B2-5BD0-4E20-9292-29A52CA2B43F}"/>
              </a:ext>
            </a:extLst>
          </p:cNvPr>
          <p:cNvSpPr>
            <a:spLocks xmlns:a="http://schemas.openxmlformats.org/drawingml/2006/main" noGrp="1"/>
          </p:cNvSpPr>
          <p:nvPr/>
        </p:nvSpPr>
        <p:spPr>
          <a:xfrm xmlns:a="http://schemas.openxmlformats.org/drawingml/2006/main">
            <a:off x="10344150" y="2038350"/>
            <a:ext cx="4362450" cy="1809750"/>
          </a:xfrm>
          <a:prstGeom xmlns:a="http://schemas.openxmlformats.org/drawingml/2006/main" prst="roundRect">
            <a:avLst>
              <a:gd name="adj" fmla="val 6316"/>
            </a:avLst>
          </a:prstGeom>
          <a:solidFill xmlns:a="http://schemas.openxmlformats.org/drawingml/2006/main">
            <a:srgbClr val="E4ECFA"/>
          </a:solidFill>
          <a:ln xmlns:a="http://schemas.openxmlformats.org/drawingml/2006/main" w="0">
            <a:noFill/>
          </a:ln>
        </p:spPr>
      </p:sp>
      <p:sp>
        <p:nvSpPr>
          <p:cNvPr id="21" name="sap-outcome-title">
            <a:extLst xmlns:a="http://schemas.openxmlformats.org/drawingml/2006/main">
              <a:ext uri="{FF2B5EF4-FFF2-40B4-BE49-F238E27FC236}">
                <a16:creationId xmlns:a16="http://schemas.microsoft.com/office/drawing/2014/main" id="{9DE1C482-3ECC-48E4-94BD-2C7C81D1B81C}"/>
              </a:ext>
            </a:extLst>
          </p:cNvPr>
          <p:cNvSpPr>
            <a:spLocks xmlns:a="http://schemas.openxmlformats.org/drawingml/2006/main" noGrp="1"/>
          </p:cNvSpPr>
          <p:nvPr/>
        </p:nvSpPr>
        <p:spPr>
          <a:xfrm xmlns:a="http://schemas.openxmlformats.org/drawingml/2006/main">
            <a:off x="10610850" y="2276475"/>
            <a:ext cx="382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305B92"/>
                </a:solidFill>
                <a:latin typeface="Helvetica Neue"/>
                <a:ea typeface="Helvetica Neue"/>
                <a:cs typeface="Helvetica Neue"/>
              </a:defRPr>
            </a:pPr>
            <a:r>
              <a:rPr sz="2400" b="1">
                <a:solidFill>
                  <a:srgbClr val="305B92"/>
                </a:solidFill>
                <a:latin typeface="Helvetica Neue"/>
                <a:ea typeface="Helvetica Neue"/>
                <a:cs typeface="Helvetica Neue"/>
              </a:rPr>
              <a:t>Actions inside SAP</a:t>
            </a:r>
          </a:p>
        </p:txBody>
      </p:sp>
      <p:sp>
        <p:nvSpPr>
          <p:cNvPr id="22" name="sap-outcome-description">
            <a:extLst xmlns:a="http://schemas.openxmlformats.org/drawingml/2006/main">
              <a:ext uri="{FF2B5EF4-FFF2-40B4-BE49-F238E27FC236}">
                <a16:creationId xmlns:a16="http://schemas.microsoft.com/office/drawing/2014/main" id="{800463BE-0948-4638-B86D-643E94E00688}"/>
              </a:ext>
            </a:extLst>
          </p:cNvPr>
          <p:cNvSpPr>
            <a:spLocks xmlns:a="http://schemas.openxmlformats.org/drawingml/2006/main" noGrp="1"/>
          </p:cNvSpPr>
          <p:nvPr/>
        </p:nvSpPr>
        <p:spPr>
          <a:xfrm xmlns:a="http://schemas.openxmlformats.org/drawingml/2006/main">
            <a:off x="10610850" y="2857500"/>
            <a:ext cx="3829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Validate current state and execute</a:t>
            </a:r>
          </a:p>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permitted steps with audit evidence.</a:t>
            </a:r>
          </a:p>
        </p:txBody>
      </p:sp>
      <p:sp>
        <p:nvSpPr>
          <p:cNvPr id="23" name="human-outcome">
            <a:extLst xmlns:a="http://schemas.openxmlformats.org/drawingml/2006/main">
              <a:ext uri="{FF2B5EF4-FFF2-40B4-BE49-F238E27FC236}">
                <a16:creationId xmlns:a16="http://schemas.microsoft.com/office/drawing/2014/main" id="{C4AF48FF-8E1A-4122-909C-B9340CAA372E}"/>
              </a:ext>
            </a:extLst>
          </p:cNvPr>
          <p:cNvSpPr>
            <a:spLocks xmlns:a="http://schemas.openxmlformats.org/drawingml/2006/main" noGrp="1"/>
          </p:cNvSpPr>
          <p:nvPr/>
        </p:nvSpPr>
        <p:spPr>
          <a:xfrm xmlns:a="http://schemas.openxmlformats.org/drawingml/2006/main">
            <a:off x="10344150" y="4171950"/>
            <a:ext cx="4362450" cy="1809750"/>
          </a:xfrm>
          <a:prstGeom xmlns:a="http://schemas.openxmlformats.org/drawingml/2006/main" prst="roundRect">
            <a:avLst>
              <a:gd name="adj" fmla="val 6316"/>
            </a:avLst>
          </a:prstGeom>
          <a:solidFill xmlns:a="http://schemas.openxmlformats.org/drawingml/2006/main">
            <a:srgbClr val="FFF0DC"/>
          </a:solidFill>
          <a:ln xmlns:a="http://schemas.openxmlformats.org/drawingml/2006/main" w="0">
            <a:noFill/>
          </a:ln>
        </p:spPr>
      </p:sp>
      <p:sp>
        <p:nvSpPr>
          <p:cNvPr id="24" name="human-outcome-title">
            <a:extLst xmlns:a="http://schemas.openxmlformats.org/drawingml/2006/main">
              <a:ext uri="{FF2B5EF4-FFF2-40B4-BE49-F238E27FC236}">
                <a16:creationId xmlns:a16="http://schemas.microsoft.com/office/drawing/2014/main" id="{2F9C6E9B-E4ED-4E59-A0C3-7D87615FDF5D}"/>
              </a:ext>
            </a:extLst>
          </p:cNvPr>
          <p:cNvSpPr>
            <a:spLocks xmlns:a="http://schemas.openxmlformats.org/drawingml/2006/main" noGrp="1"/>
          </p:cNvSpPr>
          <p:nvPr/>
        </p:nvSpPr>
        <p:spPr>
          <a:xfrm xmlns:a="http://schemas.openxmlformats.org/drawingml/2006/main">
            <a:off x="10610850" y="4419600"/>
            <a:ext cx="3829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906525"/>
                </a:solidFill>
                <a:latin typeface="Helvetica Neue"/>
                <a:ea typeface="Helvetica Neue"/>
                <a:cs typeface="Helvetica Neue"/>
              </a:defRPr>
            </a:pPr>
            <a:r>
              <a:rPr sz="2400" b="1">
                <a:solidFill>
                  <a:srgbClr val="906525"/>
                </a:solidFill>
                <a:latin typeface="Helvetica Neue"/>
                <a:ea typeface="Helvetica Neue"/>
                <a:cs typeface="Helvetica Neue"/>
              </a:rPr>
              <a:t>Human workflows</a:t>
            </a:r>
          </a:p>
        </p:txBody>
      </p:sp>
      <p:sp>
        <p:nvSpPr>
          <p:cNvPr id="25" name="human-outcome-description">
            <a:extLst xmlns:a="http://schemas.openxmlformats.org/drawingml/2006/main">
              <a:ext uri="{FF2B5EF4-FFF2-40B4-BE49-F238E27FC236}">
                <a16:creationId xmlns:a16="http://schemas.microsoft.com/office/drawing/2014/main" id="{4B51BC09-FF75-437D-A5BC-4FE5DAFA24B7}"/>
              </a:ext>
            </a:extLst>
          </p:cNvPr>
          <p:cNvSpPr>
            <a:spLocks xmlns:a="http://schemas.openxmlformats.org/drawingml/2006/main" noGrp="1"/>
          </p:cNvSpPr>
          <p:nvPr/>
        </p:nvSpPr>
        <p:spPr>
          <a:xfrm xmlns:a="http://schemas.openxmlformats.org/drawingml/2006/main">
            <a:off x="10610850" y="5010150"/>
            <a:ext cx="3829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Route investigation or approval</a:t>
            </a:r>
          </a:p>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with evidence and ownership.</a:t>
            </a:r>
          </a:p>
        </p:txBody>
      </p:sp>
      <p:cxnSp>
        <p:nvCxnSpPr>
          <p:cNvPr id="58" name=""/>
          <p:cNvCxnSpPr>
            <a:stCxn xmlns:a="http://schemas.openxmlformats.org/drawingml/2006/main" id="11" idx="3"/>
            <a:endCxn xmlns:a="http://schemas.openxmlformats.org/drawingml/2006/main" id="20" idx="1"/>
          </p:cNvCxnSpPr>
          <p:nvPr/>
        </p:nvCxnSpPr>
        <p:spPr>
          <a:xfrm xmlns:a="http://schemas.openxmlformats.org/drawingml/2006/main" flipV="1">
            <a:off x="9715500" y="2943225"/>
            <a:ext cx="628650" cy="1066800"/>
          </a:xfrm>
          <a:prstGeom xmlns:a="http://schemas.openxmlformats.org/drawingml/2006/main" prst="bentConnector3">
            <a:avLst>
              <a:gd name="adj1" fmla="val 50000"/>
            </a:avLst>
          </a:prstGeom>
          <a:ln xmlns:a="http://schemas.openxmlformats.org/drawingml/2006/main" w="28575">
            <a:solidFill>
              <a:srgbClr val="8C9FB8"/>
            </a:solidFill>
            <a:tailEnd type="triangle" w="med" len="sm"/>
          </a:ln>
        </p:spPr>
      </p:cxnSp>
      <p:cxnSp>
        <p:nvCxnSpPr>
          <p:cNvPr id="59" name=""/>
          <p:cNvCxnSpPr>
            <a:stCxn xmlns:a="http://schemas.openxmlformats.org/drawingml/2006/main" id="11" idx="3"/>
            <a:endCxn xmlns:a="http://schemas.openxmlformats.org/drawingml/2006/main" id="23" idx="1"/>
          </p:cNvCxnSpPr>
          <p:nvPr/>
        </p:nvCxnSpPr>
        <p:spPr>
          <a:xfrm xmlns:a="http://schemas.openxmlformats.org/drawingml/2006/main">
            <a:off x="9715500" y="4010025"/>
            <a:ext cx="628650" cy="1066800"/>
          </a:xfrm>
          <a:prstGeom xmlns:a="http://schemas.openxmlformats.org/drawingml/2006/main" prst="bentConnector3">
            <a:avLst>
              <a:gd name="adj1" fmla="val 50000"/>
            </a:avLst>
          </a:prstGeom>
          <a:ln xmlns:a="http://schemas.openxmlformats.org/drawingml/2006/main" w="28575">
            <a:solidFill>
              <a:srgbClr val="8C9FB8"/>
            </a:solidFill>
            <a:tailEnd type="triangle" w="med" len="sm"/>
          </a:ln>
        </p:spPr>
      </p:cxnSp>
      <p:sp>
        <p:nvSpPr>
          <p:cNvPr id="28" name="reuse-configuration-band">
            <a:extLst xmlns:a="http://schemas.openxmlformats.org/drawingml/2006/main">
              <a:ext uri="{FF2B5EF4-FFF2-40B4-BE49-F238E27FC236}">
                <a16:creationId xmlns:a16="http://schemas.microsoft.com/office/drawing/2014/main" id="{6ECB4E9B-7EF1-417B-85AA-F9F09C6418B1}"/>
              </a:ext>
            </a:extLst>
          </p:cNvPr>
          <p:cNvSpPr>
            <a:spLocks xmlns:a="http://schemas.openxmlformats.org/drawingml/2006/main" noGrp="1"/>
          </p:cNvSpPr>
          <p:nvPr/>
        </p:nvSpPr>
        <p:spPr>
          <a:xfrm xmlns:a="http://schemas.openxmlformats.org/drawingml/2006/main">
            <a:off x="533400" y="6334125"/>
            <a:ext cx="14173200" cy="1552575"/>
          </a:xfrm>
          <a:prstGeom xmlns:a="http://schemas.openxmlformats.org/drawingml/2006/main" prst="roundRect">
            <a:avLst>
              <a:gd name="adj" fmla="val 7362"/>
            </a:avLst>
          </a:prstGeom>
          <a:solidFill xmlns:a="http://schemas.openxmlformats.org/drawingml/2006/main">
            <a:srgbClr val="E0F0EF"/>
          </a:solidFill>
          <a:ln xmlns:a="http://schemas.openxmlformats.org/drawingml/2006/main" w="0">
            <a:noFill/>
          </a:ln>
        </p:spPr>
      </p:sp>
      <p:sp>
        <p:nvSpPr>
          <p:cNvPr id="29" name="reuse-config-title">
            <a:extLst xmlns:a="http://schemas.openxmlformats.org/drawingml/2006/main">
              <a:ext uri="{FF2B5EF4-FFF2-40B4-BE49-F238E27FC236}">
                <a16:creationId xmlns:a16="http://schemas.microsoft.com/office/drawing/2014/main" id="{E217C628-9DA3-4298-8F2E-30204D6DCB6F}"/>
              </a:ext>
            </a:extLst>
          </p:cNvPr>
          <p:cNvSpPr>
            <a:spLocks xmlns:a="http://schemas.openxmlformats.org/drawingml/2006/main" noGrp="1"/>
          </p:cNvSpPr>
          <p:nvPr/>
        </p:nvSpPr>
        <p:spPr>
          <a:xfrm xmlns:a="http://schemas.openxmlformats.org/drawingml/2006/main">
            <a:off x="781050" y="6515100"/>
            <a:ext cx="13677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A79"/>
                </a:solidFill>
                <a:latin typeface="Helvetica Neue"/>
                <a:ea typeface="Helvetica Neue"/>
                <a:cs typeface="Helvetica Neue"/>
              </a:defRPr>
            </a:pPr>
            <a:r>
              <a:rPr sz="2175" b="1">
                <a:solidFill>
                  <a:srgbClr val="087A79"/>
                </a:solidFill>
                <a:latin typeface="Helvetica Neue"/>
                <a:ea typeface="Helvetica Neue"/>
                <a:cs typeface="Helvetica Neue"/>
              </a:rPr>
              <a:t>Reuse and client configuration</a:t>
            </a:r>
          </a:p>
        </p:txBody>
      </p:sp>
      <p:sp>
        <p:nvSpPr>
          <p:cNvPr id="30" name="reuse-description">
            <a:extLst xmlns:a="http://schemas.openxmlformats.org/drawingml/2006/main">
              <a:ext uri="{FF2B5EF4-FFF2-40B4-BE49-F238E27FC236}">
                <a16:creationId xmlns:a16="http://schemas.microsoft.com/office/drawing/2014/main" id="{10238DE4-ACD8-4C0D-A2C5-3E8BD55EA7FB}"/>
              </a:ext>
            </a:extLst>
          </p:cNvPr>
          <p:cNvSpPr>
            <a:spLocks xmlns:a="http://schemas.openxmlformats.org/drawingml/2006/main" noGrp="1"/>
          </p:cNvSpPr>
          <p:nvPr/>
        </p:nvSpPr>
        <p:spPr>
          <a:xfrm xmlns:a="http://schemas.openxmlformats.org/drawingml/2006/main">
            <a:off x="781050" y="7058025"/>
            <a:ext cx="6362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Reuse the application, case schema,</a:t>
            </a:r>
          </a:p>
          <a:p xmlns:a="http://schemas.openxmlformats.org/drawingml/2006/main">
            <a:pPr algn="l">
              <a:defRPr sz="2025" b="0">
                <a:solidFill>
                  <a:srgbClr val="152E49"/>
                </a:solidFill>
                <a:latin typeface="Helvetica Neue"/>
                <a:ea typeface="Helvetica Neue"/>
                <a:cs typeface="Helvetica Neue"/>
              </a:defRPr>
            </a:pPr>
            <a:r>
              <a:rPr sz="2025" b="0">
                <a:solidFill>
                  <a:srgbClr val="152E49"/>
                </a:solidFill>
                <a:latin typeface="Helvetica Neue"/>
                <a:ea typeface="Helvetica Neue"/>
                <a:cs typeface="Helvetica Neue"/>
              </a:rPr>
              <a:t>API contract and evaluation framework.</a:t>
            </a:r>
          </a:p>
        </p:txBody>
      </p:sp>
      <p:sp>
        <p:nvSpPr>
          <p:cNvPr id="31" name="configure-description">
            <a:extLst xmlns:a="http://schemas.openxmlformats.org/drawingml/2006/main">
              <a:ext uri="{FF2B5EF4-FFF2-40B4-BE49-F238E27FC236}">
                <a16:creationId xmlns:a16="http://schemas.microsoft.com/office/drawing/2014/main" id="{5BE67E88-2D53-419B-8571-0227A6544BB3}"/>
              </a:ext>
            </a:extLst>
          </p:cNvPr>
          <p:cNvSpPr>
            <a:spLocks xmlns:a="http://schemas.openxmlformats.org/drawingml/2006/main" noGrp="1"/>
          </p:cNvSpPr>
          <p:nvPr/>
        </p:nvSpPr>
        <p:spPr>
          <a:xfrm xmlns:a="http://schemas.openxmlformats.org/drawingml/2006/main">
            <a:off x="7715250" y="7058025"/>
            <a:ext cx="6743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Configure SAP connections, tools, rules and approvals.</a:t>
            </a:r>
          </a:p>
          <a:p xmlns:a="http://schemas.openxmlformats.org/drawingml/2006/main">
            <a:pPr algn="l">
              <a:defRPr sz="1950" b="0">
                <a:solidFill>
                  <a:srgbClr val="152E49"/>
                </a:solidFill>
                <a:latin typeface="Helvetica Neue"/>
                <a:ea typeface="Helvetica Neue"/>
                <a:cs typeface="Helvetica Neue"/>
              </a:defRPr>
            </a:pPr>
            <a:r>
              <a:rPr sz="1950" b="0">
                <a:solidFill>
                  <a:srgbClr val="152E49"/>
                </a:solidFill>
                <a:latin typeface="Helvetica Neue"/>
                <a:ea typeface="Helvetica Neue"/>
                <a:cs typeface="Helvetica Neue"/>
              </a:rPr>
              <a:t>Keep each client’s data and reviewed history separate.</a:t>
            </a:r>
          </a:p>
        </p:txBody>
      </p:sp>
      <p:sp>
        <p:nvSpPr>
          <p:cNvPr id="32" name="future-boundary">
            <a:extLst xmlns:a="http://schemas.openxmlformats.org/drawingml/2006/main">
              <a:ext uri="{FF2B5EF4-FFF2-40B4-BE49-F238E27FC236}">
                <a16:creationId xmlns:a16="http://schemas.microsoft.com/office/drawing/2014/main" id="{EC6E6F33-48FF-4060-BD8D-97E9907AC069}"/>
              </a:ext>
            </a:extLst>
          </p:cNvPr>
          <p:cNvSpPr>
            <a:spLocks xmlns:a="http://schemas.openxmlformats.org/drawingml/2006/main" noGrp="1"/>
          </p:cNvSpPr>
          <p:nvPr/>
        </p:nvSpPr>
        <p:spPr>
          <a:xfrm xmlns:a="http://schemas.openxmlformats.org/drawingml/2006/main">
            <a:off x="533400" y="8096250"/>
            <a:ext cx="14173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3657C"/>
                </a:solidFill>
                <a:latin typeface="Helvetica Neue"/>
                <a:ea typeface="Helvetica Neue"/>
                <a:cs typeface="Helvetica Neue"/>
              </a:defRPr>
            </a:pPr>
            <a:r>
              <a:rPr sz="1725" b="0">
                <a:solidFill>
                  <a:srgbClr val="53657C"/>
                </a:solidFill>
                <a:latin typeface="Helvetica Neue"/>
                <a:ea typeface="Helvetica Neue"/>
                <a:cs typeface="Helvetica Neue"/>
              </a:rPr>
              <a:t>Joule integration and SAP actions are future work. Reading case evidence grants no SAP write authority.</a:t>
            </a:r>
          </a:p>
        </p:txBody>
      </p:sp>
    </p:spTree>
    <p:extLst>
      <p:ext uri="{BB962C8B-B14F-4D97-AF65-F5344CB8AC3E}">
        <p14:creationId xmlns:p14="http://schemas.microsoft.com/office/powerpoint/2010/main" val="1192583760"/>
      </p:ext>
    </p:extLst>
  </p:cSld>
</p:sld>
</file>

<file path=ppt/slides/slide4.xml><?xml version="1.0" encoding="utf-8"?>
<p:sld xmlns:p="http://schemas.openxmlformats.org/presentationml/2006/main">
  <p:cSld>
    <p:bg>
      <p:bgPr>
        <a:solidFill xmlns:a="http://schemas.openxmlformats.org/drawingml/2006/main">
          <a:srgbClr val="F3F5FA"/>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68746F1-43A3-4E0C-8D62-211919159BE2}"/>
              </a:ext>
            </a:extLst>
          </p:cNvPr>
          <p:cNvSpPr>
            <a:spLocks xmlns:a="http://schemas.openxmlformats.org/drawingml/2006/main" noGrp="1"/>
          </p:cNvSpPr>
          <p:nvPr/>
        </p:nvSpPr>
        <p:spPr>
          <a:xfrm xmlns:a="http://schemas.openxmlformats.org/drawingml/2006/main">
            <a:off x="533400" y="381000"/>
            <a:ext cx="141732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152E49"/>
                </a:solidFill>
                <a:latin typeface="Helvetica Neue"/>
                <a:ea typeface="Helvetica Neue"/>
                <a:cs typeface="Helvetica Neue"/>
              </a:defRPr>
            </a:pPr>
            <a:r>
              <a:rPr sz="4050" b="1">
                <a:solidFill>
                  <a:srgbClr val="152E49"/>
                </a:solidFill>
                <a:latin typeface="Helvetica Neue"/>
                <a:ea typeface="Helvetica Neue"/>
                <a:cs typeface="Helvetica Neue"/>
              </a:rPr>
              <a:t>Appendix: reading an AIF log across its views</a:t>
            </a:r>
          </a:p>
        </p:txBody>
      </p:sp>
      <p:sp>
        <p:nvSpPr>
          <p:cNvPr id="2" name="synthetic-example-disclosure">
            <a:extLst xmlns:a="http://schemas.openxmlformats.org/drawingml/2006/main">
              <a:ext uri="{FF2B5EF4-FFF2-40B4-BE49-F238E27FC236}">
                <a16:creationId xmlns:a16="http://schemas.microsoft.com/office/drawing/2014/main" id="{5DC411FD-842C-40B8-B9DC-5E8118F0D989}"/>
              </a:ext>
            </a:extLst>
          </p:cNvPr>
          <p:cNvSpPr>
            <a:spLocks xmlns:a="http://schemas.openxmlformats.org/drawingml/2006/main" noGrp="1"/>
          </p:cNvSpPr>
          <p:nvPr/>
        </p:nvSpPr>
        <p:spPr>
          <a:xfrm xmlns:a="http://schemas.openxmlformats.org/drawingml/2006/main">
            <a:off x="533400" y="1209675"/>
            <a:ext cx="14173200" cy="523875"/>
          </a:xfrm>
          <a:prstGeom xmlns:a="http://schemas.openxmlformats.org/drawingml/2006/main" prst="roundRect">
            <a:avLst>
              <a:gd name="adj" fmla="val 21818"/>
            </a:avLst>
          </a:prstGeom>
          <a:solidFill xmlns:a="http://schemas.openxmlformats.org/drawingml/2006/main">
            <a:srgbClr val="FFF0DC"/>
          </a:solidFill>
          <a:ln xmlns:a="http://schemas.openxmlformats.org/drawingml/2006/main" w="0">
            <a:noFill/>
          </a:ln>
        </p:spPr>
      </p:sp>
      <p:sp>
        <p:nvSpPr>
          <p:cNvPr id="3" name="synthetic-example-disclosure-text">
            <a:extLst xmlns:a="http://schemas.openxmlformats.org/drawingml/2006/main">
              <a:ext uri="{FF2B5EF4-FFF2-40B4-BE49-F238E27FC236}">
                <a16:creationId xmlns:a16="http://schemas.microsoft.com/office/drawing/2014/main" id="{0E488473-AD13-4EB8-9F0B-1C6527963EDF}"/>
              </a:ext>
            </a:extLst>
          </p:cNvPr>
          <p:cNvSpPr>
            <a:spLocks xmlns:a="http://schemas.openxmlformats.org/drawingml/2006/main" noGrp="1"/>
          </p:cNvSpPr>
          <p:nvPr/>
        </p:nvSpPr>
        <p:spPr>
          <a:xfrm xmlns:a="http://schemas.openxmlformats.org/drawingml/2006/main">
            <a:off x="742950" y="1323975"/>
            <a:ext cx="1375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906525"/>
                </a:solidFill>
                <a:latin typeface="Helvetica Neue"/>
                <a:ea typeface="Helvetica Neue"/>
                <a:cs typeface="Helvetica Neue"/>
              </a:defRPr>
            </a:pPr>
            <a:r>
              <a:rPr sz="1800" b="1">
                <a:solidFill>
                  <a:srgbClr val="906525"/>
                </a:solidFill>
                <a:latin typeface="Helvetica Neue"/>
                <a:ea typeface="Helvetica Neue"/>
                <a:cs typeface="Helvetica Neue"/>
              </a:rPr>
              <a:t>SYNTHETIC EXAMPLE: fictional values, message codes and field paths. This is not a verified SAP export.</a:t>
            </a:r>
          </a:p>
        </p:txBody>
      </p:sp>
      <p:graphicFrame>
        <p:nvGraphicFramePr>
          <p:cNvPr id="12" name=""/>
          <p:cNvGraphicFramePr/>
          <p:nvPr/>
        </p:nvGraphicFramePr>
        <p:xfrm>
          <a:off xmlns:a="http://schemas.openxmlformats.org/drawingml/2006/main" x="533400" y="1962150"/>
          <a:ext xmlns:a="http://schemas.openxmlformats.org/drawingml/2006/main" cx="14173200" cy="5143500"/>
        </p:xfrm>
        <a:graphic xmlns:a="http://schemas.openxmlformats.org/drawingml/2006/main">
          <a:graphicData uri="http://schemas.openxmlformats.org/drawingml/2006/table">
            <a:tbl>
              <a:tblPr firstRow="0" firstCol="0" bandRow="0"/>
              <a:tblGrid>
                <a:gridCol w="2114550"/>
                <a:gridCol w="3829050"/>
                <a:gridCol w="8229600"/>
              </a:tblGrid>
              <a:tr h="438150">
                <a:tc>
                  <a:txBody>
                    <a:bodyPr wrap="square">
                      <a:noAutofit/>
                    </a:bodyPr>
                    <a:lstStyle/>
                    <a:p>
                      <a:r>
                        <a:rPr sz="1800" b="1">
                          <a:solidFill>
                            <a:srgbClr val="FFFFFF"/>
                          </a:solidFill>
                          <a:latin typeface="Helvetica Neue"/>
                          <a:ea typeface="Helvetica Neue"/>
                          <a:cs typeface="Helvetica Neue"/>
                        </a:rPr>
                        <a:t>AIF part</a:t>
                      </a:r>
                    </a:p>
                  </a:txBody>
                  <a:tcPr marL="209550" marR="209550" marT="133350" marB="133350" anchor="ctr">
                    <a:solidFill>
                      <a:srgbClr val="152E49"/>
                    </a:solidFill>
                  </a:tcPr>
                </a:tc>
                <a:tc>
                  <a:txBody>
                    <a:bodyPr wrap="square">
                      <a:noAutofit/>
                    </a:bodyPr>
                    <a:lstStyle/>
                    <a:p>
                      <a:r>
                        <a:rPr sz="1800" b="1">
                          <a:solidFill>
                            <a:srgbClr val="FFFFFF"/>
                          </a:solidFill>
                          <a:latin typeface="Helvetica Neue"/>
                          <a:ea typeface="Helvetica Neue"/>
                          <a:cs typeface="Helvetica Neue"/>
                        </a:rPr>
                        <a:t>What it gives us</a:t>
                      </a:r>
                    </a:p>
                  </a:txBody>
                  <a:tcPr marL="209550" marR="209550" marT="133350" marB="133350" anchor="ctr">
                    <a:solidFill>
                      <a:srgbClr val="152E49"/>
                    </a:solidFill>
                  </a:tcPr>
                </a:tc>
                <a:tc>
                  <a:txBody>
                    <a:bodyPr wrap="square">
                      <a:noAutofit/>
                    </a:bodyPr>
                    <a:lstStyle/>
                    <a:p>
                      <a:r>
                        <a:rPr sz="1800" b="1">
                          <a:solidFill>
                            <a:srgbClr val="FFFFFF"/>
                          </a:solidFill>
                          <a:latin typeface="Helvetica Neue"/>
                          <a:ea typeface="Helvetica Neue"/>
                          <a:cs typeface="Helvetica Neue"/>
                        </a:rPr>
                        <a:t>Evidence in the same fictional case</a:t>
                      </a:r>
                    </a:p>
                  </a:txBody>
                  <a:tcPr marL="209550" marR="209550" marT="133350" marB="133350" anchor="ctr">
                    <a:solidFill>
                      <a:srgbClr val="152E49"/>
                    </a:solidFill>
                  </a:tcPr>
                </a:tc>
              </a:tr>
              <a:tr h="933450">
                <a:tc>
                  <a:txBody>
                    <a:bodyPr wrap="square">
                      <a:noAutofit/>
                    </a:bodyPr>
                    <a:lstStyle/>
                    <a:p>
                      <a:r>
                        <a:rPr sz="1950" b="1">
                          <a:solidFill>
                            <a:srgbClr val="FFFFFF"/>
                          </a:solidFill>
                          <a:latin typeface="Helvetica Neue"/>
                          <a:ea typeface="Helvetica Neue"/>
                          <a:cs typeface="Helvetica Neue"/>
                        </a:rPr>
                        <a:t>Data Messages</a:t>
                      </a:r>
                    </a:p>
                  </a:txBody>
                  <a:tcPr marL="209550" marR="209550" marT="133350" marB="133350" anchor="ctr">
                    <a:solidFill>
                      <a:srgbClr val="152E49"/>
                    </a:solidFill>
                  </a:tcPr>
                </a:tc>
                <a:tc>
                  <a:txBody>
                    <a:bodyPr wrap="square">
                      <a:noAutofit/>
                    </a:bodyPr>
                    <a:lstStyle/>
                    <a:p>
                      <a:r>
                        <a:rPr sz="1800" b="0">
                          <a:solidFill>
                            <a:srgbClr val="152E49"/>
                          </a:solidFill>
                          <a:latin typeface="Helvetica Neue"/>
                          <a:ea typeface="Helvetica Neue"/>
                          <a:cs typeface="Helvetica Neue"/>
                        </a:rPr>
                        <a:t>Which processing record?</a:t>
                      </a:r>
                    </a:p>
                    <a:p>
                      <a:r>
                        <a:rPr sz="1800" b="0">
                          <a:solidFill>
                            <a:srgbClr val="152E49"/>
                          </a:solidFill>
                          <a:latin typeface="Helvetica Neue"/>
                          <a:ea typeface="Helvetica Neue"/>
                          <a:cs typeface="Helvetica Neue"/>
                        </a:rPr>
                        <a:t>Identity, context and</a:t>
                      </a:r>
                    </a:p>
                    <a:p>
                      <a:r>
                        <a:rPr sz="1800" b="0">
                          <a:solidFill>
                            <a:srgbClr val="152E49"/>
                          </a:solidFill>
                          <a:latin typeface="Helvetica Neue"/>
                          <a:ea typeface="Helvetica Neue"/>
                          <a:cs typeface="Helvetica Neue"/>
                        </a:rPr>
                        <a:t>reported processing status.</a:t>
                      </a:r>
                    </a:p>
                  </a:txBody>
                  <a:tcPr marL="209550" marR="209550" marT="133350" marB="133350" anchor="ctr">
                    <a:solidFill>
                      <a:srgbClr val="FFFFFF"/>
                    </a:solidFill>
                  </a:tcPr>
                </a:tc>
                <a:tc>
                  <a:txBody>
                    <a:bodyPr wrap="square">
                      <a:noAutofit/>
                    </a:bodyPr>
                    <a:lstStyle/>
                    <a:p>
                      <a:r>
                        <a:rPr sz="1800" b="0">
                          <a:solidFill>
                            <a:srgbClr val="152E49"/>
                          </a:solidFill>
                          <a:latin typeface="Helvetica Neue"/>
                          <a:ea typeface="Helvetica Neue"/>
                          <a:cs typeface="Helvetica Neue"/>
                        </a:rPr>
                        <a:t>Source document 1900000421, company 1000, fiscal year 2026.</a:t>
                      </a:r>
                    </a:p>
                    <a:p>
                      <a:r>
                        <a:rPr sz="1800" b="0">
                          <a:solidFill>
                            <a:srgbClr val="152E49"/>
                          </a:solidFill>
                          <a:latin typeface="Helvetica Neue"/>
                          <a:ea typeface="Helvetica Neue"/>
                          <a:cs typeface="Helvetica Neue"/>
                        </a:rPr>
                        <a:t>Target CFIN-DEMO / 100. Attempt 1 reports an error.</a:t>
                      </a:r>
                    </a:p>
                  </a:txBody>
                  <a:tcPr marL="209550" marR="209550" marT="133350" marB="133350" anchor="ctr">
                    <a:solidFill>
                      <a:srgbClr val="FFFFFF"/>
                    </a:solidFill>
                  </a:tcPr>
                </a:tc>
              </a:tr>
              <a:tr h="933450">
                <a:tc>
                  <a:txBody>
                    <a:bodyPr wrap="square">
                      <a:noAutofit/>
                    </a:bodyPr>
                    <a:lstStyle/>
                    <a:p>
                      <a:r>
                        <a:rPr sz="1950" b="1">
                          <a:solidFill>
                            <a:srgbClr val="FFFFFF"/>
                          </a:solidFill>
                          <a:latin typeface="Helvetica Neue"/>
                          <a:ea typeface="Helvetica Neue"/>
                          <a:cs typeface="Helvetica Neue"/>
                        </a:rPr>
                        <a:t>Log Messages</a:t>
                      </a:r>
                    </a:p>
                  </a:txBody>
                  <a:tcPr marL="209550" marR="209550" marT="133350" marB="133350" anchor="ctr">
                    <a:solidFill>
                      <a:srgbClr val="152E49"/>
                    </a:solidFill>
                  </a:tcPr>
                </a:tc>
                <a:tc>
                  <a:txBody>
                    <a:bodyPr wrap="square">
                      <a:noAutofit/>
                    </a:bodyPr>
                    <a:lstStyle/>
                    <a:p>
                      <a:r>
                        <a:rPr sz="1800" b="0">
                          <a:solidFill>
                            <a:srgbClr val="152E49"/>
                          </a:solidFill>
                          <a:latin typeface="Helvetica Neue"/>
                          <a:ea typeface="Helvetica Neue"/>
                          <a:cs typeface="Helvetica Neue"/>
                        </a:rPr>
                        <a:t>What was reported?</a:t>
                      </a:r>
                    </a:p>
                    <a:p>
                      <a:r>
                        <a:rPr sz="1800" b="0">
                          <a:solidFill>
                            <a:srgbClr val="152E49"/>
                          </a:solidFill>
                          <a:latin typeface="Helvetica Neue"/>
                          <a:ea typeface="Helvetica Neue"/>
                          <a:cs typeface="Helvetica Neue"/>
                        </a:rPr>
                        <a:t>Individual messages,</a:t>
                      </a:r>
                    </a:p>
                    <a:p>
                      <a:r>
                        <a:rPr sz="1800" b="0">
                          <a:solidFill>
                            <a:srgbClr val="152E49"/>
                          </a:solidFill>
                          <a:latin typeface="Helvetica Neue"/>
                          <a:ea typeface="Helvetica Neue"/>
                          <a:cs typeface="Helvetica Neue"/>
                        </a:rPr>
                        <a:t>errors and outcomes.</a:t>
                      </a:r>
                    </a:p>
                  </a:txBody>
                  <a:tcPr marL="209550" marR="209550" marT="133350" marB="133350" anchor="ctr">
                    <a:solidFill>
                      <a:srgbClr val="EAF0F8"/>
                    </a:solidFill>
                  </a:tcPr>
                </a:tc>
                <a:tc>
                  <a:txBody>
                    <a:bodyPr wrap="square">
                      <a:noAutofit/>
                    </a:bodyPr>
                    <a:lstStyle/>
                    <a:p>
                      <a:r>
                        <a:rPr sz="1800" b="0">
                          <a:solidFill>
                            <a:srgbClr val="152E49"/>
                          </a:solidFill>
                          <a:latin typeface="Helvetica Neue"/>
                          <a:ea typeface="Helvetica Neue"/>
                          <a:cs typeface="Helvetica Neue"/>
                        </a:rPr>
                        <a:t>“G/L account 0000410000 is not maintained in company code 2000.”</a:t>
                      </a:r>
                    </a:p>
                    <a:p>
                      <a:r>
                        <a:rPr sz="1800" b="0">
                          <a:solidFill>
                            <a:srgbClr val="152E49"/>
                          </a:solidFill>
                          <a:latin typeface="Helvetica Neue"/>
                          <a:ea typeface="Helvetica Neue"/>
                          <a:cs typeface="Helvetica Neue"/>
                        </a:rPr>
                        <a:t>Posting stopped. No target document reference was returned.</a:t>
                      </a:r>
                    </a:p>
                  </a:txBody>
                  <a:tcPr marL="209550" marR="209550" marT="133350" marB="133350" anchor="ctr">
                    <a:solidFill>
                      <a:srgbClr val="EAF0F8"/>
                    </a:solidFill>
                  </a:tcPr>
                </a:tc>
              </a:tr>
              <a:tr h="933450">
                <a:tc>
                  <a:txBody>
                    <a:bodyPr wrap="square">
                      <a:noAutofit/>
                    </a:bodyPr>
                    <a:lstStyle/>
                    <a:p>
                      <a:r>
                        <a:rPr sz="1950" b="1">
                          <a:solidFill>
                            <a:srgbClr val="FFFFFF"/>
                          </a:solidFill>
                          <a:latin typeface="Helvetica Neue"/>
                          <a:ea typeface="Helvetica Neue"/>
                          <a:cs typeface="Helvetica Neue"/>
                        </a:rPr>
                        <a:t>Data Structure</a:t>
                      </a:r>
                    </a:p>
                  </a:txBody>
                  <a:tcPr marL="209550" marR="209550" marT="133350" marB="133350" anchor="ctr">
                    <a:solidFill>
                      <a:srgbClr val="152E49"/>
                    </a:solidFill>
                  </a:tcPr>
                </a:tc>
                <a:tc>
                  <a:txBody>
                    <a:bodyPr wrap="square">
                      <a:noAutofit/>
                    </a:bodyPr>
                    <a:lstStyle/>
                    <a:p>
                      <a:r>
                        <a:rPr sz="1800" b="0">
                          <a:solidFill>
                            <a:srgbClr val="152E49"/>
                          </a:solidFill>
                          <a:latin typeface="Helvetica Neue"/>
                          <a:ea typeface="Helvetica Neue"/>
                          <a:cs typeface="Helvetica Neue"/>
                        </a:rPr>
                        <a:t>Where does the data sit?</a:t>
                      </a:r>
                    </a:p>
                    <a:p>
                      <a:r>
                        <a:rPr sz="1800" b="0">
                          <a:solidFill>
                            <a:srgbClr val="152E49"/>
                          </a:solidFill>
                          <a:latin typeface="Helvetica Neue"/>
                          <a:ea typeface="Helvetica Neue"/>
                          <a:cs typeface="Helvetica Neue"/>
                        </a:rPr>
                        <a:t>Payload hierarchy and</a:t>
                      </a:r>
                    </a:p>
                    <a:p>
                      <a:r>
                        <a:rPr sz="1800" b="0">
                          <a:solidFill>
                            <a:srgbClr val="152E49"/>
                          </a:solidFill>
                          <a:latin typeface="Helvetica Neue"/>
                          <a:ea typeface="Helvetica Neue"/>
                          <a:cs typeface="Helvetica Neue"/>
                        </a:rPr>
                        <a:t>explicit field associations.</a:t>
                      </a:r>
                    </a:p>
                  </a:txBody>
                  <a:tcPr marL="209550" marR="209550" marT="133350" marB="133350" anchor="ctr">
                    <a:solidFill>
                      <a:srgbClr val="FFFFFF"/>
                    </a:solidFill>
                  </a:tcPr>
                </a:tc>
                <a:tc>
                  <a:txBody>
                    <a:bodyPr wrap="square">
                      <a:noAutofit/>
                    </a:bodyPr>
                    <a:lstStyle/>
                    <a:p>
                      <a:r>
                        <a:rPr sz="1800" b="0">
                          <a:solidFill>
                            <a:srgbClr val="152E49"/>
                          </a:solidFill>
                          <a:latin typeface="Helvetica Neue"/>
                          <a:ea typeface="Helvetica Neue"/>
                          <a:cs typeface="Helvetica Neue"/>
                        </a:rPr>
                        <a:t>The message explicitly links to Items[1].target_gl_account.</a:t>
                      </a:r>
                    </a:p>
                    <a:p>
                      <a:r>
                        <a:rPr sz="1800" b="0">
                          <a:solidFill>
                            <a:srgbClr val="152E49"/>
                          </a:solidFill>
                          <a:latin typeface="Helvetica Neue"/>
                          <a:ea typeface="Helvetica Neue"/>
                          <a:cs typeface="Helvetica Neue"/>
                        </a:rPr>
                        <a:t>This locates the reported failure within item 0001.</a:t>
                      </a:r>
                    </a:p>
                  </a:txBody>
                  <a:tcPr marL="209550" marR="209550" marT="133350" marB="133350" anchor="ctr">
                    <a:solidFill>
                      <a:srgbClr val="FFFFFF"/>
                    </a:solidFill>
                  </a:tcPr>
                </a:tc>
              </a:tr>
              <a:tr h="933450">
                <a:tc>
                  <a:txBody>
                    <a:bodyPr wrap="square">
                      <a:noAutofit/>
                    </a:bodyPr>
                    <a:lstStyle/>
                    <a:p>
                      <a:r>
                        <a:rPr sz="1950" b="1">
                          <a:solidFill>
                            <a:srgbClr val="FFFFFF"/>
                          </a:solidFill>
                          <a:latin typeface="Helvetica Neue"/>
                          <a:ea typeface="Helvetica Neue"/>
                          <a:cs typeface="Helvetica Neue"/>
                        </a:rPr>
                        <a:t>Data Content</a:t>
                      </a:r>
                    </a:p>
                  </a:txBody>
                  <a:tcPr marL="209550" marR="209550" marT="133350" marB="133350" anchor="ctr">
                    <a:solidFill>
                      <a:srgbClr val="152E49"/>
                    </a:solidFill>
                  </a:tcPr>
                </a:tc>
                <a:tc>
                  <a:txBody>
                    <a:bodyPr wrap="square">
                      <a:noAutofit/>
                    </a:bodyPr>
                    <a:lstStyle/>
                    <a:p>
                      <a:r>
                        <a:rPr sz="1800" b="0">
                          <a:solidFill>
                            <a:srgbClr val="152E49"/>
                          </a:solidFill>
                          <a:latin typeface="Helvetica Neue"/>
                          <a:ea typeface="Helvetica Neue"/>
                          <a:cs typeface="Helvetica Neue"/>
                        </a:rPr>
                        <a:t>What values were supplied?</a:t>
                      </a:r>
                    </a:p>
                    <a:p>
                      <a:r>
                        <a:rPr sz="1800" b="0">
                          <a:solidFill>
                            <a:srgbClr val="152E49"/>
                          </a:solidFill>
                          <a:latin typeface="Helvetica Neue"/>
                          <a:ea typeface="Helvetica Neue"/>
                          <a:cs typeface="Helvetica Neue"/>
                        </a:rPr>
                        <a:t>Actual field values, labels</a:t>
                      </a:r>
                    </a:p>
                    <a:p>
                      <a:r>
                        <a:rPr sz="1800" b="0">
                          <a:solidFill>
                            <a:srgbClr val="152E49"/>
                          </a:solidFill>
                          <a:latin typeface="Helvetica Neue"/>
                          <a:ea typeface="Helvetica Neue"/>
                          <a:cs typeface="Helvetica Neue"/>
                        </a:rPr>
                        <a:t>and leading zeroes.</a:t>
                      </a:r>
                    </a:p>
                  </a:txBody>
                  <a:tcPr marL="209550" marR="209550" marT="133350" marB="133350" anchor="ctr">
                    <a:solidFill>
                      <a:srgbClr val="EAF0F8"/>
                    </a:solidFill>
                  </a:tcPr>
                </a:tc>
                <a:tc>
                  <a:txBody>
                    <a:bodyPr wrap="square">
                      <a:noAutofit/>
                    </a:bodyPr>
                    <a:lstStyle/>
                    <a:p>
                      <a:r>
                        <a:rPr sz="1800" b="0">
                          <a:solidFill>
                            <a:srgbClr val="152E49"/>
                          </a:solidFill>
                          <a:latin typeface="Helvetica Neue"/>
                          <a:ea typeface="Helvetica Neue"/>
                          <a:cs typeface="Helvetica Neue"/>
                        </a:rPr>
                        <a:t>Item 0001: source account 0000400000, attempted target 0000410000.</a:t>
                      </a:r>
                    </a:p>
                    <a:p>
                      <a:r>
                        <a:rPr sz="1800" b="0">
                          <a:solidFill>
                            <a:srgbClr val="152E49"/>
                          </a:solidFill>
                          <a:latin typeface="Helvetica Neue"/>
                          <a:ea typeface="Helvetica Neue"/>
                          <a:cs typeface="Helvetica Neue"/>
                        </a:rPr>
                        <a:t>Requested target company 2000, debit GBP 1,250.00.</a:t>
                      </a:r>
                    </a:p>
                  </a:txBody>
                  <a:tcPr marL="209550" marR="209550" marT="133350" marB="133350" anchor="ctr">
                    <a:solidFill>
                      <a:srgbClr val="EAF0F8"/>
                    </a:solidFill>
                  </a:tcPr>
                </a:tc>
              </a:tr>
              <a:tr h="971550">
                <a:tc>
                  <a:txBody>
                    <a:bodyPr wrap="square">
                      <a:noAutofit/>
                    </a:bodyPr>
                    <a:lstStyle/>
                    <a:p>
                      <a:r>
                        <a:rPr sz="1950" b="1">
                          <a:solidFill>
                            <a:srgbClr val="FFFFFF"/>
                          </a:solidFill>
                          <a:latin typeface="Helvetica Neue"/>
                          <a:ea typeface="Helvetica Neue"/>
                          <a:cs typeface="Helvetica Neue"/>
                        </a:rPr>
                        <a:t>Error details*</a:t>
                      </a:r>
                    </a:p>
                  </a:txBody>
                  <a:tcPr marL="209550" marR="209550" marT="133350" marB="133350" anchor="ctr">
                    <a:solidFill>
                      <a:srgbClr val="152E49"/>
                    </a:solidFill>
                  </a:tcPr>
                </a:tc>
                <a:tc>
                  <a:txBody>
                    <a:bodyPr wrap="square">
                      <a:noAutofit/>
                    </a:bodyPr>
                    <a:lstStyle/>
                    <a:p>
                      <a:r>
                        <a:rPr sz="1800" b="0">
                          <a:solidFill>
                            <a:srgbClr val="152E49"/>
                          </a:solidFill>
                          <a:latin typeface="Helvetica Neue"/>
                          <a:ea typeface="Helvetica Neue"/>
                          <a:cs typeface="Helvetica Neue"/>
                        </a:rPr>
                        <a:t>What does this refer to?</a:t>
                      </a:r>
                    </a:p>
                    <a:p>
                      <a:r>
                        <a:rPr sz="1800" b="0">
                          <a:solidFill>
                            <a:srgbClr val="152E49"/>
                          </a:solidFill>
                          <a:latin typeface="Helvetica Neue"/>
                          <a:ea typeface="Helvetica Neue"/>
                          <a:cs typeface="Helvetica Neue"/>
                        </a:rPr>
                        <a:t>Message identity, variables</a:t>
                      </a:r>
                    </a:p>
                    <a:p>
                      <a:r>
                        <a:rPr sz="1800" b="0">
                          <a:solidFill>
                            <a:srgbClr val="152E49"/>
                          </a:solidFill>
                          <a:latin typeface="Helvetica Neue"/>
                          <a:ea typeface="Helvetica Neue"/>
                          <a:cs typeface="Helvetica Neue"/>
                        </a:rPr>
                        <a:t>and explanation, if supplied.</a:t>
                      </a:r>
                    </a:p>
                  </a:txBody>
                  <a:tcPr marL="209550" marR="209550" marT="133350" marB="133350" anchor="ctr">
                    <a:solidFill>
                      <a:srgbClr val="FFFFFF"/>
                    </a:solidFill>
                  </a:tcPr>
                </a:tc>
                <a:tc>
                  <a:txBody>
                    <a:bodyPr wrap="square">
                      <a:noAutofit/>
                    </a:bodyPr>
                    <a:lstStyle/>
                    <a:p>
                      <a:r>
                        <a:rPr sz="1800" b="0">
                          <a:solidFill>
                            <a:srgbClr val="152E49"/>
                          </a:solidFill>
                          <a:latin typeface="Helvetica Neue"/>
                          <a:ea typeface="Helvetica Neue"/>
                          <a:cs typeface="Helvetica Neue"/>
                        </a:rPr>
                        <a:t>Fictional MSGID Z_DEMO_CFIN, MSGNO 001, MSGTY E.</a:t>
                      </a:r>
                    </a:p>
                    <a:p>
                      <a:r>
                        <a:rPr sz="1800" b="0">
                          <a:solidFill>
                            <a:srgbClr val="152E49"/>
                          </a:solidFill>
                          <a:latin typeface="Helvetica Neue"/>
                          <a:ea typeface="Helvetica Neue"/>
                          <a:cs typeface="Helvetica Neue"/>
                        </a:rPr>
                        <a:t>Supplied variables identify account 0000410000 and company 2000.</a:t>
                      </a:r>
                    </a:p>
                  </a:txBody>
                  <a:tcPr marL="209550" marR="209550" marT="133350" marB="133350" anchor="ctr">
                    <a:solidFill>
                      <a:srgbClr val="FFFFFF"/>
                    </a:solidFill>
                  </a:tcPr>
                </a:tc>
              </a:tr>
            </a:tbl>
          </a:graphicData>
        </a:graphic>
      </p:graphicFrame>
      <p:sp>
        <p:nvSpPr>
          <p:cNvPr id="5" name="aif-factual-brief">
            <a:extLst xmlns:a="http://schemas.openxmlformats.org/drawingml/2006/main">
              <a:ext uri="{FF2B5EF4-FFF2-40B4-BE49-F238E27FC236}">
                <a16:creationId xmlns:a16="http://schemas.microsoft.com/office/drawing/2014/main" id="{BE63E7E5-D2E4-4850-9E34-D5587BCF6707}"/>
              </a:ext>
            </a:extLst>
          </p:cNvPr>
          <p:cNvSpPr>
            <a:spLocks xmlns:a="http://schemas.openxmlformats.org/drawingml/2006/main" noGrp="1"/>
          </p:cNvSpPr>
          <p:nvPr/>
        </p:nvSpPr>
        <p:spPr>
          <a:xfrm xmlns:a="http://schemas.openxmlformats.org/drawingml/2006/main">
            <a:off x="533400" y="7362825"/>
            <a:ext cx="14173200" cy="809625"/>
          </a:xfrm>
          <a:prstGeom xmlns:a="http://schemas.openxmlformats.org/drawingml/2006/main" prst="roundRect">
            <a:avLst>
              <a:gd name="adj" fmla="val 14118"/>
            </a:avLst>
          </a:prstGeom>
          <a:solidFill xmlns:a="http://schemas.openxmlformats.org/drawingml/2006/main">
            <a:srgbClr val="152E49"/>
          </a:solidFill>
          <a:ln xmlns:a="http://schemas.openxmlformats.org/drawingml/2006/main" w="0">
            <a:noFill/>
          </a:ln>
        </p:spPr>
      </p:sp>
      <p:sp>
        <p:nvSpPr>
          <p:cNvPr id="6" name="aif-factual-brief-label">
            <a:extLst xmlns:a="http://schemas.openxmlformats.org/drawingml/2006/main">
              <a:ext uri="{FF2B5EF4-FFF2-40B4-BE49-F238E27FC236}">
                <a16:creationId xmlns:a16="http://schemas.microsoft.com/office/drawing/2014/main" id="{1DBD4FF8-7514-4FDB-A12C-71110D744009}"/>
              </a:ext>
            </a:extLst>
          </p:cNvPr>
          <p:cNvSpPr>
            <a:spLocks xmlns:a="http://schemas.openxmlformats.org/drawingml/2006/main" noGrp="1"/>
          </p:cNvSpPr>
          <p:nvPr/>
        </p:nvSpPr>
        <p:spPr>
          <a:xfrm xmlns:a="http://schemas.openxmlformats.org/drawingml/2006/main">
            <a:off x="742950" y="7534275"/>
            <a:ext cx="21812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B3E7E0"/>
                </a:solidFill>
                <a:latin typeface="Helvetica Neue"/>
                <a:ea typeface="Helvetica Neue"/>
                <a:cs typeface="Helvetica Neue"/>
              </a:defRPr>
            </a:pPr>
            <a:r>
              <a:rPr sz="1800" b="1">
                <a:solidFill>
                  <a:srgbClr val="B3E7E0"/>
                </a:solidFill>
                <a:latin typeface="Helvetica Neue"/>
                <a:ea typeface="Helvetica Neue"/>
                <a:cs typeface="Helvetica Neue"/>
              </a:rPr>
              <a:t>FACTUAL BRIEF</a:t>
            </a:r>
          </a:p>
        </p:txBody>
      </p:sp>
      <p:sp>
        <p:nvSpPr>
          <p:cNvPr id="7" name="aif-factual-brief-text">
            <a:extLst xmlns:a="http://schemas.openxmlformats.org/drawingml/2006/main">
              <a:ext uri="{FF2B5EF4-FFF2-40B4-BE49-F238E27FC236}">
                <a16:creationId xmlns:a16="http://schemas.microsoft.com/office/drawing/2014/main" id="{7689D21F-076C-4441-B562-EC7FCD3FAE3C}"/>
              </a:ext>
            </a:extLst>
          </p:cNvPr>
          <p:cNvSpPr>
            <a:spLocks xmlns:a="http://schemas.openxmlformats.org/drawingml/2006/main" noGrp="1"/>
          </p:cNvSpPr>
          <p:nvPr/>
        </p:nvSpPr>
        <p:spPr>
          <a:xfrm xmlns:a="http://schemas.openxmlformats.org/drawingml/2006/main">
            <a:off x="3086100" y="7496175"/>
            <a:ext cx="114109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The log reports an account-maintenance error for account 0000410000 in company 2000, and stopped posting.</a:t>
            </a:r>
          </a:p>
          <a:p xmlns:a="http://schemas.openxmlformats.org/drawingml/2006/main">
            <a:pPr algn="l">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This covers attempt 1. The cause, correct mapping and later processing outcome remain unconfirmed.</a:t>
            </a:r>
          </a:p>
        </p:txBody>
      </p:sp>
      <p:sp>
        <p:nvSpPr>
          <p:cNvPr id="8" name="aif-footnote">
            <a:extLst xmlns:a="http://schemas.openxmlformats.org/drawingml/2006/main">
              <a:ext uri="{FF2B5EF4-FFF2-40B4-BE49-F238E27FC236}">
                <a16:creationId xmlns:a16="http://schemas.microsoft.com/office/drawing/2014/main" id="{400A9DA9-CA17-4346-8B35-5C683D0B21C7}"/>
              </a:ext>
            </a:extLst>
          </p:cNvPr>
          <p:cNvSpPr>
            <a:spLocks xmlns:a="http://schemas.openxmlformats.org/drawingml/2006/main" noGrp="1"/>
          </p:cNvSpPr>
          <p:nvPr/>
        </p:nvSpPr>
        <p:spPr>
          <a:xfrm xmlns:a="http://schemas.openxmlformats.org/drawingml/2006/main">
            <a:off x="533400" y="8277225"/>
            <a:ext cx="14173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57C"/>
                </a:solidFill>
                <a:latin typeface="Helvetica Neue"/>
                <a:ea typeface="Helvetica Neue"/>
                <a:cs typeface="Helvetica Neue"/>
              </a:defRPr>
            </a:pPr>
            <a:r>
              <a:rPr sz="1425" b="0">
                <a:solidFill>
                  <a:srgbClr val="53657C"/>
                </a:solidFill>
                <a:latin typeface="Helvetica Neue"/>
                <a:ea typeface="Helvetica Neue"/>
                <a:cs typeface="Helvetica Neue"/>
              </a:rPr>
              <a:t>*Error details are message-level metadata, not a universal fifth tab. Available views, labels and fields vary by configuration.</a:t>
            </a:r>
          </a:p>
        </p:txBody>
      </p:sp>
    </p:spTree>
    <p:extLst>
      <p:ext uri="{BB962C8B-B14F-4D97-AF65-F5344CB8AC3E}">
        <p14:creationId xmlns:p14="http://schemas.microsoft.com/office/powerpoint/2010/main" val="21285278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2026-10-02T11:18:56.9620000Z</dcterms:created>
  <dcterms:modified xsi:type="dcterms:W3CDTF">2026-10-02T11:18:56.9620000Z</dcterms:modified>
</coreProperties>
</file>